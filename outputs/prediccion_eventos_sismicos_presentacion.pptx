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2e18c8e17548ca" /><Relationship Type="http://schemas.openxmlformats.org/officeDocument/2006/relationships/extended-properties" Target="/docProps/app.xml" Id="R6b9eb1be07c24135" /><Relationship Type="http://schemas.openxmlformats.org/officeDocument/2006/relationships/officeDocument" Target="/ppt/presentation.xml" Id="Rf411146f55024b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91d480a5e24151"/>
  </p:sldMasterIdLst>
  <p:notesMasterIdLst>
    <p:notesMasterId xmlns:r="http://schemas.openxmlformats.org/officeDocument/2006/relationships" r:id="R3385ad5fad2b4513"/>
  </p:notesMasterIdLst>
  <p:sldIdLst>
    <p:sldId xmlns:r="http://schemas.openxmlformats.org/officeDocument/2006/relationships" id="256" r:id="Rbfa0497fae2f4687"/>
    <p:sldId xmlns:r="http://schemas.openxmlformats.org/officeDocument/2006/relationships" id="257" r:id="R15e567eac21e49bf"/>
    <p:sldId xmlns:r="http://schemas.openxmlformats.org/officeDocument/2006/relationships" id="258" r:id="R3a3bc8274c4f4b15"/>
    <p:sldId xmlns:r="http://schemas.openxmlformats.org/officeDocument/2006/relationships" id="259" r:id="R21f2e2d1c6c34e08"/>
    <p:sldId xmlns:r="http://schemas.openxmlformats.org/officeDocument/2006/relationships" id="260" r:id="R9922f8d5517e46f2"/>
    <p:sldId xmlns:r="http://schemas.openxmlformats.org/officeDocument/2006/relationships" id="261" r:id="Rf044baab6a874972"/>
    <p:sldId xmlns:r="http://schemas.openxmlformats.org/officeDocument/2006/relationships" id="262" r:id="Rf496d786fed74238"/>
    <p:sldId xmlns:r="http://schemas.openxmlformats.org/officeDocument/2006/relationships" id="263" r:id="R4caf037e468742e7"/>
    <p:sldId xmlns:r="http://schemas.openxmlformats.org/officeDocument/2006/relationships" id="264" r:id="Rbe211f4119e948b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c5631cd0934275" /><Relationship Type="http://schemas.openxmlformats.org/officeDocument/2006/relationships/slideMaster" Target="/ppt/slideMasters/slideMaster1.xml" Id="Rf691d480a5e24151" /><Relationship Type="http://schemas.openxmlformats.org/officeDocument/2006/relationships/notesMaster" Target="/ppt/notesMasters/notesMaster1.xml" Id="R3385ad5fad2b4513" /><Relationship Type="http://schemas.openxmlformats.org/officeDocument/2006/relationships/presProps" Target="/ppt/presProps.xml" Id="R12d4663e7a1c43e3" /><Relationship Type="http://schemas.openxmlformats.org/officeDocument/2006/relationships/tableStyles" Target="/ppt/tableStyles.xml" Id="R7a18ee070da84969" /><Relationship Type="http://schemas.openxmlformats.org/officeDocument/2006/relationships/slide" Target="/ppt/slides/slide1.xml" Id="Rbfa0497fae2f4687" /><Relationship Type="http://schemas.openxmlformats.org/officeDocument/2006/relationships/slide" Target="/ppt/slides/slide2.xml" Id="R15e567eac21e49bf" /><Relationship Type="http://schemas.openxmlformats.org/officeDocument/2006/relationships/slide" Target="/ppt/slides/slide3.xml" Id="R3a3bc8274c4f4b15" /><Relationship Type="http://schemas.openxmlformats.org/officeDocument/2006/relationships/slide" Target="/ppt/slides/slide4.xml" Id="R21f2e2d1c6c34e08" /><Relationship Type="http://schemas.openxmlformats.org/officeDocument/2006/relationships/slide" Target="/ppt/slides/slide5.xml" Id="R9922f8d5517e46f2" /><Relationship Type="http://schemas.openxmlformats.org/officeDocument/2006/relationships/slide" Target="/ppt/slides/slide6.xml" Id="Rf044baab6a874972" /><Relationship Type="http://schemas.openxmlformats.org/officeDocument/2006/relationships/slide" Target="/ppt/slides/slide7.xml" Id="Rf496d786fed74238" /><Relationship Type="http://schemas.openxmlformats.org/officeDocument/2006/relationships/slide" Target="/ppt/slides/slide8.xml" Id="R4caf037e468742e7" /><Relationship Type="http://schemas.openxmlformats.org/officeDocument/2006/relationships/slide" Target="/ppt/slides/slide9.xml" Id="Rbe211f4119e948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6fddac72884c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759bd5fc2a4547" /><Relationship Type="http://schemas.openxmlformats.org/officeDocument/2006/relationships/notesMaster" Target="/ppt/notesMasters/notesMaster1.xml" Id="R50d299c76a1e4a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b3f87f59714bf0" /><Relationship Type="http://schemas.openxmlformats.org/officeDocument/2006/relationships/notesMaster" Target="/ppt/notesMasters/notesMaster1.xml" Id="R8e407a90aa9f46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92c9ddc6b349ef" /><Relationship Type="http://schemas.openxmlformats.org/officeDocument/2006/relationships/notesMaster" Target="/ppt/notesMasters/notesMaster1.xml" Id="Raf740ef10b7243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9798dc9a0d4812" /><Relationship Type="http://schemas.openxmlformats.org/officeDocument/2006/relationships/notesMaster" Target="/ppt/notesMasters/notesMaster1.xml" Id="Rc733a6a510ea46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d8a676c95f4a00" /><Relationship Type="http://schemas.openxmlformats.org/officeDocument/2006/relationships/notesMaster" Target="/ppt/notesMasters/notesMaster1.xml" Id="R63924f1a269144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33260da2444867" /><Relationship Type="http://schemas.openxmlformats.org/officeDocument/2006/relationships/notesMaster" Target="/ppt/notesMasters/notesMaster1.xml" Id="Recb2bbae3ac94a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e4f6242f704081" /><Relationship Type="http://schemas.openxmlformats.org/officeDocument/2006/relationships/notesMaster" Target="/ppt/notesMasters/notesMaster1.xml" Id="R9c310ab5e92744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170396527b4775" /><Relationship Type="http://schemas.openxmlformats.org/officeDocument/2006/relationships/notesMaster" Target="/ppt/notesMasters/notesMaster1.xml" Id="Rda8e6bee7a164c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08114724004e2e" /><Relationship Type="http://schemas.openxmlformats.org/officeDocument/2006/relationships/notesMaster" Target="/ppt/notesMasters/notesMaster1.xml" Id="Re833467a71934b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problema como una decisión de seguridad: usar la información de un turno para anticipar el riesgo del siguiente. Aclarar que el trabajo es un proyecto de clasificación supervisada y que los resultados aún deben obtenerse mediante la evaluación propuesta.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secuencia temporal: no se predice el turno que ya pasó, sino el riesgo del siguiente. Esto permite conectar la técnica de clasificación con una necesidad concreta de la operación minera.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distribución es clave para leer las métricas. Sólo 170 de 2.584 registros pertenecen a la clase peligrosa. Por eso, el modelo debe evaluarse por su capacidad de detectar la clase 1 y no sólo por la accuracy global.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dataset como una observación por turno. Destacar que class es el label y que las 18 variables predictoras describen mediciones y conteos de actividad sísmica y sismoacústica.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el pipeline de izquierda a derecha. La idea central es la reproducibilidad: importar, revisar, preparar, entrenar y comparar. La validación cruzada de 10 folds permite obtener una estimación más confiable del rendimiento.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Describir brevemente la intuición de cada algoritmo, sin entrar en una clase teórica extensa. La comparación es útil porque cada modelo captura relaciones distintas entre las variables y la etiqueta class.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la matriz para explicar el falso negativo: un caso real de clase 1 que el modelo etiqueta como 0. Luego conectar con recall, que mide justamente la capacidad de detectar la clase peligrosa.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el informe de avance define el criterio y el proceso; la elección concreta del algoritmo dependerá de los resultados obtenidos. El criterio no se reduce a maximizar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retomando la pregunta inicial. No afirmar un modelo ganador porque el informe presenta una propuesta de trabajo y una estrategia de evaluación, no resultados finales. Invitar a preguntas sobre el dataset, la evaluación y el costo de los errores.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895472b8d44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5de21ac50e4f0c" /><Relationship Type="http://schemas.openxmlformats.org/officeDocument/2006/relationships/slideLayout" Target="/ppt/slideLayouts/slideLayout1.xml" Id="Rb7ac8bb7b4794d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ac8bb7b4794d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a1d4abb984769" /><Relationship Type="http://schemas.openxmlformats.org/officeDocument/2006/relationships/notesSlide" Target="/ppt/notesSlides/notesSlide1.xml" Id="R0330077cf3ac4e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5178334f040d8" /><Relationship Type="http://schemas.openxmlformats.org/officeDocument/2006/relationships/notesSlide" Target="/ppt/notesSlides/notesSlide2.xml" Id="Rb4fd23b000e645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d1300aa6446b2" /><Relationship Type="http://schemas.openxmlformats.org/officeDocument/2006/relationships/chart" Target="/ppt/slides/charts/chart1.xml" Id="R1cae90e8c4994df2" /><Relationship Type="http://schemas.openxmlformats.org/officeDocument/2006/relationships/notesSlide" Target="/ppt/notesSlides/notesSlide3.xml" Id="Rb8d70b3be8d249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f9b1b23ed4919" /><Relationship Type="http://schemas.openxmlformats.org/officeDocument/2006/relationships/notesSlide" Target="/ppt/notesSlides/notesSlide4.xml" Id="R8879c8226a0141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28d5583144547" /><Relationship Type="http://schemas.openxmlformats.org/officeDocument/2006/relationships/notesSlide" Target="/ppt/notesSlides/notesSlide5.xml" Id="R64bf7c6108c640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9ce00b9c348d4" /><Relationship Type="http://schemas.openxmlformats.org/officeDocument/2006/relationships/notesSlide" Target="/ppt/notesSlides/notesSlide6.xml" Id="R36ba1fc1ba5249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e136a480b4feb" /><Relationship Type="http://schemas.openxmlformats.org/officeDocument/2006/relationships/notesSlide" Target="/ppt/notesSlides/notesSlide7.xml" Id="R8da01b8f513444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ac6ee2b5a4f00" /><Relationship Type="http://schemas.openxmlformats.org/officeDocument/2006/relationships/notesSlide" Target="/ppt/notesSlides/notesSlide8.xml" Id="R16368b2ac9704d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5f1ff94f84fe6" /><Relationship Type="http://schemas.openxmlformats.org/officeDocument/2006/relationships/notesSlide" Target="/ppt/notesSlides/notesSlide9.xml" Id="R2cf7fc45c8b944e6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Registros</c:v>
          </c:tx>
          <c:spPr>
            <a:solidFill xmlns:a="http://schemas.openxmlformats.org/drawingml/2006/main">
              <a:srgbClr val="2E6CB6"/>
            </a:solidFill>
          </c:spPr>
          <c:cat>
            <c:strLit>
              <c:ptCount val="2"/>
              <c:pt idx="0">
                <c:v>No peligroso</c:v>
              </c:pt>
              <c:pt idx="1">
                <c:v>Peligroso</c:v>
              </c:pt>
            </c:strLit>
          </c:cat>
          <c:val>
            <c:numLit>
              <c:formatCode>General</c:formatCode>
              <c:ptCount val="2"/>
              <c:pt idx="0">
                <c:v>2414</c:v>
              </c:pt>
              <c:pt idx="1">
                <c:v>170</c:v>
              </c:pt>
            </c:numLit>
          </c:val>
        </c:ser>
        <c:holeSize val="70"/>
      </c:doughnutChart>
      <c:spPr>
        <a:noFill xmlns:a="http://schemas.openxmlformats.org/drawingml/2006/main"/>
        <a:ln xmlns:a="http://schemas.openxmlformats.org/drawingml/2006/main" w="0">
          <a:solidFill>
            <a:srgbClr val="F7F8FA"/>
          </a:solidFill>
          <a:prstDash val="solid"/>
        </a:ln>
      </c:spPr>
    </c:plotArea>
    <c:plotVisOnly val="1"/>
  </c:chart>
  <c:spPr>
    <a:solidFill xmlns:a="http://schemas.openxmlformats.org/drawingml/2006/main">
      <a:srgbClr val="F7F8FA"/>
    </a:solidFill>
    <a:ln xmlns:a="http://schemas.openxmlformats.org/drawingml/2006/main" w="0">
      <a:solidFill>
        <a:srgbClr val="F7F8FA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4D0558D-DEA5-4855-8B30-E1B8AD67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TÉCNICAS AVANZADAS DE ANÁLISIS DE DATOS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1ED5C96-FE90-4F5B-9407-AD153A00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Predicción de eventos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sísmicos peligrosos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BCD8E9E-21C3-4E0D-B3C9-401CC618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D7E0E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D7E0EC"/>
                </a:solidFill>
                <a:latin typeface="Arial"/>
                <a:ea typeface="Arial"/>
                <a:cs typeface="Arial"/>
              </a:rPr>
              <a:t>Minería subterránea · clasificación supervisada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EDB6D8D7-3968-4191-8A42-481EE8D0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85437CD8-5742-4D4D-9848-562F9CD9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Proyecto integrador</a:t>
            </a:r>
          </a:p>
          <a:p xmlns:a="http://schemas.openxmlformats.org/drawingml/2006/main">
            <a: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Martinez Mauricio Leonel</a:t>
            </a:r>
          </a:p>
        </p:txBody>
      </p:sp>
      <p:sp>
        <p:nvSpPr>
          <p:cNvPr id="6" name="cover-exposure">
            <a:extLst xmlns:a="http://schemas.openxmlformats.org/drawingml/2006/main">
              <a:ext uri="{FF2B5EF4-FFF2-40B4-BE49-F238E27FC236}">
                <a16:creationId xmlns:a16="http://schemas.microsoft.com/office/drawing/2014/main" id="{9D2C0564-CFFC-4499-A276-AF5E0229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B8C4D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8C4D5"/>
                </a:solidFill>
                <a:latin typeface="Arial"/>
                <a:ea typeface="Arial"/>
                <a:cs typeface="Arial"/>
              </a:rPr>
              <a:t>Exposición final</a:t>
            </a:r>
          </a:p>
        </p:txBody>
      </p:sp>
      <p:sp>
        <p:nvSpPr>
          <p:cNvPr id="7" name="cover-visual-panel">
            <a:extLst xmlns:a="http://schemas.openxmlformats.org/drawingml/2006/main">
              <a:ext uri="{FF2B5EF4-FFF2-40B4-BE49-F238E27FC236}">
                <a16:creationId xmlns:a16="http://schemas.microsoft.com/office/drawing/2014/main" id="{61B492A7-E80F-40A7-BF48-927B4F29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85800"/>
            <a:ext cx="33337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52"/>
          </a:solidFill>
          <a:ln xmlns:a="http://schemas.openxmlformats.org/drawingml/2006/main" w="9525">
            <a:solidFill>
              <a:srgbClr val="2F4C6F"/>
            </a:solidFill>
            <a:prstDash val="solid"/>
          </a:ln>
        </p:spPr>
      </p:sp>
      <p:sp>
        <p:nvSpPr>
          <p:cNvPr id="8" name="cover-visual-label">
            <a:extLst xmlns:a="http://schemas.openxmlformats.org/drawingml/2006/main">
              <a:ext uri="{FF2B5EF4-FFF2-40B4-BE49-F238E27FC236}">
                <a16:creationId xmlns:a16="http://schemas.microsoft.com/office/drawing/2014/main" id="{DE4E8159-38B5-4384-9E50-17556EE4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28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C4D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C4D5"/>
                </a:solidFill>
                <a:latin typeface="Arial"/>
                <a:ea typeface="Arial"/>
                <a:cs typeface="Arial"/>
              </a:rPr>
              <a:t>SEÑALES DE UN TURNO</a:t>
            </a:r>
          </a:p>
        </p:txBody>
      </p:sp>
      <p:sp>
        <p:nvSpPr>
          <p:cNvPr id="9" name="cover-visual-hours">
            <a:extLst xmlns:a="http://schemas.openxmlformats.org/drawingml/2006/main">
              <a:ext uri="{FF2B5EF4-FFF2-40B4-BE49-F238E27FC236}">
                <a16:creationId xmlns:a16="http://schemas.microsoft.com/office/drawing/2014/main" id="{790C7EC0-74AC-4D55-A460-044CC1CF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097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h</a:t>
            </a:r>
          </a:p>
        </p:txBody>
      </p:sp>
      <p:sp>
        <p:nvSpPr>
          <p:cNvPr id="10" name="cover-visual-hours-label">
            <a:extLst xmlns:a="http://schemas.openxmlformats.org/drawingml/2006/main">
              <a:ext uri="{FF2B5EF4-FFF2-40B4-BE49-F238E27FC236}">
                <a16:creationId xmlns:a16="http://schemas.microsoft.com/office/drawing/2014/main" id="{5F5A022C-7E39-48C9-9ED8-FA8F565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D7E0E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7E0EC"/>
                </a:solidFill>
                <a:latin typeface="Arial"/>
                <a:ea typeface="Arial"/>
                <a:cs typeface="Arial"/>
              </a:rPr>
              <a:t>actividad sísmica</a:t>
            </a:r>
          </a:p>
          <a:p xmlns:a="http://schemas.openxmlformats.org/drawingml/2006/main">
            <a:pPr algn="l">
              <a:defRPr sz="1350">
                <a:solidFill>
                  <a:srgbClr val="D7E0E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7E0EC"/>
                </a:solidFill>
                <a:latin typeface="Arial"/>
                <a:ea typeface="Arial"/>
                <a:cs typeface="Arial"/>
              </a:rPr>
              <a:t>y sismoacústica</a:t>
            </a:r>
          </a:p>
        </p:txBody>
      </p:sp>
      <p:sp>
        <p:nvSpPr>
          <p:cNvPr id="11" name="cover-wave-1">
            <a:extLst xmlns:a="http://schemas.openxmlformats.org/drawingml/2006/main">
              <a:ext uri="{FF2B5EF4-FFF2-40B4-BE49-F238E27FC236}">
                <a16:creationId xmlns:a16="http://schemas.microsoft.com/office/drawing/2014/main" id="{8AC459BB-1998-48E7-917E-0F82FB36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4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wave-2">
            <a:extLst xmlns:a="http://schemas.openxmlformats.org/drawingml/2006/main">
              <a:ext uri="{FF2B5EF4-FFF2-40B4-BE49-F238E27FC236}">
                <a16:creationId xmlns:a16="http://schemas.microsoft.com/office/drawing/2014/main" id="{70386DE8-547E-4443-9C4B-BFC60AC3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ver-wave-3">
            <a:extLst xmlns:a="http://schemas.openxmlformats.org/drawingml/2006/main">
              <a:ext uri="{FF2B5EF4-FFF2-40B4-BE49-F238E27FC236}">
                <a16:creationId xmlns:a16="http://schemas.microsoft.com/office/drawing/2014/main" id="{8EDA4851-9641-467E-8FE5-C1B08B35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71850"/>
            <a:ext cx="1952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4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ver-arrow">
            <a:extLst xmlns:a="http://schemas.openxmlformats.org/drawingml/2006/main">
              <a:ext uri="{FF2B5EF4-FFF2-40B4-BE49-F238E27FC236}">
                <a16:creationId xmlns:a16="http://schemas.microsoft.com/office/drawing/2014/main" id="{12038CAB-99FB-45DB-9FF9-45A0CCEB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48100"/>
            <a:ext cx="990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6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ver-model">
            <a:extLst xmlns:a="http://schemas.openxmlformats.org/drawingml/2006/main">
              <a:ext uri="{FF2B5EF4-FFF2-40B4-BE49-F238E27FC236}">
                <a16:creationId xmlns:a16="http://schemas.microsoft.com/office/drawing/2014/main" id="{E45F732C-B4CC-4E14-8632-3B841E3E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243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MODELO</a:t>
            </a:r>
          </a:p>
        </p:txBody>
      </p:sp>
      <p:sp>
        <p:nvSpPr>
          <p:cNvPr id="16" name="cover-class-0">
            <a:extLst xmlns:a="http://schemas.openxmlformats.org/drawingml/2006/main">
              <a:ext uri="{FF2B5EF4-FFF2-40B4-BE49-F238E27FC236}">
                <a16:creationId xmlns:a16="http://schemas.microsoft.com/office/drawing/2014/main" id="{05029878-F53D-4D41-AA95-CEBB7FB4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A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ver-class-0-text">
            <a:extLst xmlns:a="http://schemas.openxmlformats.org/drawingml/2006/main">
              <a:ext uri="{FF2B5EF4-FFF2-40B4-BE49-F238E27FC236}">
                <a16:creationId xmlns:a16="http://schemas.microsoft.com/office/drawing/2014/main" id="{6677B7A0-E6E4-44BC-9FC4-1E900812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67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cover-class-0-label">
            <a:extLst xmlns:a="http://schemas.openxmlformats.org/drawingml/2006/main">
              <a:ext uri="{FF2B5EF4-FFF2-40B4-BE49-F238E27FC236}">
                <a16:creationId xmlns:a16="http://schemas.microsoft.com/office/drawing/2014/main" id="{6D6C18EC-CD53-46E7-BDB9-77F88585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76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D7E0E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7E0EC"/>
                </a:solidFill>
                <a:latin typeface="Arial"/>
                <a:ea typeface="Arial"/>
                <a:cs typeface="Arial"/>
              </a:rPr>
              <a:t>no peligroso</a:t>
            </a:r>
          </a:p>
        </p:txBody>
      </p:sp>
      <p:sp>
        <p:nvSpPr>
          <p:cNvPr id="19" name="cover-class-1">
            <a:extLst xmlns:a="http://schemas.openxmlformats.org/drawingml/2006/main">
              <a:ext uri="{FF2B5EF4-FFF2-40B4-BE49-F238E27FC236}">
                <a16:creationId xmlns:a16="http://schemas.microsoft.com/office/drawing/2014/main" id="{197BC783-2494-420E-AE3B-BC8DB488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102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ver-class-1-text">
            <a:extLst xmlns:a="http://schemas.openxmlformats.org/drawingml/2006/main">
              <a:ext uri="{FF2B5EF4-FFF2-40B4-BE49-F238E27FC236}">
                <a16:creationId xmlns:a16="http://schemas.microsoft.com/office/drawing/2014/main" id="{CACF53EF-76C3-40AF-83FC-64109B56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14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" name="cover-class-1-label">
            <a:extLst xmlns:a="http://schemas.openxmlformats.org/drawingml/2006/main">
              <a:ext uri="{FF2B5EF4-FFF2-40B4-BE49-F238E27FC236}">
                <a16:creationId xmlns:a16="http://schemas.microsoft.com/office/drawing/2014/main" id="{0063FCA7-DBBB-46FB-BDE2-4A494B1C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524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D7E0E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7E0EC"/>
                </a:solidFill>
                <a:latin typeface="Arial"/>
                <a:ea typeface="Arial"/>
                <a:cs typeface="Arial"/>
              </a:rPr>
              <a:t>peligroso</a:t>
            </a:r>
          </a:p>
        </p:txBody>
      </p:sp>
    </p:spTree>
    <p:extLst>
      <p:ext uri="{BB962C8B-B14F-4D97-AF65-F5344CB8AC3E}">
        <p14:creationId xmlns:p14="http://schemas.microsoft.com/office/powerpoint/2010/main" val="12136506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C1B3878A-9C54-4164-96C0-1F67FB60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86A33"/>
                </a:solidFill>
                <a:latin typeface="Arial"/>
                <a:ea typeface="Arial"/>
                <a:cs typeface="Arial"/>
              </a:rPr>
              <a:t>01 · PROBLEMA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B73636-DB5E-44E1-9057-964A1A34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 pregunta es operativa: ¿qué puede pasar en el próximo turno?</a:t>
            </a:r>
          </a:p>
        </p:txBody>
      </p:sp>
      <p:sp>
        <p:nvSpPr>
          <p:cNvPr id="3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14FEA052-44C5-4C83-8602-C357D861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En minería subterránea, un evento sísmico de alta energía puede afectar a las personas, la infraestructura y la continuidad de la operación.</a:t>
            </a:r>
          </a:p>
        </p:txBody>
      </p:sp>
      <p:sp>
        <p:nvSpPr>
          <p:cNvPr id="4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D14ABA64-BED0-4CDA-A2DC-942F43FF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475569"/>
                </a:solidFill>
                <a:latin typeface="Arial"/>
                <a:ea typeface="Arial"/>
                <a:cs typeface="Arial"/>
              </a:rPr>
              <a:t>El desafío es clasificar, a partir de los registros de un turno de trabajo, si existe riesgo de un evento peligroso durante el turno siguiente.</a:t>
            </a:r>
          </a:p>
        </p:txBody>
      </p:sp>
      <p:sp>
        <p:nvSpPr>
          <p:cNvPr id="5" name="problem-callout">
            <a:extLst xmlns:a="http://schemas.openxmlformats.org/drawingml/2006/main">
              <a:ext uri="{FF2B5EF4-FFF2-40B4-BE49-F238E27FC236}">
                <a16:creationId xmlns:a16="http://schemas.microsoft.com/office/drawing/2014/main" id="{AB663E11-A454-4DAA-8785-9601C623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48958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blem-callout-title">
            <a:extLst xmlns:a="http://schemas.openxmlformats.org/drawingml/2006/main">
              <a:ext uri="{FF2B5EF4-FFF2-40B4-BE49-F238E27FC236}">
                <a16:creationId xmlns:a16="http://schemas.microsoft.com/office/drawing/2014/main" id="{2310CC39-5DDE-4081-8E6B-3C2986AD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Objetivo práctico</a:t>
            </a:r>
          </a:p>
        </p:txBody>
      </p:sp>
      <p:sp>
        <p:nvSpPr>
          <p:cNvPr id="7" name="problem-callout-body">
            <a:extLst xmlns:a="http://schemas.openxmlformats.org/drawingml/2006/main">
              <a:ext uri="{FF2B5EF4-FFF2-40B4-BE49-F238E27FC236}">
                <a16:creationId xmlns:a16="http://schemas.microsoft.com/office/drawing/2014/main" id="{B8DF37DF-CDE9-45B9-81E4-F6E19720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Transformar señales en una alerta.</a:t>
            </a:r>
          </a:p>
        </p:txBody>
      </p:sp>
      <p:sp>
        <p:nvSpPr>
          <p:cNvPr id="8" name="shift-arrow-1">
            <a:extLst xmlns:a="http://schemas.openxmlformats.org/drawingml/2006/main">
              <a:ext uri="{FF2B5EF4-FFF2-40B4-BE49-F238E27FC236}">
                <a16:creationId xmlns:a16="http://schemas.microsoft.com/office/drawing/2014/main" id="{DF9DDE6B-97EB-4423-BF1C-0B0BD036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857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ift-arrow-2">
            <a:extLst xmlns:a="http://schemas.openxmlformats.org/drawingml/2006/main">
              <a:ext uri="{FF2B5EF4-FFF2-40B4-BE49-F238E27FC236}">
                <a16:creationId xmlns:a16="http://schemas.microsoft.com/office/drawing/2014/main" id="{DCAF1803-1C73-4FB3-AE81-5821DCC5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857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6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ift-a">
            <a:extLst xmlns:a="http://schemas.openxmlformats.org/drawingml/2006/main">
              <a:ext uri="{FF2B5EF4-FFF2-40B4-BE49-F238E27FC236}">
                <a16:creationId xmlns:a16="http://schemas.microsoft.com/office/drawing/2014/main" id="{55AD1C54-49CA-455D-B4D5-830E0525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20002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shift-a-kicker">
            <a:extLst xmlns:a="http://schemas.openxmlformats.org/drawingml/2006/main">
              <a:ext uri="{FF2B5EF4-FFF2-40B4-BE49-F238E27FC236}">
                <a16:creationId xmlns:a16="http://schemas.microsoft.com/office/drawing/2014/main" id="{148B90C7-71A4-4F93-B09E-C8C379BD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86A33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12" name="shift-a-title">
            <a:extLst xmlns:a="http://schemas.openxmlformats.org/drawingml/2006/main">
              <a:ext uri="{FF2B5EF4-FFF2-40B4-BE49-F238E27FC236}">
                <a16:creationId xmlns:a16="http://schemas.microsoft.com/office/drawing/2014/main" id="{1278DA7F-A01F-4FB3-B07C-01E07AF2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Turno actual</a:t>
            </a:r>
          </a:p>
        </p:txBody>
      </p:sp>
      <p:sp>
        <p:nvSpPr>
          <p:cNvPr id="13" name="shift-a-body">
            <a:extLst xmlns:a="http://schemas.openxmlformats.org/drawingml/2006/main">
              <a:ext uri="{FF2B5EF4-FFF2-40B4-BE49-F238E27FC236}">
                <a16:creationId xmlns:a16="http://schemas.microsoft.com/office/drawing/2014/main" id="{84D095D8-184E-41A3-B028-B1EC9805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520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75569"/>
                </a:solidFill>
                <a:latin typeface="Arial"/>
                <a:ea typeface="Arial"/>
                <a:cs typeface="Arial"/>
              </a:rPr>
              <a:t>8 horas de actividad</a:t>
            </a:r>
          </a:p>
          <a:p xmlns:a="http://schemas.openxmlformats.org/drawingml/2006/main">
            <a:pPr algn="l">
              <a:defRPr sz="127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75569"/>
                </a:solidFill>
                <a:latin typeface="Arial"/>
                <a:ea typeface="Arial"/>
                <a:cs typeface="Arial"/>
              </a:rPr>
              <a:t>sísmica y sismoacústica</a:t>
            </a:r>
          </a:p>
        </p:txBody>
      </p:sp>
      <p:sp>
        <p:nvSpPr>
          <p:cNvPr id="14" name="model-box">
            <a:extLst xmlns:a="http://schemas.openxmlformats.org/drawingml/2006/main">
              <a:ext uri="{FF2B5EF4-FFF2-40B4-BE49-F238E27FC236}">
                <a16:creationId xmlns:a16="http://schemas.microsoft.com/office/drawing/2014/main" id="{4BB344AE-D6A4-432B-A7BE-893BCA11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62200"/>
            <a:ext cx="16192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odel-kicker">
            <a:extLst xmlns:a="http://schemas.openxmlformats.org/drawingml/2006/main">
              <a:ext uri="{FF2B5EF4-FFF2-40B4-BE49-F238E27FC236}">
                <a16:creationId xmlns:a16="http://schemas.microsoft.com/office/drawing/2014/main" id="{46D4227F-96CB-4B8D-82D3-D23E33F3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479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CLASIFICADOR</a:t>
            </a:r>
          </a:p>
        </p:txBody>
      </p:sp>
      <p:sp>
        <p:nvSpPr>
          <p:cNvPr id="16" name="model-title">
            <a:extLst xmlns:a="http://schemas.openxmlformats.org/drawingml/2006/main">
              <a:ext uri="{FF2B5EF4-FFF2-40B4-BE49-F238E27FC236}">
                <a16:creationId xmlns:a16="http://schemas.microsoft.com/office/drawing/2014/main" id="{8DBD04FC-EE6C-4DB0-9AE4-70576913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Clasificador</a:t>
            </a:r>
          </a:p>
        </p:txBody>
      </p:sp>
      <p:sp>
        <p:nvSpPr>
          <p:cNvPr id="17" name="model-body">
            <a:extLst xmlns:a="http://schemas.openxmlformats.org/drawingml/2006/main">
              <a:ext uri="{FF2B5EF4-FFF2-40B4-BE49-F238E27FC236}">
                <a16:creationId xmlns:a16="http://schemas.microsoft.com/office/drawing/2014/main" id="{65F18669-460E-46EC-BB12-448B2ED2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FFF1E9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1E9"/>
                </a:solidFill>
                <a:latin typeface="Arial"/>
                <a:ea typeface="Arial"/>
                <a:cs typeface="Arial"/>
              </a:rPr>
              <a:t>aprende patrones</a:t>
            </a:r>
          </a:p>
        </p:txBody>
      </p:sp>
      <p:sp>
        <p:nvSpPr>
          <p:cNvPr id="18" name="shift-b">
            <a:extLst xmlns:a="http://schemas.openxmlformats.org/drawingml/2006/main">
              <a:ext uri="{FF2B5EF4-FFF2-40B4-BE49-F238E27FC236}">
                <a16:creationId xmlns:a16="http://schemas.microsoft.com/office/drawing/2014/main" id="{EAAA9A93-54E3-4560-BCC2-04293EE4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62200"/>
            <a:ext cx="14287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shift-b-kicker">
            <a:extLst xmlns:a="http://schemas.openxmlformats.org/drawingml/2006/main">
              <a:ext uri="{FF2B5EF4-FFF2-40B4-BE49-F238E27FC236}">
                <a16:creationId xmlns:a16="http://schemas.microsoft.com/office/drawing/2014/main" id="{97CC2767-4517-45DB-907D-608434D9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47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86A33"/>
                </a:solidFill>
                <a:latin typeface="Arial"/>
                <a:ea typeface="Arial"/>
                <a:cs typeface="Arial"/>
              </a:rPr>
              <a:t>SALIDA</a:t>
            </a:r>
          </a:p>
        </p:txBody>
      </p:sp>
      <p:sp>
        <p:nvSpPr>
          <p:cNvPr id="20" name="shift-b-title">
            <a:extLst xmlns:a="http://schemas.openxmlformats.org/drawingml/2006/main">
              <a:ext uri="{FF2B5EF4-FFF2-40B4-BE49-F238E27FC236}">
                <a16:creationId xmlns:a16="http://schemas.microsoft.com/office/drawing/2014/main" id="{82B3D9FF-2F92-43ED-9AFD-B63CDDE8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04800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Riesgo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 / 1</a:t>
            </a:r>
          </a:p>
        </p:txBody>
      </p:sp>
      <p:sp>
        <p:nvSpPr>
          <p:cNvPr id="21" name="shift-b-body">
            <a:extLst xmlns:a="http://schemas.openxmlformats.org/drawingml/2006/main">
              <a:ext uri="{FF2B5EF4-FFF2-40B4-BE49-F238E27FC236}">
                <a16:creationId xmlns:a16="http://schemas.microsoft.com/office/drawing/2014/main" id="{5C084533-2BB1-4BE7-BB5B-F0BE7DCD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88620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75569"/>
                </a:solidFill>
                <a:latin typeface="Arial"/>
                <a:ea typeface="Arial"/>
                <a:cs typeface="Arial"/>
              </a:rPr>
              <a:t>siguiente</a:t>
            </a:r>
          </a:p>
          <a:p xmlns:a="http://schemas.openxmlformats.org/drawingml/2006/main">
            <a:pPr algn="l">
              <a:defRPr sz="112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75569"/>
                </a:solidFill>
                <a:latin typeface="Arial"/>
                <a:ea typeface="Arial"/>
                <a:cs typeface="Arial"/>
              </a:rPr>
              <a:t>turno</a:t>
            </a:r>
          </a:p>
        </p:txBody>
      </p:sp>
      <p:sp>
        <p:nvSpPr>
          <p:cNvPr id="22" name="problem-diagram-caption">
            <a:extLst xmlns:a="http://schemas.openxmlformats.org/drawingml/2006/main">
              <a:ext uri="{FF2B5EF4-FFF2-40B4-BE49-F238E27FC236}">
                <a16:creationId xmlns:a16="http://schemas.microsoft.com/office/drawing/2014/main" id="{26AEAC48-0818-43A5-8114-338FCA65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149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569"/>
                </a:solidFill>
                <a:latin typeface="Arial"/>
                <a:ea typeface="Arial"/>
                <a:cs typeface="Arial"/>
              </a:rPr>
              <a:t>La predicción no reemplaza la supervisión: la orienta con evidencia.</a:t>
            </a:r>
          </a:p>
        </p:txBody>
      </p:sp>
      <p:sp>
        <p:nvSpPr>
          <p:cNvPr id="2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004E4B2D-A947-4ED1-B38C-8C69CD64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3B9FBAC7-0410-4453-89CF-A07BD5D9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Proyecto Integrador · TAD</a:t>
            </a:r>
          </a:p>
        </p:txBody>
      </p:sp>
      <p:sp>
        <p:nvSpPr>
          <p:cNvPr id="2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7098F2F4-91FB-401B-B9AA-260B944E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80555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33CB4932-3C9B-4328-ACC3-52D2508B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86A33"/>
                </a:solidFill>
                <a:latin typeface="Arial"/>
                <a:ea typeface="Arial"/>
                <a:cs typeface="Arial"/>
              </a:rPr>
              <a:t>02 · FORMULACIÓN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47B59B-BDED-48DD-ABC9-E10047F9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 trata de una clasificación binaria, pero el riesgo está desbalanceado</a:t>
            </a:r>
          </a:p>
        </p:txBody>
      </p:sp>
      <p:sp>
        <p:nvSpPr>
          <p:cNvPr id="3" name="class-intro">
            <a:extLst xmlns:a="http://schemas.openxmlformats.org/drawingml/2006/main">
              <a:ext uri="{FF2B5EF4-FFF2-40B4-BE49-F238E27FC236}">
                <a16:creationId xmlns:a16="http://schemas.microsoft.com/office/drawing/2014/main" id="{10C2720F-E2B4-4685-BC6D-D5173435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475569"/>
                </a:solidFill>
                <a:latin typeface="Arial"/>
                <a:ea typeface="Arial"/>
                <a:cs typeface="Arial"/>
              </a:rPr>
              <a:t>La variable `class` resume el resultado del turno siguiente en dos estados.</a:t>
            </a:r>
          </a:p>
        </p:txBody>
      </p:sp>
      <p:sp>
        <p:nvSpPr>
          <p:cNvPr id="4" name="class-0-box">
            <a:extLst xmlns:a="http://schemas.openxmlformats.org/drawingml/2006/main">
              <a:ext uri="{FF2B5EF4-FFF2-40B4-BE49-F238E27FC236}">
                <a16:creationId xmlns:a16="http://schemas.microsoft.com/office/drawing/2014/main" id="{AC0F4F3F-088D-4339-93AA-0C7EC40E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571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7"/>
          </a:solidFill>
          <a:ln xmlns:a="http://schemas.openxmlformats.org/drawingml/2006/main" w="9525">
            <a:solidFill>
              <a:srgbClr val="C5D8E8"/>
            </a:solidFill>
            <a:prstDash val="solid"/>
          </a:ln>
        </p:spPr>
      </p:sp>
      <p:sp>
        <p:nvSpPr>
          <p:cNvPr id="5" name="class-0-number">
            <a:extLst xmlns:a="http://schemas.openxmlformats.org/drawingml/2006/main">
              <a:ext uri="{FF2B5EF4-FFF2-40B4-BE49-F238E27FC236}">
                <a16:creationId xmlns:a16="http://schemas.microsoft.com/office/drawing/2014/main" id="{F8E1C55A-A16A-4DBB-B966-E70F3F58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8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E6CB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E6CB6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class-0-title">
            <a:extLst xmlns:a="http://schemas.openxmlformats.org/drawingml/2006/main">
              <a:ext uri="{FF2B5EF4-FFF2-40B4-BE49-F238E27FC236}">
                <a16:creationId xmlns:a16="http://schemas.microsoft.com/office/drawing/2014/main" id="{D2163669-DFA3-4B11-8F2E-39E9E0C2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43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No peligroso</a:t>
            </a:r>
          </a:p>
        </p:txBody>
      </p:sp>
      <p:sp>
        <p:nvSpPr>
          <p:cNvPr id="7" name="class-0-body">
            <a:extLst xmlns:a="http://schemas.openxmlformats.org/drawingml/2006/main">
              <a:ext uri="{FF2B5EF4-FFF2-40B4-BE49-F238E27FC236}">
                <a16:creationId xmlns:a16="http://schemas.microsoft.com/office/drawing/2014/main" id="{1147C24E-6F51-40C1-9730-379A7795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75569"/>
                </a:solidFill>
                <a:latin typeface="Arial"/>
                <a:ea typeface="Arial"/>
                <a:cs typeface="Arial"/>
              </a:rPr>
              <a:t>No ocurre un evento sísmico de alta energía en el siguiente turno.</a:t>
            </a:r>
          </a:p>
        </p:txBody>
      </p:sp>
      <p:sp>
        <p:nvSpPr>
          <p:cNvPr id="8" name="class-1-box">
            <a:extLst xmlns:a="http://schemas.openxmlformats.org/drawingml/2006/main">
              <a:ext uri="{FF2B5EF4-FFF2-40B4-BE49-F238E27FC236}">
                <a16:creationId xmlns:a16="http://schemas.microsoft.com/office/drawing/2014/main" id="{93DA8501-D5E0-435B-B9E6-C5A68CA6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66950"/>
            <a:ext cx="2571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0"/>
          </a:solidFill>
          <a:ln xmlns:a="http://schemas.openxmlformats.org/drawingml/2006/main" w="9525">
            <a:solidFill>
              <a:srgbClr val="F2C5B5"/>
            </a:solidFill>
            <a:prstDash val="solid"/>
          </a:ln>
        </p:spPr>
      </p:sp>
      <p:sp>
        <p:nvSpPr>
          <p:cNvPr id="9" name="class-1-number">
            <a:extLst xmlns:a="http://schemas.openxmlformats.org/drawingml/2006/main">
              <a:ext uri="{FF2B5EF4-FFF2-40B4-BE49-F238E27FC236}">
                <a16:creationId xmlns:a16="http://schemas.microsoft.com/office/drawing/2014/main" id="{7269981C-4676-4450-9772-3F870FA4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78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E86A33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E86A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class-1-title">
            <a:extLst xmlns:a="http://schemas.openxmlformats.org/drawingml/2006/main">
              <a:ext uri="{FF2B5EF4-FFF2-40B4-BE49-F238E27FC236}">
                <a16:creationId xmlns:a16="http://schemas.microsoft.com/office/drawing/2014/main" id="{CEF8B001-E37A-45BB-B50F-1996A817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43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Peligroso</a:t>
            </a:r>
          </a:p>
        </p:txBody>
      </p:sp>
      <p:sp>
        <p:nvSpPr>
          <p:cNvPr id="11" name="class-1-body">
            <a:extLst xmlns:a="http://schemas.openxmlformats.org/drawingml/2006/main">
              <a:ext uri="{FF2B5EF4-FFF2-40B4-BE49-F238E27FC236}">
                <a16:creationId xmlns:a16="http://schemas.microsoft.com/office/drawing/2014/main" id="{44DD6340-BE0C-47A9-BF34-ABC4BD5D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528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75569"/>
                </a:solidFill>
                <a:latin typeface="Arial"/>
                <a:ea typeface="Arial"/>
                <a:cs typeface="Arial"/>
              </a:rPr>
              <a:t>Ocurre un evento sísmico de alta energía en el siguiente turno.</a:t>
            </a:r>
          </a:p>
        </p:txBody>
      </p:sp>
      <p:sp>
        <p:nvSpPr>
          <p:cNvPr id="12" name="imbalance-panel">
            <a:extLst xmlns:a="http://schemas.openxmlformats.org/drawingml/2006/main">
              <a:ext uri="{FF2B5EF4-FFF2-40B4-BE49-F238E27FC236}">
                <a16:creationId xmlns:a16="http://schemas.microsoft.com/office/drawing/2014/main" id="{41FF353A-E239-4BCC-93A7-A8507554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62100"/>
            <a:ext cx="52197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imbalance-title">
            <a:extLst xmlns:a="http://schemas.openxmlformats.org/drawingml/2006/main">
              <a:ext uri="{FF2B5EF4-FFF2-40B4-BE49-F238E27FC236}">
                <a16:creationId xmlns:a16="http://schemas.microsoft.com/office/drawing/2014/main" id="{54179726-BC87-4B0B-8D21-557B9D98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47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 clase peligrosa es minoritaria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6953250" y="2381250"/>
          <a:ext xmlns:a="http://schemas.openxmlformats.org/drawingml/2006/main" cx="247650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ae90e8c4994df2"/>
          </a:graphicData>
        </a:graphic>
      </p:graphicFrame>
      <p:sp>
        <p:nvSpPr>
          <p:cNvPr id="15" name="imbalance-dot-blue">
            <a:extLst xmlns:a="http://schemas.openxmlformats.org/drawingml/2006/main">
              <a:ext uri="{FF2B5EF4-FFF2-40B4-BE49-F238E27FC236}">
                <a16:creationId xmlns:a16="http://schemas.microsoft.com/office/drawing/2014/main" id="{F7E19CA8-9F5D-4D36-96E4-48BCA5C9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24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C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mbalance-blue">
            <a:extLst xmlns:a="http://schemas.openxmlformats.org/drawingml/2006/main">
              <a:ext uri="{FF2B5EF4-FFF2-40B4-BE49-F238E27FC236}">
                <a16:creationId xmlns:a16="http://schemas.microsoft.com/office/drawing/2014/main" id="{B404D7B0-7D9B-4C2D-84C1-2FED19CF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75569"/>
                </a:solidFill>
                <a:latin typeface="Arial"/>
                <a:ea typeface="Arial"/>
                <a:cs typeface="Arial"/>
              </a:rPr>
              <a:t>2.414 · 93,4%</a:t>
            </a:r>
          </a:p>
          <a:p xmlns:a="http://schemas.openxmlformats.org/drawingml/2006/main">
            <a:pPr algn="l">
              <a:defRPr sz="12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75569"/>
                </a:solidFill>
                <a:latin typeface="Arial"/>
                <a:ea typeface="Arial"/>
                <a:cs typeface="Arial"/>
              </a:rPr>
              <a:t>No peligroso</a:t>
            </a:r>
          </a:p>
        </p:txBody>
      </p:sp>
      <p:sp>
        <p:nvSpPr>
          <p:cNvPr id="17" name="imbalance-dot-orange">
            <a:extLst xmlns:a="http://schemas.openxmlformats.org/drawingml/2006/main">
              <a:ext uri="{FF2B5EF4-FFF2-40B4-BE49-F238E27FC236}">
                <a16:creationId xmlns:a16="http://schemas.microsoft.com/office/drawing/2014/main" id="{FF7C5BA7-05C6-4BF1-9D99-23D55418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05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imbalance-orange">
            <a:extLst xmlns:a="http://schemas.openxmlformats.org/drawingml/2006/main">
              <a:ext uri="{FF2B5EF4-FFF2-40B4-BE49-F238E27FC236}">
                <a16:creationId xmlns:a16="http://schemas.microsoft.com/office/drawing/2014/main" id="{939DFBCA-8FF2-4456-B3C2-BF402E3A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480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75569"/>
                </a:solidFill>
                <a:latin typeface="Arial"/>
                <a:ea typeface="Arial"/>
                <a:cs typeface="Arial"/>
              </a:rPr>
              <a:t>170 · 6,6%</a:t>
            </a:r>
          </a:p>
          <a:p xmlns:a="http://schemas.openxmlformats.org/drawingml/2006/main">
            <a:pPr algn="l">
              <a:defRPr sz="12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75569"/>
                </a:solidFill>
                <a:latin typeface="Arial"/>
                <a:ea typeface="Arial"/>
                <a:cs typeface="Arial"/>
              </a:rPr>
              <a:t>Peligroso</a:t>
            </a:r>
          </a:p>
        </p:txBody>
      </p:sp>
      <p:sp>
        <p:nvSpPr>
          <p:cNvPr id="19" name="imbalance-caption">
            <a:extLst xmlns:a="http://schemas.openxmlformats.org/drawingml/2006/main">
              <a:ext uri="{FF2B5EF4-FFF2-40B4-BE49-F238E27FC236}">
                <a16:creationId xmlns:a16="http://schemas.microsoft.com/office/drawing/2014/main" id="{263C61FA-972E-4C8F-9C9E-530EB65A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101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6A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6A33"/>
                </a:solidFill>
                <a:latin typeface="Arial"/>
                <a:ea typeface="Arial"/>
                <a:cs typeface="Arial"/>
              </a:rPr>
              <a:t>Una accuracy alta puede ocultar muchos falsos negativos.</a:t>
            </a:r>
          </a:p>
        </p:txBody>
      </p:sp>
      <p:sp>
        <p:nvSpPr>
          <p:cNvPr id="20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F1EEF7AE-A97B-4C90-85C8-C0C6D7E5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6BFEA0F0-9447-4A2D-80E3-79CB832C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Fuente de distribución: archivo seismic-bumps.arff incluido en el proyecto</a:t>
            </a:r>
          </a:p>
        </p:txBody>
      </p:sp>
      <p:sp>
        <p:nvSpPr>
          <p:cNvPr id="22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852148B7-3B7E-4247-A3BC-F5DDDDE6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361542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26F53EF6-D7C2-493C-9C3F-88919670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86A33"/>
                </a:solidFill>
                <a:latin typeface="Arial"/>
                <a:ea typeface="Arial"/>
                <a:cs typeface="Arial"/>
              </a:rPr>
              <a:t>03 · DATOS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4141FD2-589B-47FB-87D7-7D2A3129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El dataset resume la actividad de cada turno</a:t>
            </a:r>
          </a:p>
        </p:txBody>
      </p:sp>
      <p:sp>
        <p:nvSpPr>
          <p:cNvPr id="3" name="instances-box">
            <a:extLst xmlns:a="http://schemas.openxmlformats.org/drawingml/2006/main">
              <a:ext uri="{FF2B5EF4-FFF2-40B4-BE49-F238E27FC236}">
                <a16:creationId xmlns:a16="http://schemas.microsoft.com/office/drawing/2014/main" id="{52B1EEB6-C0FF-46D2-A4C2-09DDD63F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instances-accent">
            <a:extLst xmlns:a="http://schemas.openxmlformats.org/drawingml/2006/main">
              <a:ext uri="{FF2B5EF4-FFF2-40B4-BE49-F238E27FC236}">
                <a16:creationId xmlns:a16="http://schemas.microsoft.com/office/drawing/2014/main" id="{C9053FED-0C96-4831-A426-22D44278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nstances-value">
            <a:extLst xmlns:a="http://schemas.openxmlformats.org/drawingml/2006/main">
              <a:ext uri="{FF2B5EF4-FFF2-40B4-BE49-F238E27FC236}">
                <a16:creationId xmlns:a16="http://schemas.microsoft.com/office/drawing/2014/main" id="{50604B17-EE71-4991-8A0A-A49CC022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2.584</a:t>
            </a:r>
          </a:p>
        </p:txBody>
      </p:sp>
      <p:sp>
        <p:nvSpPr>
          <p:cNvPr id="6" name="instances-label">
            <a:extLst xmlns:a="http://schemas.openxmlformats.org/drawingml/2006/main">
              <a:ext uri="{FF2B5EF4-FFF2-40B4-BE49-F238E27FC236}">
                <a16:creationId xmlns:a16="http://schemas.microsoft.com/office/drawing/2014/main" id="{BD936DBF-5EE7-4752-AA8D-82525A4D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instancias</a:t>
            </a:r>
          </a:p>
        </p:txBody>
      </p:sp>
      <p:sp>
        <p:nvSpPr>
          <p:cNvPr id="7" name="attributes-box">
            <a:extLst xmlns:a="http://schemas.openxmlformats.org/drawingml/2006/main">
              <a:ext uri="{FF2B5EF4-FFF2-40B4-BE49-F238E27FC236}">
                <a16:creationId xmlns:a16="http://schemas.microsoft.com/office/drawing/2014/main" id="{A69DBAFF-0BB7-4B4C-A675-097E6440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811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attributes-accent">
            <a:extLst xmlns:a="http://schemas.openxmlformats.org/drawingml/2006/main">
              <a:ext uri="{FF2B5EF4-FFF2-40B4-BE49-F238E27FC236}">
                <a16:creationId xmlns:a16="http://schemas.microsoft.com/office/drawing/2014/main" id="{153F12BB-D7CB-4957-A59D-565CE56A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81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B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tributes-value">
            <a:extLst xmlns:a="http://schemas.openxmlformats.org/drawingml/2006/main">
              <a:ext uri="{FF2B5EF4-FFF2-40B4-BE49-F238E27FC236}">
                <a16:creationId xmlns:a16="http://schemas.microsoft.com/office/drawing/2014/main" id="{2EFED873-2762-4AE2-9B40-E1E9D206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526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0" name="attributes-label">
            <a:extLst xmlns:a="http://schemas.openxmlformats.org/drawingml/2006/main">
              <a:ext uri="{FF2B5EF4-FFF2-40B4-BE49-F238E27FC236}">
                <a16:creationId xmlns:a16="http://schemas.microsoft.com/office/drawing/2014/main" id="{DEEF1AD9-BAAB-4FF5-B0E6-344AC8A9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479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atributos en total</a:t>
            </a:r>
          </a:p>
        </p:txBody>
      </p:sp>
      <p:sp>
        <p:nvSpPr>
          <p:cNvPr id="11" name="shift-box">
            <a:extLst xmlns:a="http://schemas.openxmlformats.org/drawingml/2006/main">
              <a:ext uri="{FF2B5EF4-FFF2-40B4-BE49-F238E27FC236}">
                <a16:creationId xmlns:a16="http://schemas.microsoft.com/office/drawing/2014/main" id="{8ED87218-6E8E-46CC-A9B7-3B124320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811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shift-accent">
            <a:extLst xmlns:a="http://schemas.openxmlformats.org/drawingml/2006/main">
              <a:ext uri="{FF2B5EF4-FFF2-40B4-BE49-F238E27FC236}">
                <a16:creationId xmlns:a16="http://schemas.microsoft.com/office/drawing/2014/main" id="{9E70E43D-59AF-479E-95B3-7575ABC2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81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ift-value">
            <a:extLst xmlns:a="http://schemas.openxmlformats.org/drawingml/2006/main">
              <a:ext uri="{FF2B5EF4-FFF2-40B4-BE49-F238E27FC236}">
                <a16:creationId xmlns:a16="http://schemas.microsoft.com/office/drawing/2014/main" id="{272D5080-B616-43B6-B725-A935E560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7526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8 h</a:t>
            </a:r>
          </a:p>
        </p:txBody>
      </p:sp>
      <p:sp>
        <p:nvSpPr>
          <p:cNvPr id="14" name="shift-label">
            <a:extLst xmlns:a="http://schemas.openxmlformats.org/drawingml/2006/main">
              <a:ext uri="{FF2B5EF4-FFF2-40B4-BE49-F238E27FC236}">
                <a16:creationId xmlns:a16="http://schemas.microsoft.com/office/drawing/2014/main" id="{C009AE98-9411-4943-B368-EA1AD1FD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479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por instancia</a:t>
            </a:r>
          </a:p>
        </p:txBody>
      </p:sp>
      <p:sp>
        <p:nvSpPr>
          <p:cNvPr id="15" name="label-box">
            <a:extLst xmlns:a="http://schemas.openxmlformats.org/drawingml/2006/main">
              <a:ext uri="{FF2B5EF4-FFF2-40B4-BE49-F238E27FC236}">
                <a16:creationId xmlns:a16="http://schemas.microsoft.com/office/drawing/2014/main" id="{349D3CDC-3034-4C76-828A-C41518BC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811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label-accent">
            <a:extLst xmlns:a="http://schemas.openxmlformats.org/drawingml/2006/main">
              <a:ext uri="{FF2B5EF4-FFF2-40B4-BE49-F238E27FC236}">
                <a16:creationId xmlns:a16="http://schemas.microsoft.com/office/drawing/2014/main" id="{A580AD3E-5BB7-4C0B-ACBE-C492265F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81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abel-value">
            <a:extLst xmlns:a="http://schemas.openxmlformats.org/drawingml/2006/main">
              <a:ext uri="{FF2B5EF4-FFF2-40B4-BE49-F238E27FC236}">
                <a16:creationId xmlns:a16="http://schemas.microsoft.com/office/drawing/2014/main" id="{2EEF6833-9B02-4018-8373-DE16E9D9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526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class</a:t>
            </a:r>
          </a:p>
        </p:txBody>
      </p:sp>
      <p:sp>
        <p:nvSpPr>
          <p:cNvPr id="18" name="label-label">
            <a:extLst xmlns:a="http://schemas.openxmlformats.org/drawingml/2006/main">
              <a:ext uri="{FF2B5EF4-FFF2-40B4-BE49-F238E27FC236}">
                <a16:creationId xmlns:a16="http://schemas.microsoft.com/office/drawing/2014/main" id="{062D605B-ED92-4B54-BBA1-43DE5531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479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variable objetivo</a:t>
            </a:r>
          </a:p>
        </p:txBody>
      </p:sp>
      <p:sp>
        <p:nvSpPr>
          <p:cNvPr id="19" name="dataset-left">
            <a:extLst xmlns:a="http://schemas.openxmlformats.org/drawingml/2006/main">
              <a:ext uri="{FF2B5EF4-FFF2-40B4-BE49-F238E27FC236}">
                <a16:creationId xmlns:a16="http://schemas.microsoft.com/office/drawing/2014/main" id="{A29C34DA-D0EA-4802-B8D2-F3D27FA1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52578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dataset-left-title">
            <a:extLst xmlns:a="http://schemas.openxmlformats.org/drawingml/2006/main">
              <a:ext uri="{FF2B5EF4-FFF2-40B4-BE49-F238E27FC236}">
                <a16:creationId xmlns:a16="http://schemas.microsoft.com/office/drawing/2014/main" id="{D3D03D37-DB70-411C-873F-714310D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Qué contiene cada fila</a:t>
            </a:r>
          </a:p>
        </p:txBody>
      </p:sp>
      <p:sp>
        <p:nvSpPr>
          <p:cNvPr id="21" name="dataset-left-body">
            <a:extLst xmlns:a="http://schemas.openxmlformats.org/drawingml/2006/main">
              <a:ext uri="{FF2B5EF4-FFF2-40B4-BE49-F238E27FC236}">
                <a16:creationId xmlns:a16="http://schemas.microsoft.com/office/drawing/2014/main" id="{7BD4A655-F92E-4176-9E2F-26B1B433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305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475569"/>
                </a:solidFill>
                <a:latin typeface="Arial"/>
                <a:ea typeface="Arial"/>
                <a:cs typeface="Arial"/>
              </a:rPr>
              <a:t>Una síntesis de la actividad sísmica y sismoacústica registrada durante un turno de trabajo en una mina subterránea de carbón.</a:t>
            </a:r>
          </a:p>
        </p:txBody>
      </p:sp>
      <p:sp>
        <p:nvSpPr>
          <p:cNvPr id="22" name="dataset-left-note">
            <a:extLst xmlns:a="http://schemas.openxmlformats.org/drawingml/2006/main">
              <a:ext uri="{FF2B5EF4-FFF2-40B4-BE49-F238E27FC236}">
                <a16:creationId xmlns:a16="http://schemas.microsoft.com/office/drawing/2014/main" id="{E539E9BB-6C7D-413D-9F78-63EC460E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30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6A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6A33"/>
                </a:solidFill>
                <a:latin typeface="Arial"/>
                <a:ea typeface="Arial"/>
                <a:cs typeface="Arial"/>
              </a:rPr>
              <a:t>No se utiliza un identificador: el foco está en las señales que explican el riesgo.</a:t>
            </a:r>
          </a:p>
        </p:txBody>
      </p:sp>
      <p:sp>
        <p:nvSpPr>
          <p:cNvPr id="23" name="dataset-right">
            <a:extLst xmlns:a="http://schemas.openxmlformats.org/drawingml/2006/main">
              <a:ext uri="{FF2B5EF4-FFF2-40B4-BE49-F238E27FC236}">
                <a16:creationId xmlns:a16="http://schemas.microsoft.com/office/drawing/2014/main" id="{584C1ACF-2825-4C02-AA78-98235BF0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86100"/>
            <a:ext cx="58674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ataset-right-title">
            <a:extLst xmlns:a="http://schemas.openxmlformats.org/drawingml/2006/main">
              <a:ext uri="{FF2B5EF4-FFF2-40B4-BE49-F238E27FC236}">
                <a16:creationId xmlns:a16="http://schemas.microsoft.com/office/drawing/2014/main" id="{815C0E1F-9123-48A8-8F79-9CD1D1F7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71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Origen y formato</a:t>
            </a:r>
          </a:p>
        </p:txBody>
      </p:sp>
      <p:sp>
        <p:nvSpPr>
          <p:cNvPr id="25" name="dataset-right-body">
            <a:extLst xmlns:a="http://schemas.openxmlformats.org/drawingml/2006/main">
              <a:ext uri="{FF2B5EF4-FFF2-40B4-BE49-F238E27FC236}">
                <a16:creationId xmlns:a16="http://schemas.microsoft.com/office/drawing/2014/main" id="{4215CB4C-EDB0-4ABE-9A8E-138F807F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052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D7E0EC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7E0EC"/>
                </a:solidFill>
                <a:latin typeface="Arial"/>
                <a:ea typeface="Arial"/>
                <a:cs typeface="Arial"/>
              </a:rPr>
              <a:t>Seismic-Bumps</a:t>
            </a:r>
          </a:p>
          <a:p xmlns:a="http://schemas.openxmlformats.org/drawingml/2006/main">
            <a:pPr algn="l">
              <a:defRPr sz="1500">
                <a:solidFill>
                  <a:srgbClr val="D7E0EC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7E0EC"/>
                </a:solidFill>
                <a:latin typeface="Arial"/>
                <a:ea typeface="Arial"/>
                <a:cs typeface="Arial"/>
              </a:rPr>
              <a:t>UCI Machine Learning Repository</a:t>
            </a:r>
          </a:p>
          <a:p xmlns:a="http://schemas.openxmlformats.org/drawingml/2006/main">
            <a:pPr algn="l">
              <a:defRPr sz="1500">
                <a:solidFill>
                  <a:srgbClr val="D7E0EC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7E0EC"/>
                </a:solidFill>
                <a:latin typeface="Arial"/>
                <a:ea typeface="Arial"/>
                <a:cs typeface="Arial"/>
              </a:rPr>
              <a:t>Archivo .arff para importar en RapidMiner</a:t>
            </a:r>
          </a:p>
        </p:txBody>
      </p:sp>
      <p:sp>
        <p:nvSpPr>
          <p:cNvPr id="26" name="dataset-right-source">
            <a:extLst xmlns:a="http://schemas.openxmlformats.org/drawingml/2006/main">
              <a:ext uri="{FF2B5EF4-FFF2-40B4-BE49-F238E27FC236}">
                <a16:creationId xmlns:a16="http://schemas.microsoft.com/office/drawing/2014/main" id="{E78875AC-BE00-4546-9AAD-1F28DD14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673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4B740"/>
                </a:solidFill>
                <a:latin typeface="Arial"/>
                <a:ea typeface="Arial"/>
                <a:cs typeface="Arial"/>
              </a:rPr>
              <a:t>archive.ics.uci.edu/dataset/266/seismic+bumps</a:t>
            </a:r>
          </a:p>
        </p:txBody>
      </p:sp>
      <p:sp>
        <p:nvSpPr>
          <p:cNvPr id="27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D3A025D3-2866-4F7D-86B5-05262330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D1EDCE42-CAC2-46AC-BF2E-DE2438F7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Proyecto Integrador · TAD</a:t>
            </a:r>
          </a:p>
        </p:txBody>
      </p:sp>
      <p:sp>
        <p:nvSpPr>
          <p:cNvPr id="29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9F321CF2-3C69-47FB-908B-0424A91C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805288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">
            <a:extLst xmlns:a="http://schemas.openxmlformats.org/drawingml/2006/main">
              <a:ext uri="{FF2B5EF4-FFF2-40B4-BE49-F238E27FC236}">
                <a16:creationId xmlns:a16="http://schemas.microsoft.com/office/drawing/2014/main" id="{5B8C1900-D7D2-49A9-9503-9F83F05D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86A33"/>
                </a:solidFill>
                <a:latin typeface="Arial"/>
                <a:ea typeface="Arial"/>
                <a:cs typeface="Arial"/>
              </a:rPr>
              <a:t>04 · MÉTODO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36AB4B8-59E2-4DD3-A86E-E23DD38F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El análisis seguirá una cadena reproducible en RapidMiner</a:t>
            </a:r>
          </a:p>
        </p:txBody>
      </p:sp>
      <p:sp>
        <p:nvSpPr>
          <p:cNvPr id="3" name="method-intro">
            <a:extLst xmlns:a="http://schemas.openxmlformats.org/drawingml/2006/main">
              <a:ext uri="{FF2B5EF4-FFF2-40B4-BE49-F238E27FC236}">
                <a16:creationId xmlns:a16="http://schemas.microsoft.com/office/drawing/2014/main" id="{40A545C7-5A4A-4EC3-A775-B3FD1063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475569"/>
                </a:solidFill>
                <a:latin typeface="Arial"/>
                <a:ea typeface="Arial"/>
                <a:cs typeface="Arial"/>
              </a:rPr>
              <a:t>La comparación sólo es válida si todos los modelos reciben el mismo tratamiento de datos y la misma estrategia de evaluación.</a:t>
            </a:r>
          </a:p>
        </p:txBody>
      </p:sp>
      <p:sp>
        <p:nvSpPr>
          <p:cNvPr id="4" name="method-arrow-0">
            <a:extLst xmlns:a="http://schemas.openxmlformats.org/drawingml/2006/main">
              <a:ext uri="{FF2B5EF4-FFF2-40B4-BE49-F238E27FC236}">
                <a16:creationId xmlns:a16="http://schemas.microsoft.com/office/drawing/2014/main" id="{EB938A35-3BDC-4A27-B8CB-8ED433F3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33750"/>
            <a:ext cx="647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hod-arrow-1">
            <a:extLst xmlns:a="http://schemas.openxmlformats.org/drawingml/2006/main">
              <a:ext uri="{FF2B5EF4-FFF2-40B4-BE49-F238E27FC236}">
                <a16:creationId xmlns:a16="http://schemas.microsoft.com/office/drawing/2014/main" id="{BA689413-2606-45CA-A22A-35CC0D27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647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arrow-2">
            <a:extLst xmlns:a="http://schemas.openxmlformats.org/drawingml/2006/main">
              <a:ext uri="{FF2B5EF4-FFF2-40B4-BE49-F238E27FC236}">
                <a16:creationId xmlns:a16="http://schemas.microsoft.com/office/drawing/2014/main" id="{1F1573A6-36A7-4096-8F40-6EC56BD7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3750"/>
            <a:ext cx="647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hod-arrow-3">
            <a:extLst xmlns:a="http://schemas.openxmlformats.org/drawingml/2006/main">
              <a:ext uri="{FF2B5EF4-FFF2-40B4-BE49-F238E27FC236}">
                <a16:creationId xmlns:a16="http://schemas.microsoft.com/office/drawing/2014/main" id="{13DDE086-B3C2-4E31-B3D9-0CFCAD81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647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hod-step-0">
            <a:extLst xmlns:a="http://schemas.openxmlformats.org/drawingml/2006/main">
              <a:ext uri="{FF2B5EF4-FFF2-40B4-BE49-F238E27FC236}">
                <a16:creationId xmlns:a16="http://schemas.microsoft.com/office/drawing/2014/main" id="{487CAB14-0EF6-4C03-84CF-54B56050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9850"/>
            <a:ext cx="1581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method-num-0">
            <a:extLst xmlns:a="http://schemas.openxmlformats.org/drawingml/2006/main">
              <a:ext uri="{FF2B5EF4-FFF2-40B4-BE49-F238E27FC236}">
                <a16:creationId xmlns:a16="http://schemas.microsoft.com/office/drawing/2014/main" id="{782288D2-3A4E-4448-9B99-E3F7999A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CB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CB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method-title-0">
            <a:extLst xmlns:a="http://schemas.openxmlformats.org/drawingml/2006/main">
              <a:ext uri="{FF2B5EF4-FFF2-40B4-BE49-F238E27FC236}">
                <a16:creationId xmlns:a16="http://schemas.microsoft.com/office/drawing/2014/main" id="{7938D4CB-B9D6-458B-99BB-1ED0AE35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Importar</a:t>
            </a:r>
          </a:p>
        </p:txBody>
      </p:sp>
      <p:sp>
        <p:nvSpPr>
          <p:cNvPr id="11" name="method-body-0">
            <a:extLst xmlns:a="http://schemas.openxmlformats.org/drawingml/2006/main">
              <a:ext uri="{FF2B5EF4-FFF2-40B4-BE49-F238E27FC236}">
                <a16:creationId xmlns:a16="http://schemas.microsoft.com/office/drawing/2014/main" id="{CD9F1CA3-7D6A-4769-82A7-FE4E14CF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75569"/>
                </a:solidFill>
                <a:latin typeface="Arial"/>
                <a:ea typeface="Arial"/>
                <a:cs typeface="Arial"/>
              </a:rPr>
              <a:t>Cargar el .arff</a:t>
            </a:r>
          </a:p>
        </p:txBody>
      </p:sp>
      <p:sp>
        <p:nvSpPr>
          <p:cNvPr id="12" name="method-step-1">
            <a:extLst xmlns:a="http://schemas.openxmlformats.org/drawingml/2006/main">
              <a:ext uri="{FF2B5EF4-FFF2-40B4-BE49-F238E27FC236}">
                <a16:creationId xmlns:a16="http://schemas.microsoft.com/office/drawing/2014/main" id="{26B55AED-C76A-4295-816F-657F923D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09850"/>
            <a:ext cx="1581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method-num-1">
            <a:extLst xmlns:a="http://schemas.openxmlformats.org/drawingml/2006/main">
              <a:ext uri="{FF2B5EF4-FFF2-40B4-BE49-F238E27FC236}">
                <a16:creationId xmlns:a16="http://schemas.microsoft.com/office/drawing/2014/main" id="{CA415B0A-3203-4C61-931A-E24BAAB6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B8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B8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method-title-1">
            <a:extLst xmlns:a="http://schemas.openxmlformats.org/drawingml/2006/main">
              <a:ext uri="{FF2B5EF4-FFF2-40B4-BE49-F238E27FC236}">
                <a16:creationId xmlns:a16="http://schemas.microsoft.com/office/drawing/2014/main" id="{827BD9D1-9235-42DB-9DA7-4281E7C5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623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Revisar</a:t>
            </a:r>
          </a:p>
        </p:txBody>
      </p:sp>
      <p:sp>
        <p:nvSpPr>
          <p:cNvPr id="15" name="method-body-1">
            <a:extLst xmlns:a="http://schemas.openxmlformats.org/drawingml/2006/main">
              <a:ext uri="{FF2B5EF4-FFF2-40B4-BE49-F238E27FC236}">
                <a16:creationId xmlns:a16="http://schemas.microsoft.com/office/drawing/2014/main" id="{2D2F7ACE-0756-4CBB-B30C-2FFF6A01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5760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75569"/>
                </a:solidFill>
                <a:latin typeface="Arial"/>
                <a:ea typeface="Arial"/>
                <a:cs typeface="Arial"/>
              </a:rPr>
              <a:t>Tipos y distribución</a:t>
            </a:r>
          </a:p>
        </p:txBody>
      </p:sp>
      <p:sp>
        <p:nvSpPr>
          <p:cNvPr id="16" name="method-step-2">
            <a:extLst xmlns:a="http://schemas.openxmlformats.org/drawingml/2006/main">
              <a:ext uri="{FF2B5EF4-FFF2-40B4-BE49-F238E27FC236}">
                <a16:creationId xmlns:a16="http://schemas.microsoft.com/office/drawing/2014/main" id="{FA292E6B-1DBF-4336-A476-84DA4277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09850"/>
            <a:ext cx="1581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method-num-2">
            <a:extLst xmlns:a="http://schemas.openxmlformats.org/drawingml/2006/main">
              <a:ext uri="{FF2B5EF4-FFF2-40B4-BE49-F238E27FC236}">
                <a16:creationId xmlns:a16="http://schemas.microsoft.com/office/drawing/2014/main" id="{D7ECA46B-A126-4A56-B653-245A7065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method-title-2">
            <a:extLst xmlns:a="http://schemas.openxmlformats.org/drawingml/2006/main">
              <a:ext uri="{FF2B5EF4-FFF2-40B4-BE49-F238E27FC236}">
                <a16:creationId xmlns:a16="http://schemas.microsoft.com/office/drawing/2014/main" id="{17010C3A-A79B-492D-8ED4-85F148D1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623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Preparar</a:t>
            </a:r>
          </a:p>
        </p:txBody>
      </p:sp>
      <p:sp>
        <p:nvSpPr>
          <p:cNvPr id="19" name="method-body-2">
            <a:extLst xmlns:a="http://schemas.openxmlformats.org/drawingml/2006/main">
              <a:ext uri="{FF2B5EF4-FFF2-40B4-BE49-F238E27FC236}">
                <a16:creationId xmlns:a16="http://schemas.microsoft.com/office/drawing/2014/main" id="{864C7E7E-FC85-4568-AC30-4B4A0061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5760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75569"/>
                </a:solidFill>
                <a:latin typeface="Arial"/>
                <a:ea typeface="Arial"/>
                <a:cs typeface="Arial"/>
              </a:rPr>
              <a:t>Label y calidad</a:t>
            </a:r>
          </a:p>
        </p:txBody>
      </p:sp>
      <p:sp>
        <p:nvSpPr>
          <p:cNvPr id="20" name="method-step-3">
            <a:extLst xmlns:a="http://schemas.openxmlformats.org/drawingml/2006/main">
              <a:ext uri="{FF2B5EF4-FFF2-40B4-BE49-F238E27FC236}">
                <a16:creationId xmlns:a16="http://schemas.microsoft.com/office/drawing/2014/main" id="{0D60C757-9C46-4038-958B-36AF8905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9850"/>
            <a:ext cx="1581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method-num-3">
            <a:extLst xmlns:a="http://schemas.openxmlformats.org/drawingml/2006/main">
              <a:ext uri="{FF2B5EF4-FFF2-40B4-BE49-F238E27FC236}">
                <a16:creationId xmlns:a16="http://schemas.microsoft.com/office/drawing/2014/main" id="{266BD0B8-DBDC-425E-9206-795AA3EB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03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86A3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method-title-3">
            <a:extLst xmlns:a="http://schemas.openxmlformats.org/drawingml/2006/main">
              <a:ext uri="{FF2B5EF4-FFF2-40B4-BE49-F238E27FC236}">
                <a16:creationId xmlns:a16="http://schemas.microsoft.com/office/drawing/2014/main" id="{082A0825-4093-4664-AD55-770E7ED1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Entrenar</a:t>
            </a:r>
          </a:p>
        </p:txBody>
      </p:sp>
      <p:sp>
        <p:nvSpPr>
          <p:cNvPr id="23" name="method-body-3">
            <a:extLst xmlns:a="http://schemas.openxmlformats.org/drawingml/2006/main">
              <a:ext uri="{FF2B5EF4-FFF2-40B4-BE49-F238E27FC236}">
                <a16:creationId xmlns:a16="http://schemas.microsoft.com/office/drawing/2014/main" id="{D366AA6D-BD71-4060-9CF4-3508DB04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5760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75569"/>
                </a:solidFill>
                <a:latin typeface="Arial"/>
                <a:ea typeface="Arial"/>
                <a:cs typeface="Arial"/>
              </a:rPr>
              <a:t>Cuatro modelos</a:t>
            </a:r>
          </a:p>
        </p:txBody>
      </p:sp>
      <p:sp>
        <p:nvSpPr>
          <p:cNvPr id="24" name="method-step-4">
            <a:extLst xmlns:a="http://schemas.openxmlformats.org/drawingml/2006/main">
              <a:ext uri="{FF2B5EF4-FFF2-40B4-BE49-F238E27FC236}">
                <a16:creationId xmlns:a16="http://schemas.microsoft.com/office/drawing/2014/main" id="{4C4ACF38-159C-4E61-B442-195B8F64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09850"/>
            <a:ext cx="1581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method-num-4">
            <a:extLst xmlns:a="http://schemas.openxmlformats.org/drawingml/2006/main">
              <a:ext uri="{FF2B5EF4-FFF2-40B4-BE49-F238E27FC236}">
                <a16:creationId xmlns:a16="http://schemas.microsoft.com/office/drawing/2014/main" id="{52A2A37B-5284-417A-8A78-AEC5E90C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003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method-title-4">
            <a:extLst xmlns:a="http://schemas.openxmlformats.org/drawingml/2006/main">
              <a:ext uri="{FF2B5EF4-FFF2-40B4-BE49-F238E27FC236}">
                <a16:creationId xmlns:a16="http://schemas.microsoft.com/office/drawing/2014/main" id="{0DC5DCC0-1564-47EC-85B3-0F276FC6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623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Evaluar</a:t>
            </a:r>
          </a:p>
        </p:txBody>
      </p:sp>
      <p:sp>
        <p:nvSpPr>
          <p:cNvPr id="27" name="method-body-4">
            <a:extLst xmlns:a="http://schemas.openxmlformats.org/drawingml/2006/main">
              <a:ext uri="{FF2B5EF4-FFF2-40B4-BE49-F238E27FC236}">
                <a16:creationId xmlns:a16="http://schemas.microsoft.com/office/drawing/2014/main" id="{E9D2D488-1102-4D9C-ACE7-61FC003D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5760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75569"/>
                </a:solidFill>
                <a:latin typeface="Arial"/>
                <a:ea typeface="Arial"/>
                <a:cs typeface="Arial"/>
              </a:rPr>
              <a:t>Métricas y decisión</a:t>
            </a:r>
          </a:p>
        </p:txBody>
      </p:sp>
      <p:sp>
        <p:nvSpPr>
          <p:cNvPr id="28" name="method-validation">
            <a:extLst xmlns:a="http://schemas.openxmlformats.org/drawingml/2006/main">
              <a:ext uri="{FF2B5EF4-FFF2-40B4-BE49-F238E27FC236}">
                <a16:creationId xmlns:a16="http://schemas.microsoft.com/office/drawing/2014/main" id="{787D2002-D72D-4C4D-8B52-7DB2ED6B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0"/>
          </a:solidFill>
          <a:ln xmlns:a="http://schemas.openxmlformats.org/drawingml/2006/main" w="9525">
            <a:solidFill>
              <a:srgbClr val="F2C5B5"/>
            </a:solidFill>
            <a:prstDash val="solid"/>
          </a:ln>
        </p:spPr>
      </p:sp>
      <p:sp>
        <p:nvSpPr>
          <p:cNvPr id="29" name="method-validation-kicker">
            <a:extLst xmlns:a="http://schemas.openxmlformats.org/drawingml/2006/main">
              <a:ext uri="{FF2B5EF4-FFF2-40B4-BE49-F238E27FC236}">
                <a16:creationId xmlns:a16="http://schemas.microsoft.com/office/drawing/2014/main" id="{0A0211E9-C3DB-4A40-85C0-83C90D29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6A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86A33"/>
                </a:solidFill>
                <a:latin typeface="Arial"/>
                <a:ea typeface="Arial"/>
                <a:cs typeface="Arial"/>
              </a:rPr>
              <a:t>CONTROL DE LA COMPARACIÓN</a:t>
            </a:r>
          </a:p>
        </p:txBody>
      </p:sp>
      <p:sp>
        <p:nvSpPr>
          <p:cNvPr id="30" name="method-validation-body">
            <a:extLst xmlns:a="http://schemas.openxmlformats.org/drawingml/2006/main">
              <a:ext uri="{FF2B5EF4-FFF2-40B4-BE49-F238E27FC236}">
                <a16:creationId xmlns:a16="http://schemas.microsoft.com/office/drawing/2014/main" id="{35240EC3-CA13-4868-8798-51D0F233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Validación cruzada estratificada, preferentemente con 10 folds, para evitar depender de una única división de datos.</a:t>
            </a:r>
          </a:p>
        </p:txBody>
      </p:sp>
      <p:sp>
        <p:nvSpPr>
          <p:cNvPr id="31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0431D886-015F-40BE-919A-53F5CB1B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D785F12C-D1B1-4743-8DA3-3C95F7F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Proyecto Integrador · TAD</a:t>
            </a:r>
          </a:p>
        </p:txBody>
      </p:sp>
      <p:sp>
        <p:nvSpPr>
          <p:cNvPr id="3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4B7449A7-AA6C-4F1B-912B-C5400C62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102852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39AF6355-0B66-46C8-A9B3-0292FE3A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86A33"/>
                </a:solidFill>
                <a:latin typeface="Arial"/>
                <a:ea typeface="Arial"/>
                <a:cs typeface="Arial"/>
              </a:rPr>
              <a:t>05 · MODELOS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6E2EC9-F48D-427A-9779-63AA64B4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 compararán modelos con supuestos distintos</a:t>
            </a:r>
          </a:p>
        </p:txBody>
      </p:sp>
      <p:sp>
        <p:nvSpPr>
          <p:cNvPr id="3" name="models-intro">
            <a:extLst xmlns:a="http://schemas.openxmlformats.org/drawingml/2006/main">
              <a:ext uri="{FF2B5EF4-FFF2-40B4-BE49-F238E27FC236}">
                <a16:creationId xmlns:a16="http://schemas.microsoft.com/office/drawing/2014/main" id="{E42DD2F0-3C7F-4167-AFD6-F7FE0ABA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475569"/>
                </a:solidFill>
                <a:latin typeface="Arial"/>
                <a:ea typeface="Arial"/>
                <a:cs typeface="Arial"/>
              </a:rPr>
              <a:t>El objetivo no es encontrar un algoritmo universal, sino observar cuál responde mejor a este problema y a sus costos de error.</a:t>
            </a:r>
          </a:p>
        </p:txBody>
      </p:sp>
      <p:sp>
        <p:nvSpPr>
          <p:cNvPr id="4" name="alg-dot-1">
            <a:extLst xmlns:a="http://schemas.openxmlformats.org/drawingml/2006/main">
              <a:ext uri="{FF2B5EF4-FFF2-40B4-BE49-F238E27FC236}">
                <a16:creationId xmlns:a16="http://schemas.microsoft.com/office/drawing/2014/main" id="{BCD5EEDA-0AF4-4F44-A8DC-F2A349C4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47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C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lg-index-1">
            <a:extLst xmlns:a="http://schemas.openxmlformats.org/drawingml/2006/main">
              <a:ext uri="{FF2B5EF4-FFF2-40B4-BE49-F238E27FC236}">
                <a16:creationId xmlns:a16="http://schemas.microsoft.com/office/drawing/2014/main" id="{5CB01DA6-70ED-4EF0-99FE-C5D07688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69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alg-name-1">
            <a:extLst xmlns:a="http://schemas.openxmlformats.org/drawingml/2006/main">
              <a:ext uri="{FF2B5EF4-FFF2-40B4-BE49-F238E27FC236}">
                <a16:creationId xmlns:a16="http://schemas.microsoft.com/office/drawing/2014/main" id="{5CEE44CE-4DAB-416D-AF33-405A3AB2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Árbol de decisión</a:t>
            </a:r>
          </a:p>
        </p:txBody>
      </p:sp>
      <p:sp>
        <p:nvSpPr>
          <p:cNvPr id="7" name="alg-detail-1">
            <a:extLst xmlns:a="http://schemas.openxmlformats.org/drawingml/2006/main">
              <a:ext uri="{FF2B5EF4-FFF2-40B4-BE49-F238E27FC236}">
                <a16:creationId xmlns:a16="http://schemas.microsoft.com/office/drawing/2014/main" id="{56DF20A8-07D7-468C-ABCF-8BBBAC28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75569"/>
                </a:solidFill>
                <a:latin typeface="Arial"/>
                <a:ea typeface="Arial"/>
                <a:cs typeface="Arial"/>
              </a:rPr>
              <a:t>Reglas interpretables para explicar la clasificación.</a:t>
            </a:r>
          </a:p>
        </p:txBody>
      </p:sp>
      <p:sp>
        <p:nvSpPr>
          <p:cNvPr id="8" name="alg-rule-1">
            <a:extLst xmlns:a="http://schemas.openxmlformats.org/drawingml/2006/main">
              <a:ext uri="{FF2B5EF4-FFF2-40B4-BE49-F238E27FC236}">
                <a16:creationId xmlns:a16="http://schemas.microsoft.com/office/drawing/2014/main" id="{5A9ABD0A-B3F5-4BB7-8CAC-4991A030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lg-dot-2">
            <a:extLst xmlns:a="http://schemas.openxmlformats.org/drawingml/2006/main">
              <a:ext uri="{FF2B5EF4-FFF2-40B4-BE49-F238E27FC236}">
                <a16:creationId xmlns:a16="http://schemas.microsoft.com/office/drawing/2014/main" id="{C4EB35CC-A5A8-4537-8AD6-750B4CE5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85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B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lg-index-2">
            <a:extLst xmlns:a="http://schemas.openxmlformats.org/drawingml/2006/main">
              <a:ext uri="{FF2B5EF4-FFF2-40B4-BE49-F238E27FC236}">
                <a16:creationId xmlns:a16="http://schemas.microsoft.com/office/drawing/2014/main" id="{63181437-7547-4647-8A0E-EE9E4B31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575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alg-name-2">
            <a:extLst xmlns:a="http://schemas.openxmlformats.org/drawingml/2006/main">
              <a:ext uri="{FF2B5EF4-FFF2-40B4-BE49-F238E27FC236}">
                <a16:creationId xmlns:a16="http://schemas.microsoft.com/office/drawing/2014/main" id="{E83B4ADC-FFF4-492A-9886-C4BBDFE7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Naive Bayes</a:t>
            </a:r>
          </a:p>
        </p:txBody>
      </p:sp>
      <p:sp>
        <p:nvSpPr>
          <p:cNvPr id="12" name="alg-detail-2">
            <a:extLst xmlns:a="http://schemas.openxmlformats.org/drawingml/2006/main">
              <a:ext uri="{FF2B5EF4-FFF2-40B4-BE49-F238E27FC236}">
                <a16:creationId xmlns:a16="http://schemas.microsoft.com/office/drawing/2014/main" id="{94225DB3-FADA-4292-ACF3-E1967F73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75569"/>
                </a:solidFill>
                <a:latin typeface="Arial"/>
                <a:ea typeface="Arial"/>
                <a:cs typeface="Arial"/>
              </a:rPr>
              <a:t>Modelo probabilístico, simple y rápido de entrenar.</a:t>
            </a:r>
          </a:p>
        </p:txBody>
      </p:sp>
      <p:sp>
        <p:nvSpPr>
          <p:cNvPr id="13" name="alg-rule-2">
            <a:extLst xmlns:a="http://schemas.openxmlformats.org/drawingml/2006/main">
              <a:ext uri="{FF2B5EF4-FFF2-40B4-BE49-F238E27FC236}">
                <a16:creationId xmlns:a16="http://schemas.microsoft.com/office/drawing/2014/main" id="{BC42F19D-A22E-4798-8303-94CE8250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lg-dot-3">
            <a:extLst xmlns:a="http://schemas.openxmlformats.org/drawingml/2006/main">
              <a:ext uri="{FF2B5EF4-FFF2-40B4-BE49-F238E27FC236}">
                <a16:creationId xmlns:a16="http://schemas.microsoft.com/office/drawing/2014/main" id="{1670ED7C-F792-4C62-999A-87C0D7DD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291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lg-index-3">
            <a:extLst xmlns:a="http://schemas.openxmlformats.org/drawingml/2006/main">
              <a:ext uri="{FF2B5EF4-FFF2-40B4-BE49-F238E27FC236}">
                <a16:creationId xmlns:a16="http://schemas.microsoft.com/office/drawing/2014/main" id="{C30DEEFE-254C-4A5B-B0C6-D20EA2C6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481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alg-name-3">
            <a:extLst xmlns:a="http://schemas.openxmlformats.org/drawingml/2006/main">
              <a:ext uri="{FF2B5EF4-FFF2-40B4-BE49-F238E27FC236}">
                <a16:creationId xmlns:a16="http://schemas.microsoft.com/office/drawing/2014/main" id="{99FC53E8-77BD-4E0A-A970-DEFCE9C4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k-NN</a:t>
            </a:r>
          </a:p>
        </p:txBody>
      </p:sp>
      <p:sp>
        <p:nvSpPr>
          <p:cNvPr id="17" name="alg-detail-3">
            <a:extLst xmlns:a="http://schemas.openxmlformats.org/drawingml/2006/main">
              <a:ext uri="{FF2B5EF4-FFF2-40B4-BE49-F238E27FC236}">
                <a16:creationId xmlns:a16="http://schemas.microsoft.com/office/drawing/2014/main" id="{6603E95C-444E-4421-A3E5-709CAEC6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75569"/>
                </a:solidFill>
                <a:latin typeface="Arial"/>
                <a:ea typeface="Arial"/>
                <a:cs typeface="Arial"/>
              </a:rPr>
              <a:t>Clasifica por similitud entre observaciones.</a:t>
            </a:r>
          </a:p>
        </p:txBody>
      </p:sp>
      <p:sp>
        <p:nvSpPr>
          <p:cNvPr id="18" name="alg-rule-3">
            <a:extLst xmlns:a="http://schemas.openxmlformats.org/drawingml/2006/main">
              <a:ext uri="{FF2B5EF4-FFF2-40B4-BE49-F238E27FC236}">
                <a16:creationId xmlns:a16="http://schemas.microsoft.com/office/drawing/2014/main" id="{6B3286B0-944B-4124-9CD1-99F05464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lg-dot-4">
            <a:extLst xmlns:a="http://schemas.openxmlformats.org/drawingml/2006/main">
              <a:ext uri="{FF2B5EF4-FFF2-40B4-BE49-F238E27FC236}">
                <a16:creationId xmlns:a16="http://schemas.microsoft.com/office/drawing/2014/main" id="{EEDE9C74-9075-453A-A30C-A86670B6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9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lg-index-4">
            <a:extLst xmlns:a="http://schemas.openxmlformats.org/drawingml/2006/main">
              <a:ext uri="{FF2B5EF4-FFF2-40B4-BE49-F238E27FC236}">
                <a16:creationId xmlns:a16="http://schemas.microsoft.com/office/drawing/2014/main" id="{65B1F82B-FB01-4800-A3AF-6B74FC34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387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alg-name-4">
            <a:extLst xmlns:a="http://schemas.openxmlformats.org/drawingml/2006/main">
              <a:ext uri="{FF2B5EF4-FFF2-40B4-BE49-F238E27FC236}">
                <a16:creationId xmlns:a16="http://schemas.microsoft.com/office/drawing/2014/main" id="{A0D10C85-5982-4144-BE37-95B5A18C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721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Regresión logística</a:t>
            </a:r>
          </a:p>
        </p:txBody>
      </p:sp>
      <p:sp>
        <p:nvSpPr>
          <p:cNvPr id="22" name="alg-detail-4">
            <a:extLst xmlns:a="http://schemas.openxmlformats.org/drawingml/2006/main">
              <a:ext uri="{FF2B5EF4-FFF2-40B4-BE49-F238E27FC236}">
                <a16:creationId xmlns:a16="http://schemas.microsoft.com/office/drawing/2014/main" id="{7B47595E-A978-4935-A7ED-6495EDD2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95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75569"/>
                </a:solidFill>
                <a:latin typeface="Arial"/>
                <a:ea typeface="Arial"/>
                <a:cs typeface="Arial"/>
              </a:rPr>
              <a:t>Estima la probabilidad de pertenecer a cada clase.</a:t>
            </a:r>
          </a:p>
        </p:txBody>
      </p:sp>
      <p:sp>
        <p:nvSpPr>
          <p:cNvPr id="23" name="alg-rule-4">
            <a:extLst xmlns:a="http://schemas.openxmlformats.org/drawingml/2006/main">
              <a:ext uri="{FF2B5EF4-FFF2-40B4-BE49-F238E27FC236}">
                <a16:creationId xmlns:a16="http://schemas.microsoft.com/office/drawing/2014/main" id="{F834D0F8-C36D-476F-9E71-01EA7CF1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odels-side">
            <a:extLst xmlns:a="http://schemas.openxmlformats.org/drawingml/2006/main">
              <a:ext uri="{FF2B5EF4-FFF2-40B4-BE49-F238E27FC236}">
                <a16:creationId xmlns:a16="http://schemas.microsoft.com/office/drawing/2014/main" id="{7C7E9C04-BF76-41AA-8DC1-39CC31A9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52650"/>
            <a:ext cx="50292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odels-side-kicker">
            <a:extLst xmlns:a="http://schemas.openxmlformats.org/drawingml/2006/main">
              <a:ext uri="{FF2B5EF4-FFF2-40B4-BE49-F238E27FC236}">
                <a16:creationId xmlns:a16="http://schemas.microsoft.com/office/drawing/2014/main" id="{FB140211-3516-4155-99EB-0779091E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3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MISMA PREGUNTA, CUATRO LENTES</a:t>
            </a:r>
          </a:p>
        </p:txBody>
      </p:sp>
      <p:sp>
        <p:nvSpPr>
          <p:cNvPr id="26" name="models-side-title">
            <a:extLst xmlns:a="http://schemas.openxmlformats.org/drawingml/2006/main">
              <a:ext uri="{FF2B5EF4-FFF2-40B4-BE49-F238E27FC236}">
                <a16:creationId xmlns:a16="http://schemas.microsoft.com/office/drawing/2014/main" id="{DE4AE446-295E-4484-9F03-5DDC5D01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0515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¿Qué patrones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señalan un turno peligroso?</a:t>
            </a:r>
          </a:p>
        </p:txBody>
      </p:sp>
      <p:sp>
        <p:nvSpPr>
          <p:cNvPr id="27" name="models-side-rule">
            <a:extLst xmlns:a="http://schemas.openxmlformats.org/drawingml/2006/main">
              <a:ext uri="{FF2B5EF4-FFF2-40B4-BE49-F238E27FC236}">
                <a16:creationId xmlns:a16="http://schemas.microsoft.com/office/drawing/2014/main" id="{351A32CF-B6C7-4BA8-89CE-4E265EAD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0530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odels-side-body">
            <a:extLst xmlns:a="http://schemas.openxmlformats.org/drawingml/2006/main">
              <a:ext uri="{FF2B5EF4-FFF2-40B4-BE49-F238E27FC236}">
                <a16:creationId xmlns:a16="http://schemas.microsoft.com/office/drawing/2014/main" id="{A71ADF95-18FB-4C40-A17F-08EECBFA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863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D7E0EC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7E0EC"/>
                </a:solidFill>
                <a:latin typeface="Arial"/>
                <a:ea typeface="Arial"/>
                <a:cs typeface="Arial"/>
              </a:rPr>
              <a:t>La elección final debe apoyarse en resultados comparables, no en la intuición.</a:t>
            </a:r>
          </a:p>
        </p:txBody>
      </p:sp>
      <p:sp>
        <p:nvSpPr>
          <p:cNvPr id="29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4F1960A2-E8C2-4F2D-A2EC-BC6A79F8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ooter-left-6">
            <a:extLst xmlns:a="http://schemas.openxmlformats.org/drawingml/2006/main">
              <a:ext uri="{FF2B5EF4-FFF2-40B4-BE49-F238E27FC236}">
                <a16:creationId xmlns:a16="http://schemas.microsoft.com/office/drawing/2014/main" id="{0AF22617-7CE5-4561-BA3C-C322BC38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Proyecto Integrador · TAD</a:t>
            </a:r>
          </a:p>
        </p:txBody>
      </p:sp>
      <p:sp>
        <p:nvSpPr>
          <p:cNvPr id="31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37571092-1379-4A8F-AEAE-7B4073FC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589260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kicker">
            <a:extLst xmlns:a="http://schemas.openxmlformats.org/drawingml/2006/main">
              <a:ext uri="{FF2B5EF4-FFF2-40B4-BE49-F238E27FC236}">
                <a16:creationId xmlns:a16="http://schemas.microsoft.com/office/drawing/2014/main" id="{BE775867-5EFE-44D9-A258-3B614972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86A33"/>
                </a:solidFill>
                <a:latin typeface="Arial"/>
                <a:ea typeface="Arial"/>
                <a:cs typeface="Arial"/>
              </a:rPr>
              <a:t>06 · EVALUACIÓN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56A5014-A19A-4A00-AB29-26FB6684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 métrica principal será el recall de la clase peligrosa</a:t>
            </a:r>
          </a:p>
        </p:txBody>
      </p:sp>
      <p:sp>
        <p:nvSpPr>
          <p:cNvPr id="3" name="eval-intro">
            <a:extLst xmlns:a="http://schemas.openxmlformats.org/drawingml/2006/main">
              <a:ext uri="{FF2B5EF4-FFF2-40B4-BE49-F238E27FC236}">
                <a16:creationId xmlns:a16="http://schemas.microsoft.com/office/drawing/2014/main" id="{52BD4E5E-2CEA-40BF-B4CB-0165A403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475569"/>
                </a:solidFill>
                <a:latin typeface="Arial"/>
                <a:ea typeface="Arial"/>
                <a:cs typeface="Arial"/>
              </a:rPr>
              <a:t>En un contexto de riesgo, no detectar un evento peligroso puede ser más grave que generar una alerta adicional.</a:t>
            </a:r>
          </a:p>
        </p:txBody>
      </p:sp>
      <p:sp>
        <p:nvSpPr>
          <p:cNvPr id="4" name="cm-y">
            <a:extLst xmlns:a="http://schemas.openxmlformats.org/drawingml/2006/main">
              <a:ext uri="{FF2B5EF4-FFF2-40B4-BE49-F238E27FC236}">
                <a16:creationId xmlns:a16="http://schemas.microsoft.com/office/drawing/2014/main" id="{CDFFC329-09F2-4D4F-995E-435BE6F9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5" name="cm-x">
            <a:extLst xmlns:a="http://schemas.openxmlformats.org/drawingml/2006/main">
              <a:ext uri="{FF2B5EF4-FFF2-40B4-BE49-F238E27FC236}">
                <a16:creationId xmlns:a16="http://schemas.microsoft.com/office/drawing/2014/main" id="{2601CBD1-FD35-4199-985D-A672565E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95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PREDICCIÓN</a:t>
            </a:r>
          </a:p>
        </p:txBody>
      </p:sp>
      <p:sp>
        <p:nvSpPr>
          <p:cNvPr id="6" name="cm-no">
            <a:extLst xmlns:a="http://schemas.openxmlformats.org/drawingml/2006/main">
              <a:ext uri="{FF2B5EF4-FFF2-40B4-BE49-F238E27FC236}">
                <a16:creationId xmlns:a16="http://schemas.microsoft.com/office/drawing/2014/main" id="{0650D5D4-698D-4FB5-A0FB-C6918AB0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00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6CB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6CB6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cm-yes">
            <a:extLst xmlns:a="http://schemas.openxmlformats.org/drawingml/2006/main">
              <a:ext uri="{FF2B5EF4-FFF2-40B4-BE49-F238E27FC236}">
                <a16:creationId xmlns:a16="http://schemas.microsoft.com/office/drawing/2014/main" id="{64D04463-4C3C-4098-B4B8-7D679188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0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86A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6A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cm-real0">
            <a:extLst xmlns:a="http://schemas.openxmlformats.org/drawingml/2006/main">
              <a:ext uri="{FF2B5EF4-FFF2-40B4-BE49-F238E27FC236}">
                <a16:creationId xmlns:a16="http://schemas.microsoft.com/office/drawing/2014/main" id="{83157F3C-04CA-485B-BA9E-F9E5F7B9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6CB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6CB6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cm-real1">
            <a:extLst xmlns:a="http://schemas.openxmlformats.org/drawingml/2006/main">
              <a:ext uri="{FF2B5EF4-FFF2-40B4-BE49-F238E27FC236}">
                <a16:creationId xmlns:a16="http://schemas.microsoft.com/office/drawing/2014/main" id="{89436659-D250-40EA-ACA0-8D551790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86A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6A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tn-box">
            <a:extLst xmlns:a="http://schemas.openxmlformats.org/drawingml/2006/main">
              <a:ext uri="{FF2B5EF4-FFF2-40B4-BE49-F238E27FC236}">
                <a16:creationId xmlns:a16="http://schemas.microsoft.com/office/drawing/2014/main" id="{FCAD76DD-B072-4A34-9D03-15A48A05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43200"/>
            <a:ext cx="1381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tn-label">
            <a:extLst xmlns:a="http://schemas.openxmlformats.org/drawingml/2006/main">
              <a:ext uri="{FF2B5EF4-FFF2-40B4-BE49-F238E27FC236}">
                <a16:creationId xmlns:a16="http://schemas.microsoft.com/office/drawing/2014/main" id="{985DB6BA-1860-4FE1-9502-34467E96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76550"/>
            <a:ext cx="1152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Verdadero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negativo</a:t>
            </a:r>
          </a:p>
        </p:txBody>
      </p:sp>
      <p:sp>
        <p:nvSpPr>
          <p:cNvPr id="12" name="tn-value">
            <a:extLst xmlns:a="http://schemas.openxmlformats.org/drawingml/2006/main">
              <a:ext uri="{FF2B5EF4-FFF2-40B4-BE49-F238E27FC236}">
                <a16:creationId xmlns:a16="http://schemas.microsoft.com/office/drawing/2014/main" id="{4D7AA391-9CBF-4344-AB1A-B0842EFF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827"/>
                </a:solidFill>
                <a:latin typeface="Arial"/>
                <a:ea typeface="Arial"/>
                <a:cs typeface="Arial"/>
              </a:rPr>
              <a:t>acierto en 0</a:t>
            </a:r>
          </a:p>
        </p:txBody>
      </p:sp>
      <p:sp>
        <p:nvSpPr>
          <p:cNvPr id="13" name="fp-box">
            <a:extLst xmlns:a="http://schemas.openxmlformats.org/drawingml/2006/main">
              <a:ext uri="{FF2B5EF4-FFF2-40B4-BE49-F238E27FC236}">
                <a16:creationId xmlns:a16="http://schemas.microsoft.com/office/drawing/2014/main" id="{721F28A0-21AF-4307-83BC-9BF13A72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743200"/>
            <a:ext cx="1381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fp-label">
            <a:extLst xmlns:a="http://schemas.openxmlformats.org/drawingml/2006/main">
              <a:ext uri="{FF2B5EF4-FFF2-40B4-BE49-F238E27FC236}">
                <a16:creationId xmlns:a16="http://schemas.microsoft.com/office/drawing/2014/main" id="{B99DA5FD-AEC8-4F15-8DB5-452F7498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76550"/>
            <a:ext cx="1152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Falso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positivo</a:t>
            </a:r>
          </a:p>
        </p:txBody>
      </p:sp>
      <p:sp>
        <p:nvSpPr>
          <p:cNvPr id="15" name="fp-value">
            <a:extLst xmlns:a="http://schemas.openxmlformats.org/drawingml/2006/main">
              <a:ext uri="{FF2B5EF4-FFF2-40B4-BE49-F238E27FC236}">
                <a16:creationId xmlns:a16="http://schemas.microsoft.com/office/drawing/2014/main" id="{A1CC4E4C-C168-4A7B-A2A3-AB94AC87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3850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827"/>
                </a:solidFill>
                <a:latin typeface="Arial"/>
                <a:ea typeface="Arial"/>
                <a:cs typeface="Arial"/>
              </a:rPr>
              <a:t>alerta extra</a:t>
            </a:r>
          </a:p>
        </p:txBody>
      </p:sp>
      <p:sp>
        <p:nvSpPr>
          <p:cNvPr id="16" name="fn-box">
            <a:extLst xmlns:a="http://schemas.openxmlformats.org/drawingml/2006/main">
              <a:ext uri="{FF2B5EF4-FFF2-40B4-BE49-F238E27FC236}">
                <a16:creationId xmlns:a16="http://schemas.microsoft.com/office/drawing/2014/main" id="{427A8A19-659A-4A3D-A935-A9EDCB8C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1381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D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fn-label">
            <a:extLst xmlns:a="http://schemas.openxmlformats.org/drawingml/2006/main">
              <a:ext uri="{FF2B5EF4-FFF2-40B4-BE49-F238E27FC236}">
                <a16:creationId xmlns:a16="http://schemas.microsoft.com/office/drawing/2014/main" id="{8A671712-9694-40BE-978C-A1902619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76675"/>
            <a:ext cx="1152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Falso</a:t>
            </a:r>
          </a:p>
          <a:p xmlns:a="http://schemas.openxmlformats.org/drawingml/2006/main">
            <a:pPr algn="ctr">
              <a:defRPr sz="120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negativo</a:t>
            </a:r>
          </a:p>
        </p:txBody>
      </p:sp>
      <p:sp>
        <p:nvSpPr>
          <p:cNvPr id="18" name="fn-value">
            <a:extLst xmlns:a="http://schemas.openxmlformats.org/drawingml/2006/main">
              <a:ext uri="{FF2B5EF4-FFF2-40B4-BE49-F238E27FC236}">
                <a16:creationId xmlns:a16="http://schemas.microsoft.com/office/drawing/2014/main" id="{07FA9B52-4BF6-44B0-8C14-9E5F14C4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3862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94A48"/>
                </a:solidFill>
                <a:latin typeface="Arial"/>
                <a:ea typeface="Arial"/>
                <a:cs typeface="Arial"/>
              </a:rPr>
              <a:t>riesgo no detectado</a:t>
            </a:r>
          </a:p>
        </p:txBody>
      </p:sp>
      <p:sp>
        <p:nvSpPr>
          <p:cNvPr id="19" name="tp-box">
            <a:extLst xmlns:a="http://schemas.openxmlformats.org/drawingml/2006/main">
              <a:ext uri="{FF2B5EF4-FFF2-40B4-BE49-F238E27FC236}">
                <a16:creationId xmlns:a16="http://schemas.microsoft.com/office/drawing/2014/main" id="{76C4EFEF-88D0-4E38-A24B-BE74C0D2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743325"/>
            <a:ext cx="1381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tp-label">
            <a:extLst xmlns:a="http://schemas.openxmlformats.org/drawingml/2006/main">
              <a:ext uri="{FF2B5EF4-FFF2-40B4-BE49-F238E27FC236}">
                <a16:creationId xmlns:a16="http://schemas.microsoft.com/office/drawing/2014/main" id="{24B5FAE6-6857-44D0-BE2B-7F7AF644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76675"/>
            <a:ext cx="1152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86A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6A33"/>
                </a:solidFill>
                <a:latin typeface="Arial"/>
                <a:ea typeface="Arial"/>
                <a:cs typeface="Arial"/>
              </a:rPr>
              <a:t>Verdadero</a:t>
            </a:r>
          </a:p>
          <a:p xmlns:a="http://schemas.openxmlformats.org/drawingml/2006/main">
            <a:pPr algn="ctr">
              <a:defRPr sz="1200" b="1">
                <a:solidFill>
                  <a:srgbClr val="E86A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6A33"/>
                </a:solidFill>
                <a:latin typeface="Arial"/>
                <a:ea typeface="Arial"/>
                <a:cs typeface="Arial"/>
              </a:rPr>
              <a:t>positivo</a:t>
            </a:r>
          </a:p>
        </p:txBody>
      </p:sp>
      <p:sp>
        <p:nvSpPr>
          <p:cNvPr id="21" name="tp-value">
            <a:extLst xmlns:a="http://schemas.openxmlformats.org/drawingml/2006/main">
              <a:ext uri="{FF2B5EF4-FFF2-40B4-BE49-F238E27FC236}">
                <a16:creationId xmlns:a16="http://schemas.microsoft.com/office/drawing/2014/main" id="{9CAFD611-B877-4F03-B343-259DC4CA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23862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E86A3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E86A33"/>
                </a:solidFill>
                <a:latin typeface="Arial"/>
                <a:ea typeface="Arial"/>
                <a:cs typeface="Arial"/>
              </a:rPr>
              <a:t>peligro detectado</a:t>
            </a:r>
          </a:p>
        </p:txBody>
      </p:sp>
      <p:sp>
        <p:nvSpPr>
          <p:cNvPr id="22" name="cm-caption">
            <a:extLst xmlns:a="http://schemas.openxmlformats.org/drawingml/2006/main">
              <a:ext uri="{FF2B5EF4-FFF2-40B4-BE49-F238E27FC236}">
                <a16:creationId xmlns:a16="http://schemas.microsoft.com/office/drawing/2014/main" id="{73DDD4BE-C106-4511-A4A4-77E66305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75569"/>
                </a:solidFill>
                <a:latin typeface="Arial"/>
                <a:ea typeface="Arial"/>
                <a:cs typeface="Arial"/>
              </a:rPr>
              <a:t>La matriz de confusión hace visibles los costos del error.</a:t>
            </a:r>
          </a:p>
        </p:txBody>
      </p:sp>
      <p:sp>
        <p:nvSpPr>
          <p:cNvPr id="23" name="metrics-panel">
            <a:extLst xmlns:a="http://schemas.openxmlformats.org/drawingml/2006/main">
              <a:ext uri="{FF2B5EF4-FFF2-40B4-BE49-F238E27FC236}">
                <a16:creationId xmlns:a16="http://schemas.microsoft.com/office/drawing/2014/main" id="{8DF9A8A0-DD49-4B02-9B1D-899AB57E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58864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metric-accent-0">
            <a:extLst xmlns:a="http://schemas.openxmlformats.org/drawingml/2006/main">
              <a:ext uri="{FF2B5EF4-FFF2-40B4-BE49-F238E27FC236}">
                <a16:creationId xmlns:a16="http://schemas.microsoft.com/office/drawing/2014/main" id="{EC3994D4-956E-4722-A471-EBE93A62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etric-name-0">
            <a:extLst xmlns:a="http://schemas.openxmlformats.org/drawingml/2006/main">
              <a:ext uri="{FF2B5EF4-FFF2-40B4-BE49-F238E27FC236}">
                <a16:creationId xmlns:a16="http://schemas.microsoft.com/office/drawing/2014/main" id="{E8D8388D-F752-450F-A545-5A79F45E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26" name="metric-detail-0">
            <a:extLst xmlns:a="http://schemas.openxmlformats.org/drawingml/2006/main">
              <a:ext uri="{FF2B5EF4-FFF2-40B4-BE49-F238E27FC236}">
                <a16:creationId xmlns:a16="http://schemas.microsoft.com/office/drawing/2014/main" id="{BA6923A5-73F8-4A7B-B09B-B8D53B4C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29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75569"/>
                </a:solidFill>
                <a:latin typeface="Arial"/>
                <a:ea typeface="Arial"/>
                <a:cs typeface="Arial"/>
              </a:rPr>
              <a:t>aciertos globales</a:t>
            </a:r>
          </a:p>
        </p:txBody>
      </p:sp>
      <p:sp>
        <p:nvSpPr>
          <p:cNvPr id="27" name="metric-accent-1">
            <a:extLst xmlns:a="http://schemas.openxmlformats.org/drawingml/2006/main">
              <a:ext uri="{FF2B5EF4-FFF2-40B4-BE49-F238E27FC236}">
                <a16:creationId xmlns:a16="http://schemas.microsoft.com/office/drawing/2014/main" id="{AB78ADA0-344A-4F3A-81C6-E73F6E99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B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etric-name-1">
            <a:extLst xmlns:a="http://schemas.openxmlformats.org/drawingml/2006/main">
              <a:ext uri="{FF2B5EF4-FFF2-40B4-BE49-F238E27FC236}">
                <a16:creationId xmlns:a16="http://schemas.microsoft.com/office/drawing/2014/main" id="{C2CB4390-3EBE-4DA2-A8CA-D3CDFBFB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337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29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0D3F8983-7C78-463F-9DA7-3A6FF55E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33700"/>
            <a:ext cx="329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75569"/>
                </a:solidFill>
                <a:latin typeface="Arial"/>
                <a:ea typeface="Arial"/>
                <a:cs typeface="Arial"/>
              </a:rPr>
              <a:t>qué tan confiables son las alertas</a:t>
            </a:r>
          </a:p>
        </p:txBody>
      </p:sp>
      <p:sp>
        <p:nvSpPr>
          <p:cNvPr id="30" name="metric-accent-2">
            <a:extLst xmlns:a="http://schemas.openxmlformats.org/drawingml/2006/main">
              <a:ext uri="{FF2B5EF4-FFF2-40B4-BE49-F238E27FC236}">
                <a16:creationId xmlns:a16="http://schemas.microsoft.com/office/drawing/2014/main" id="{FE42A60C-EA6A-479B-B321-02DF2AFB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etric-name-2">
            <a:extLst xmlns:a="http://schemas.openxmlformats.org/drawingml/2006/main">
              <a:ext uri="{FF2B5EF4-FFF2-40B4-BE49-F238E27FC236}">
                <a16:creationId xmlns:a16="http://schemas.microsoft.com/office/drawing/2014/main" id="{60B13A36-743E-4166-8AD1-278D8F9A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052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32" name="metric-detail-2">
            <a:extLst xmlns:a="http://schemas.openxmlformats.org/drawingml/2006/main">
              <a:ext uri="{FF2B5EF4-FFF2-40B4-BE49-F238E27FC236}">
                <a16:creationId xmlns:a16="http://schemas.microsoft.com/office/drawing/2014/main" id="{F836D5FD-A34A-48B3-BAEA-F09976B5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05200"/>
            <a:ext cx="329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75569"/>
                </a:solidFill>
                <a:latin typeface="Arial"/>
                <a:ea typeface="Arial"/>
                <a:cs typeface="Arial"/>
              </a:rPr>
              <a:t>cuántos peligros se detectan</a:t>
            </a:r>
          </a:p>
        </p:txBody>
      </p:sp>
      <p:sp>
        <p:nvSpPr>
          <p:cNvPr id="33" name="metric-accent-3">
            <a:extLst xmlns:a="http://schemas.openxmlformats.org/drawingml/2006/main">
              <a:ext uri="{FF2B5EF4-FFF2-40B4-BE49-F238E27FC236}">
                <a16:creationId xmlns:a16="http://schemas.microsoft.com/office/drawing/2014/main" id="{7CE1A161-7886-4A0F-9850-A29059BE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metric-name-3">
            <a:extLst xmlns:a="http://schemas.openxmlformats.org/drawingml/2006/main">
              <a:ext uri="{FF2B5EF4-FFF2-40B4-BE49-F238E27FC236}">
                <a16:creationId xmlns:a16="http://schemas.microsoft.com/office/drawing/2014/main" id="{AB71E334-102F-4649-811A-82122857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767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F1-score</a:t>
            </a:r>
          </a:p>
        </p:txBody>
      </p:sp>
      <p:sp>
        <p:nvSpPr>
          <p:cNvPr id="35" name="metric-detail-3">
            <a:extLst xmlns:a="http://schemas.openxmlformats.org/drawingml/2006/main">
              <a:ext uri="{FF2B5EF4-FFF2-40B4-BE49-F238E27FC236}">
                <a16:creationId xmlns:a16="http://schemas.microsoft.com/office/drawing/2014/main" id="{65B818B6-A106-4E03-93CD-6F1DBB2D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76700"/>
            <a:ext cx="329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75569"/>
                </a:solidFill>
                <a:latin typeface="Arial"/>
                <a:ea typeface="Arial"/>
                <a:cs typeface="Arial"/>
              </a:rPr>
              <a:t>equilibrio entre precision y recall</a:t>
            </a:r>
          </a:p>
        </p:txBody>
      </p:sp>
      <p:sp>
        <p:nvSpPr>
          <p:cNvPr id="36" name="metric-accent-4">
            <a:extLst xmlns:a="http://schemas.openxmlformats.org/drawingml/2006/main">
              <a:ext uri="{FF2B5EF4-FFF2-40B4-BE49-F238E27FC236}">
                <a16:creationId xmlns:a16="http://schemas.microsoft.com/office/drawing/2014/main" id="{A9C08C1C-3A87-4464-B675-B36A44CC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metric-name-4">
            <a:extLst xmlns:a="http://schemas.openxmlformats.org/drawingml/2006/main">
              <a:ext uri="{FF2B5EF4-FFF2-40B4-BE49-F238E27FC236}">
                <a16:creationId xmlns:a16="http://schemas.microsoft.com/office/drawing/2014/main" id="{92CB2CB4-7177-45C6-9866-4E2743E3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ROC / AUC</a:t>
            </a:r>
          </a:p>
        </p:txBody>
      </p:sp>
      <p:sp>
        <p:nvSpPr>
          <p:cNvPr id="38" name="metric-detail-4">
            <a:extLst xmlns:a="http://schemas.openxmlformats.org/drawingml/2006/main">
              <a:ext uri="{FF2B5EF4-FFF2-40B4-BE49-F238E27FC236}">
                <a16:creationId xmlns:a16="http://schemas.microsoft.com/office/drawing/2014/main" id="{2A34E1D4-632A-4649-B4E2-298D9729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48200"/>
            <a:ext cx="329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75569"/>
                </a:solidFill>
                <a:latin typeface="Arial"/>
                <a:ea typeface="Arial"/>
                <a:cs typeface="Arial"/>
              </a:rPr>
              <a:t>comparación global del rendimiento</a:t>
            </a:r>
          </a:p>
        </p:txBody>
      </p:sp>
      <p:sp>
        <p:nvSpPr>
          <p:cNvPr id="39" name="recall-callout">
            <a:extLst xmlns:a="http://schemas.openxmlformats.org/drawingml/2006/main">
              <a:ext uri="{FF2B5EF4-FFF2-40B4-BE49-F238E27FC236}">
                <a16:creationId xmlns:a16="http://schemas.microsoft.com/office/drawing/2014/main" id="{53EC8BDE-DC26-44E7-B70C-99FC8FB2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53100"/>
            <a:ext cx="588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ecall-callout-text">
            <a:extLst xmlns:a="http://schemas.openxmlformats.org/drawingml/2006/main">
              <a:ext uri="{FF2B5EF4-FFF2-40B4-BE49-F238E27FC236}">
                <a16:creationId xmlns:a16="http://schemas.microsoft.com/office/drawing/2014/main" id="{1923DC3B-4FE0-4670-8AE1-097131EE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197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Prioridad: minimizar falsos negativos en la clase 1.</a:t>
            </a:r>
          </a:p>
        </p:txBody>
      </p:sp>
      <p:sp>
        <p:nvSpPr>
          <p:cNvPr id="41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6E104FC5-A955-4682-BC22-A47F72FD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346E9B04-C2E5-4192-80DD-C2819722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Proyecto Integrador · TAD</a:t>
            </a:r>
          </a:p>
        </p:txBody>
      </p:sp>
      <p:sp>
        <p:nvSpPr>
          <p:cNvPr id="43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9D8B09BD-516B-4A13-8770-EEFAF49C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947551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D44B545-A4A0-4A24-A705-F683B6EF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86A33"/>
                </a:solidFill>
                <a:latin typeface="Arial"/>
                <a:ea typeface="Arial"/>
                <a:cs typeface="Arial"/>
              </a:rPr>
              <a:t>07 · CRITERIO DE SELECCIÓN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67D0316-F2D0-49A8-B469-C8B0FD63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 decisión final combinará sensibilidad y equilibrio</a:t>
            </a:r>
          </a:p>
        </p:txBody>
      </p:sp>
      <p:sp>
        <p:nvSpPr>
          <p:cNvPr id="3" name="selection-intro">
            <a:extLst xmlns:a="http://schemas.openxmlformats.org/drawingml/2006/main">
              <a:ext uri="{FF2B5EF4-FFF2-40B4-BE49-F238E27FC236}">
                <a16:creationId xmlns:a16="http://schemas.microsoft.com/office/drawing/2014/main" id="{5581C9BE-DC7B-4D95-AFBC-F8BBBBAF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475569"/>
                </a:solidFill>
                <a:latin typeface="Arial"/>
                <a:ea typeface="Arial"/>
                <a:cs typeface="Arial"/>
              </a:rPr>
              <a:t>El modelo elegido será el que ofrezca el mejor compromiso entre detectar riesgos y mantener alertas confiables.</a:t>
            </a:r>
          </a:p>
        </p:txBody>
      </p:sp>
      <p:sp>
        <p:nvSpPr>
          <p:cNvPr id="4" name="criterion-circle-0">
            <a:extLst xmlns:a="http://schemas.openxmlformats.org/drawingml/2006/main">
              <a:ext uri="{FF2B5EF4-FFF2-40B4-BE49-F238E27FC236}">
                <a16:creationId xmlns:a16="http://schemas.microsoft.com/office/drawing/2014/main" id="{DA3F9C5A-C341-4384-ACB2-1C8374D3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riterion-num-0">
            <a:extLst xmlns:a="http://schemas.openxmlformats.org/drawingml/2006/main">
              <a:ext uri="{FF2B5EF4-FFF2-40B4-BE49-F238E27FC236}">
                <a16:creationId xmlns:a16="http://schemas.microsoft.com/office/drawing/2014/main" id="{D062DB98-459D-4174-AE04-BD9F96A1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riterion-title-0">
            <a:extLst xmlns:a="http://schemas.openxmlformats.org/drawingml/2006/main">
              <a:ext uri="{FF2B5EF4-FFF2-40B4-BE49-F238E27FC236}">
                <a16:creationId xmlns:a16="http://schemas.microsoft.com/office/drawing/2014/main" id="{7857DF7F-41C5-43F7-A2BA-9B9BF844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76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Detectar</a:t>
            </a:r>
          </a:p>
        </p:txBody>
      </p:sp>
      <p:sp>
        <p:nvSpPr>
          <p:cNvPr id="7" name="criterion-body-0">
            <a:extLst xmlns:a="http://schemas.openxmlformats.org/drawingml/2006/main">
              <a:ext uri="{FF2B5EF4-FFF2-40B4-BE49-F238E27FC236}">
                <a16:creationId xmlns:a16="http://schemas.microsoft.com/office/drawing/2014/main" id="{8D9DE880-DBDF-43F4-A665-91FA0636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57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75569"/>
                </a:solidFill>
                <a:latin typeface="Arial"/>
                <a:ea typeface="Arial"/>
                <a:cs typeface="Arial"/>
              </a:rPr>
              <a:t>Priorizar el recall de la clase peligrosa.</a:t>
            </a:r>
          </a:p>
        </p:txBody>
      </p:sp>
      <p:sp>
        <p:nvSpPr>
          <p:cNvPr id="8" name="criterion-circle-1">
            <a:extLst xmlns:a="http://schemas.openxmlformats.org/drawingml/2006/main">
              <a:ext uri="{FF2B5EF4-FFF2-40B4-BE49-F238E27FC236}">
                <a16:creationId xmlns:a16="http://schemas.microsoft.com/office/drawing/2014/main" id="{A0F66DDF-2504-4C04-9CA1-18E3FA40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B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riterion-num-1">
            <a:extLst xmlns:a="http://schemas.openxmlformats.org/drawingml/2006/main">
              <a:ext uri="{FF2B5EF4-FFF2-40B4-BE49-F238E27FC236}">
                <a16:creationId xmlns:a16="http://schemas.microsoft.com/office/drawing/2014/main" id="{DEA9D830-6503-4208-B729-22E2D5E0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criterion-title-1">
            <a:extLst xmlns:a="http://schemas.openxmlformats.org/drawingml/2006/main">
              <a:ext uri="{FF2B5EF4-FFF2-40B4-BE49-F238E27FC236}">
                <a16:creationId xmlns:a16="http://schemas.microsoft.com/office/drawing/2014/main" id="{3E41D1D6-1A08-4D4F-B229-16BB2778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24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Equilibrar</a:t>
            </a:r>
          </a:p>
        </p:txBody>
      </p:sp>
      <p:sp>
        <p:nvSpPr>
          <p:cNvPr id="11" name="criterion-body-1">
            <a:extLst xmlns:a="http://schemas.openxmlformats.org/drawingml/2006/main">
              <a:ext uri="{FF2B5EF4-FFF2-40B4-BE49-F238E27FC236}">
                <a16:creationId xmlns:a16="http://schemas.microsoft.com/office/drawing/2014/main" id="{87DC56DE-3792-4B63-920A-3133A3C3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05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75569"/>
                </a:solidFill>
                <a:latin typeface="Arial"/>
                <a:ea typeface="Arial"/>
                <a:cs typeface="Arial"/>
              </a:rPr>
              <a:t>Leer precision y F1 junto con el recall.</a:t>
            </a:r>
          </a:p>
        </p:txBody>
      </p:sp>
      <p:sp>
        <p:nvSpPr>
          <p:cNvPr id="12" name="criterion-circle-2">
            <a:extLst xmlns:a="http://schemas.openxmlformats.org/drawingml/2006/main">
              <a:ext uri="{FF2B5EF4-FFF2-40B4-BE49-F238E27FC236}">
                <a16:creationId xmlns:a16="http://schemas.microsoft.com/office/drawing/2014/main" id="{7B643A26-8AFC-4B7D-AED2-5D46BDAF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C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riterion-num-2">
            <a:extLst xmlns:a="http://schemas.openxmlformats.org/drawingml/2006/main">
              <a:ext uri="{FF2B5EF4-FFF2-40B4-BE49-F238E27FC236}">
                <a16:creationId xmlns:a16="http://schemas.microsoft.com/office/drawing/2014/main" id="{E972E8AE-5C0E-4B8C-9BA1-9AEFAEE8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criterion-title-2">
            <a:extLst xmlns:a="http://schemas.openxmlformats.org/drawingml/2006/main">
              <a:ext uri="{FF2B5EF4-FFF2-40B4-BE49-F238E27FC236}">
                <a16:creationId xmlns:a16="http://schemas.microsoft.com/office/drawing/2014/main" id="{1D3D4225-9277-4AA0-B2D1-58E53CE5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Comprobar</a:t>
            </a:r>
          </a:p>
        </p:txBody>
      </p:sp>
      <p:sp>
        <p:nvSpPr>
          <p:cNvPr id="15" name="criterion-body-2">
            <a:extLst xmlns:a="http://schemas.openxmlformats.org/drawingml/2006/main">
              <a:ext uri="{FF2B5EF4-FFF2-40B4-BE49-F238E27FC236}">
                <a16:creationId xmlns:a16="http://schemas.microsoft.com/office/drawing/2014/main" id="{25DC2CC7-9B45-4042-9895-A10ACCF3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53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75569"/>
                </a:solidFill>
                <a:latin typeface="Arial"/>
                <a:ea typeface="Arial"/>
                <a:cs typeface="Arial"/>
              </a:rPr>
              <a:t>Comparar estabilidad con validación cruzada.</a:t>
            </a:r>
          </a:p>
        </p:txBody>
      </p:sp>
      <p:sp>
        <p:nvSpPr>
          <p:cNvPr id="16" name="outcome-panel">
            <a:extLst xmlns:a="http://schemas.openxmlformats.org/drawingml/2006/main">
              <a:ext uri="{FF2B5EF4-FFF2-40B4-BE49-F238E27FC236}">
                <a16:creationId xmlns:a16="http://schemas.microsoft.com/office/drawing/2014/main" id="{677C08D3-908D-4DB5-8A9A-2A4CB5A2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51244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utcome-kicker">
            <a:extLst xmlns:a="http://schemas.openxmlformats.org/drawingml/2006/main">
              <a:ext uri="{FF2B5EF4-FFF2-40B4-BE49-F238E27FC236}">
                <a16:creationId xmlns:a16="http://schemas.microsoft.com/office/drawing/2014/main" id="{889FFA4A-4467-4E45-A55B-A11E2453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384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RESULTADO ESPERADO</a:t>
            </a:r>
          </a:p>
        </p:txBody>
      </p:sp>
      <p:sp>
        <p:nvSpPr>
          <p:cNvPr id="18" name="outcome-title">
            <a:extLst xmlns:a="http://schemas.openxmlformats.org/drawingml/2006/main">
              <a:ext uri="{FF2B5EF4-FFF2-40B4-BE49-F238E27FC236}">
                <a16:creationId xmlns:a16="http://schemas.microsoft.com/office/drawing/2014/main" id="{1A110FB0-B076-47C7-B2C9-85779647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718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 modelo que ayude a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anticipar situaciones de riesgo</a:t>
            </a:r>
          </a:p>
        </p:txBody>
      </p:sp>
      <p:sp>
        <p:nvSpPr>
          <p:cNvPr id="19" name="outcome-rule">
            <a:extLst xmlns:a="http://schemas.openxmlformats.org/drawingml/2006/main">
              <a:ext uri="{FF2B5EF4-FFF2-40B4-BE49-F238E27FC236}">
                <a16:creationId xmlns:a16="http://schemas.microsoft.com/office/drawing/2014/main" id="{24BCA821-CCCD-4B4F-8D82-0E0A495D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16B9FF03-6227-4E64-9CE1-AE9FF88E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529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D7E0EC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7E0EC"/>
                </a:solidFill>
                <a:latin typeface="Arial"/>
                <a:ea typeface="Arial"/>
                <a:cs typeface="Arial"/>
              </a:rPr>
              <a:t>La salida debe servir para apoyar la supervisión, proteger a los trabajadores y sostener la continuidad operativa.</a:t>
            </a:r>
          </a:p>
        </p:txBody>
      </p:sp>
      <p:sp>
        <p:nvSpPr>
          <p:cNvPr id="21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979F18BE-B9F8-4AB6-9682-E7531156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left-8">
            <a:extLst xmlns:a="http://schemas.openxmlformats.org/drawingml/2006/main">
              <a:ext uri="{FF2B5EF4-FFF2-40B4-BE49-F238E27FC236}">
                <a16:creationId xmlns:a16="http://schemas.microsoft.com/office/drawing/2014/main" id="{6AD82A13-5D68-4A8B-BA55-8E90DB63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Proyecto Integrador · TAD</a:t>
            </a:r>
          </a:p>
        </p:txBody>
      </p:sp>
      <p:sp>
        <p:nvSpPr>
          <p:cNvPr id="23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3E158289-DD02-4C5C-AC5F-5EBFF6C2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391015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7CB483D3-0133-466C-BCCF-74F225EC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C4D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C4D5"/>
                </a:solidFill>
                <a:latin typeface="Arial"/>
                <a:ea typeface="Arial"/>
                <a:cs typeface="Arial"/>
              </a:rPr>
              <a:t>08 · CIERRE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5B49F5A-ECD0-451E-BE51-0CDD6A30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Del dato al riesgo accionable</a:t>
            </a:r>
          </a:p>
        </p:txBody>
      </p:sp>
      <p:sp>
        <p:nvSpPr>
          <p:cNvPr id="3" name="close-lead">
            <a:extLst xmlns:a="http://schemas.openxmlformats.org/drawingml/2006/main">
              <a:ext uri="{FF2B5EF4-FFF2-40B4-BE49-F238E27FC236}">
                <a16:creationId xmlns:a16="http://schemas.microsoft.com/office/drawing/2014/main" id="{170E016D-7E63-4F39-BA63-1B0C66D7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proyecto aplica el ciclo completo de minería de datos: entender el problema, preparar la información, comparar modelos y evaluar su utilidad.</a:t>
            </a:r>
          </a:p>
        </p:txBody>
      </p:sp>
      <p:sp>
        <p:nvSpPr>
          <p:cNvPr id="4" name="close-rule">
            <a:extLst xmlns:a="http://schemas.openxmlformats.org/drawingml/2006/main">
              <a:ext uri="{FF2B5EF4-FFF2-40B4-BE49-F238E27FC236}">
                <a16:creationId xmlns:a16="http://schemas.microsoft.com/office/drawing/2014/main" id="{00260414-B917-4108-BC99-839BC23E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485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akeaway-label-0">
            <a:extLst xmlns:a="http://schemas.openxmlformats.org/drawingml/2006/main">
              <a:ext uri="{FF2B5EF4-FFF2-40B4-BE49-F238E27FC236}">
                <a16:creationId xmlns:a16="http://schemas.microsoft.com/office/drawing/2014/main" id="{38BE600C-9E50-4BEA-A4A6-1358CFD4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PROBLEMA</a:t>
            </a:r>
          </a:p>
        </p:txBody>
      </p:sp>
      <p:sp>
        <p:nvSpPr>
          <p:cNvPr id="6" name="takeaway-body-0">
            <a:extLst xmlns:a="http://schemas.openxmlformats.org/drawingml/2006/main">
              <a:ext uri="{FF2B5EF4-FFF2-40B4-BE49-F238E27FC236}">
                <a16:creationId xmlns:a16="http://schemas.microsoft.com/office/drawing/2014/main" id="{91688C28-D7AF-4798-A52E-D1228899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09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D7E0E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7E0EC"/>
                </a:solidFill>
                <a:latin typeface="Arial"/>
                <a:ea typeface="Arial"/>
                <a:cs typeface="Arial"/>
              </a:rPr>
              <a:t>anticipar la clase peligrosa del siguiente turno</a:t>
            </a:r>
          </a:p>
        </p:txBody>
      </p:sp>
      <p:sp>
        <p:nvSpPr>
          <p:cNvPr id="7" name="takeaway-label-1">
            <a:extLst xmlns:a="http://schemas.openxmlformats.org/drawingml/2006/main">
              <a:ext uri="{FF2B5EF4-FFF2-40B4-BE49-F238E27FC236}">
                <a16:creationId xmlns:a16="http://schemas.microsoft.com/office/drawing/2014/main" id="{507FC9CA-0F28-4507-9912-C168D99B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8" name="takeaway-body-1">
            <a:extLst xmlns:a="http://schemas.openxmlformats.org/drawingml/2006/main">
              <a:ext uri="{FF2B5EF4-FFF2-40B4-BE49-F238E27FC236}">
                <a16:creationId xmlns:a16="http://schemas.microsoft.com/office/drawing/2014/main" id="{8A77DCF4-CFB2-47FD-BA1B-078B3682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095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D7E0E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7E0EC"/>
                </a:solidFill>
                <a:latin typeface="Arial"/>
                <a:ea typeface="Arial"/>
                <a:cs typeface="Arial"/>
              </a:rPr>
              <a:t>2.584 instancias y 19 atributos del dataset Seismic-Bumps</a:t>
            </a:r>
          </a:p>
        </p:txBody>
      </p:sp>
      <p:sp>
        <p:nvSpPr>
          <p:cNvPr id="9" name="takeaway-label-2">
            <a:extLst xmlns:a="http://schemas.openxmlformats.org/drawingml/2006/main">
              <a:ext uri="{FF2B5EF4-FFF2-40B4-BE49-F238E27FC236}">
                <a16:creationId xmlns:a16="http://schemas.microsoft.com/office/drawing/2014/main" id="{4B947754-E877-416C-AB16-2594F8FC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DECISIÓN</a:t>
            </a:r>
          </a:p>
        </p:txBody>
      </p:sp>
      <p:sp>
        <p:nvSpPr>
          <p:cNvPr id="10" name="takeaway-body-2">
            <a:extLst xmlns:a="http://schemas.openxmlformats.org/drawingml/2006/main">
              <a:ext uri="{FF2B5EF4-FFF2-40B4-BE49-F238E27FC236}">
                <a16:creationId xmlns:a16="http://schemas.microsoft.com/office/drawing/2014/main" id="{ECA5CA9A-BEFA-432E-B0F5-99CBDA96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81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D7E0E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7E0EC"/>
                </a:solidFill>
                <a:latin typeface="Arial"/>
                <a:ea typeface="Arial"/>
                <a:cs typeface="Arial"/>
              </a:rPr>
              <a:t>priorizar recall sin perder precision ni estabilidad</a:t>
            </a:r>
          </a:p>
        </p:txBody>
      </p:sp>
      <p:sp>
        <p:nvSpPr>
          <p:cNvPr id="11" name="close-question">
            <a:extLst xmlns:a="http://schemas.openxmlformats.org/drawingml/2006/main">
              <a:ext uri="{FF2B5EF4-FFF2-40B4-BE49-F238E27FC236}">
                <a16:creationId xmlns:a16="http://schemas.microsoft.com/office/drawing/2014/main" id="{8F784D7B-E6BF-494A-850A-31FAD520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3181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52"/>
          </a:solidFill>
          <a:ln xmlns:a="http://schemas.openxmlformats.org/drawingml/2006/main" w="9525">
            <a:solidFill>
              <a:srgbClr val="2F4C6F"/>
            </a:solidFill>
            <a:prstDash val="solid"/>
          </a:ln>
        </p:spPr>
      </p:sp>
      <p:sp>
        <p:nvSpPr>
          <p:cNvPr id="12" name="close-question-kicker">
            <a:extLst xmlns:a="http://schemas.openxmlformats.org/drawingml/2006/main">
              <a:ext uri="{FF2B5EF4-FFF2-40B4-BE49-F238E27FC236}">
                <a16:creationId xmlns:a16="http://schemas.microsoft.com/office/drawing/2014/main" id="{B8425D4A-2AF3-40A9-84ED-07FABBB2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1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PREGUNTA FINAL</a:t>
            </a:r>
          </a:p>
        </p:txBody>
      </p:sp>
      <p:sp>
        <p:nvSpPr>
          <p:cNvPr id="13" name="close-question-title">
            <a:extLst xmlns:a="http://schemas.openxmlformats.org/drawingml/2006/main">
              <a:ext uri="{FF2B5EF4-FFF2-40B4-BE49-F238E27FC236}">
                <a16:creationId xmlns:a16="http://schemas.microsoft.com/office/drawing/2014/main" id="{EC909176-72A1-4F18-B5FF-A840B39F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67050"/>
            <a:ext cx="247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¿Qué modelo detecta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mejor el peligro sin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perder confianza?</a:t>
            </a:r>
          </a:p>
        </p:txBody>
      </p:sp>
      <p:sp>
        <p:nvSpPr>
          <p:cNvPr id="14" name="close-source">
            <a:extLst xmlns:a="http://schemas.openxmlformats.org/drawingml/2006/main">
              <a:ext uri="{FF2B5EF4-FFF2-40B4-BE49-F238E27FC236}">
                <a16:creationId xmlns:a16="http://schemas.microsoft.com/office/drawing/2014/main" id="{AB68F648-EFD4-4041-8865-81E63F73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B8C4D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8C4D5"/>
                </a:solidFill>
                <a:latin typeface="Arial"/>
                <a:ea typeface="Arial"/>
                <a:cs typeface="Arial"/>
              </a:rPr>
              <a:t>Fuente: Sikora &amp; Wrobel (2010), Seismic-Bumps, UCI Machine Learning Repository</a:t>
            </a:r>
          </a:p>
          <a:p xmlns:a="http://schemas.openxmlformats.org/drawingml/2006/main">
            <a:pPr algn="l">
              <a:defRPr sz="975">
                <a:solidFill>
                  <a:srgbClr val="B8C4D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8C4D5"/>
                </a:solidFill>
                <a:latin typeface="Arial"/>
                <a:ea typeface="Arial"/>
                <a:cs typeface="Arial"/>
              </a:rPr>
              <a:t>archive.ics.uci.edu/dataset/266/seismic+bumps</a:t>
            </a:r>
          </a:p>
        </p:txBody>
      </p:sp>
      <p:sp>
        <p:nvSpPr>
          <p:cNvPr id="15" name="close-questions">
            <a:extLst xmlns:a="http://schemas.openxmlformats.org/drawingml/2006/main">
              <a:ext uri="{FF2B5EF4-FFF2-40B4-BE49-F238E27FC236}">
                <a16:creationId xmlns:a16="http://schemas.microsoft.com/office/drawing/2014/main" id="{2949C43C-653A-4603-BEF8-33393C14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673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86A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86A33"/>
                </a:solidFill>
                <a:latin typeface="Arial"/>
                <a:ea typeface="Arial"/>
                <a:cs typeface="Arial"/>
              </a:rPr>
              <a:t>¿Preguntas?</a:t>
            </a:r>
          </a:p>
        </p:txBody>
      </p:sp>
    </p:spTree>
    <p:extLst>
      <p:ext uri="{BB962C8B-B14F-4D97-AF65-F5344CB8AC3E}">
        <p14:creationId xmlns:p14="http://schemas.microsoft.com/office/powerpoint/2010/main" val="1569969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2026-07-18T23:53:21.3420000Z</dcterms:created>
  <dcterms:modified xsi:type="dcterms:W3CDTF">2026-07-18T23:53:21.3420000Z</dcterms:modified>
</coreProperties>
</file>