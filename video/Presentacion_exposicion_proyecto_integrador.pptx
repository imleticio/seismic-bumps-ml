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11603c50414326" /><Relationship Type="http://schemas.openxmlformats.org/officeDocument/2006/relationships/extended-properties" Target="/docProps/app.xml" Id="Rb8092be6b9df49da" /><Relationship Type="http://schemas.openxmlformats.org/officeDocument/2006/relationships/officeDocument" Target="/ppt/presentation.xml" Id="Rdc7d2f93f6da45ae" /></Relationships>
</file>

<file path=ppt/presentation.xml><?xml version="1.0" encoding="utf-8"?>
<p:presentation xmlns:p="http://schemas.openxmlformats.org/presentationml/2006/main">
  <p:sldMasterIdLst>
    <p:sldMasterId xmlns:r="http://schemas.openxmlformats.org/officeDocument/2006/relationships" id="2147483648" r:id="Rf5c73d77d42d4f06"/>
  </p:sldMasterIdLst>
  <p:notesMasterIdLst>
    <p:notesMasterId xmlns:r="http://schemas.openxmlformats.org/officeDocument/2006/relationships" r:id="Rd7640969ec694af2"/>
  </p:notesMasterIdLst>
  <p:sldIdLst>
    <p:sldId xmlns:r="http://schemas.openxmlformats.org/officeDocument/2006/relationships" id="256" r:id="R9c415e4c7a5f4002"/>
    <p:sldId xmlns:r="http://schemas.openxmlformats.org/officeDocument/2006/relationships" id="257" r:id="R80d005264a7246a2"/>
    <p:sldId xmlns:r="http://schemas.openxmlformats.org/officeDocument/2006/relationships" id="258" r:id="Rd0217b552fbf4105"/>
    <p:sldId xmlns:r="http://schemas.openxmlformats.org/officeDocument/2006/relationships" id="259" r:id="R31dda1ad0d15421f"/>
    <p:sldId xmlns:r="http://schemas.openxmlformats.org/officeDocument/2006/relationships" id="260" r:id="Ra53c714c0a7f43fd"/>
    <p:sldId xmlns:r="http://schemas.openxmlformats.org/officeDocument/2006/relationships" id="261" r:id="Rb69cb5fa08684e86"/>
    <p:sldId xmlns:r="http://schemas.openxmlformats.org/officeDocument/2006/relationships" id="262" r:id="R5256f2d6acd64d3e"/>
    <p:sldId xmlns:r="http://schemas.openxmlformats.org/officeDocument/2006/relationships" id="263" r:id="R5aa93955ee0a4b86"/>
    <p:sldId xmlns:r="http://schemas.openxmlformats.org/officeDocument/2006/relationships" id="264" r:id="Rcfac049e2bfa4504"/>
    <p:sldId xmlns:r="http://schemas.openxmlformats.org/officeDocument/2006/relationships" id="265" r:id="Rc42cf20c6cac4553"/>
    <p:sldId xmlns:r="http://schemas.openxmlformats.org/officeDocument/2006/relationships" id="266" r:id="R4d78374d394f44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152fa3a0bd409a" /><Relationship Type="http://schemas.openxmlformats.org/officeDocument/2006/relationships/slideMaster" Target="/ppt/slideMasters/slideMaster1.xml" Id="Rf5c73d77d42d4f06" /><Relationship Type="http://schemas.openxmlformats.org/officeDocument/2006/relationships/notesMaster" Target="/ppt/notesMasters/notesMaster1.xml" Id="Rd7640969ec694af2" /><Relationship Type="http://schemas.openxmlformats.org/officeDocument/2006/relationships/presProps" Target="/ppt/presProps.xml" Id="R0b9b02923efd4111" /><Relationship Type="http://schemas.openxmlformats.org/officeDocument/2006/relationships/tableStyles" Target="/ppt/tableStyles.xml" Id="Rb3aba2b158104013" /><Relationship Type="http://schemas.openxmlformats.org/officeDocument/2006/relationships/slide" Target="/ppt/slides/slide1.xml" Id="R9c415e4c7a5f4002" /><Relationship Type="http://schemas.openxmlformats.org/officeDocument/2006/relationships/slide" Target="/ppt/slides/slide2.xml" Id="R80d005264a7246a2" /><Relationship Type="http://schemas.openxmlformats.org/officeDocument/2006/relationships/slide" Target="/ppt/slides/slide3.xml" Id="Rd0217b552fbf4105" /><Relationship Type="http://schemas.openxmlformats.org/officeDocument/2006/relationships/slide" Target="/ppt/slides/slide4.xml" Id="R31dda1ad0d15421f" /><Relationship Type="http://schemas.openxmlformats.org/officeDocument/2006/relationships/slide" Target="/ppt/slides/slide5.xml" Id="Ra53c714c0a7f43fd" /><Relationship Type="http://schemas.openxmlformats.org/officeDocument/2006/relationships/slide" Target="/ppt/slides/slide6.xml" Id="Rb69cb5fa08684e86" /><Relationship Type="http://schemas.openxmlformats.org/officeDocument/2006/relationships/slide" Target="/ppt/slides/slide7.xml" Id="R5256f2d6acd64d3e" /><Relationship Type="http://schemas.openxmlformats.org/officeDocument/2006/relationships/slide" Target="/ppt/slides/slide8.xml" Id="R5aa93955ee0a4b86" /><Relationship Type="http://schemas.openxmlformats.org/officeDocument/2006/relationships/slide" Target="/ppt/slides/slide9.xml" Id="Rcfac049e2bfa4504" /><Relationship Type="http://schemas.openxmlformats.org/officeDocument/2006/relationships/slide" Target="/ppt/slides/slide10.xml" Id="Rc42cf20c6cac4553" /><Relationship Type="http://schemas.openxmlformats.org/officeDocument/2006/relationships/slide" Target="/ppt/slides/slide11.xml" Id="R4d78374d394f44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c7146d8ff74a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a25b148aa04a96" /><Relationship Type="http://schemas.openxmlformats.org/officeDocument/2006/relationships/notesMaster" Target="/ppt/notesMasters/notesMaster1.xml" Id="R03bda90dfbf549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74991008824a62" /><Relationship Type="http://schemas.openxmlformats.org/officeDocument/2006/relationships/notesMaster" Target="/ppt/notesMasters/notesMaster1.xml" Id="R12639538e53748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ed9705a7854f77" /><Relationship Type="http://schemas.openxmlformats.org/officeDocument/2006/relationships/notesMaster" Target="/ppt/notesMasters/notesMaster1.xml" Id="R754880e4fb404c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4b5aa15432479d" /><Relationship Type="http://schemas.openxmlformats.org/officeDocument/2006/relationships/notesMaster" Target="/ppt/notesMasters/notesMaster1.xml" Id="Raec7aa27b6f449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871d51d7e343c5" /><Relationship Type="http://schemas.openxmlformats.org/officeDocument/2006/relationships/notesMaster" Target="/ppt/notesMasters/notesMaster1.xml" Id="R756874018c9848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0de8d168714241" /><Relationship Type="http://schemas.openxmlformats.org/officeDocument/2006/relationships/notesMaster" Target="/ppt/notesMasters/notesMaster1.xml" Id="R4154c823a5e64f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419311f484e1e" /><Relationship Type="http://schemas.openxmlformats.org/officeDocument/2006/relationships/notesMaster" Target="/ppt/notesMasters/notesMaster1.xml" Id="R17b10dfaf15140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90ddb8f73c4338" /><Relationship Type="http://schemas.openxmlformats.org/officeDocument/2006/relationships/notesMaster" Target="/ppt/notesMasters/notesMaster1.xml" Id="R168b59144bcf4c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a5725b73354094" /><Relationship Type="http://schemas.openxmlformats.org/officeDocument/2006/relationships/notesMaster" Target="/ppt/notesMasters/notesMaster1.xml" Id="R50cc58c8a1da45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6b220309194939" /><Relationship Type="http://schemas.openxmlformats.org/officeDocument/2006/relationships/notesMaster" Target="/ppt/notesMasters/notesMaster1.xml" Id="R2ad5f5088dd147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e7c523ea7d4612" /><Relationship Type="http://schemas.openxmlformats.org/officeDocument/2006/relationships/notesMaster" Target="/ppt/notesMasters/notesMaster1.xml" Id="R022868b16cd34f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Hola, mi nombre es Mauricio Leonel Martínez. Este trabajo no busca solamente identificar qué algoritmo obtiene el valor más alto en una métrica, sino determinar qué configuración resulta más coherente con un objetivo preventivo: reducir la omisión de eventos sísmicos peligrosos. La comparación de cuatro algoritmos y de sus variantes con SMOTE permite fundamentar esa decisión con evidencia experimental. Este enfoque es relevante porque la clase peligrosa es muy minoritaria y una evaluación superficial puede ofrecer una impresión engañosa de buen rendimiento. La conclusión debe interpretarse dentro del conjunto de datos y del protocolo evaluado: se trata de evidencia para apoyar decisiones, no de un sistema automático listo para operar.</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clase peligrosa representa solo el 6,58% de los registros. Esto significa que la exactitud está estructuralmente condicionada por la clase mayoritaria: un modelo que casi siempre predijera la clase no peligrosa podría superar el 93% de aciertos y, al mismo tiempo, fallar precisamente en los casos que motivan el estudio. Por eso el problema no consistió en maximizar la exactitud, sino en comparar la capacidad real de detectar la clase 1. Este criterio sostiene la decisión de dar mayor importancia al recall y a los falsos negativos. La limitación es que esa prioridad supone un costo operativo desigual entre errores que debe ser validado por especialistas del dominio.</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a:p xmlns:a="http://schemas.openxmlformats.org/drawingml/2006/main">
            <a:r>
              <a:t>- /Users/leonel/Desktop/TAD/seismic-bumps.arff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Seismic-Bumps contiene 2584 registros, 18 atributos predictivos y una variable objetivo binaria. La relación de 2414 casos no peligrosos frente a 170 peligrosos representa un escenario en el que la información más relevante también es la más escasa. Esto importa porque el modelo dispone de muchos más ejemplos para aprender la clase 0 y puede inclinarse hacia ella. Por esa razón se decidió conservar la distribución original en Testing y analizar métricas específicas de la clase 1, en lugar de balancear artificialmente toda la muestra. La ausencia de valores faltantes declarados simplifica la preparación, pero no elimina la limitación de trabajar con un único conjunto de datos ni demuestra generalización temporal o externa.</a:t>
            </a:r>
          </a:p>
          <a:p xmlns:a="http://schemas.openxmlformats.org/drawingml/2006/main">
            <a:r>
              <a:t/>
            </a:r>
          </a:p>
          <a:p xmlns:a="http://schemas.openxmlformats.org/drawingml/2006/main">
            <a:r>
              <a:t>[Sources]</a:t>
            </a:r>
          </a:p>
          <a:p xmlns:a="http://schemas.openxmlformats.org/drawingml/2006/main">
            <a:r>
              <a:t>- /Users/leonel/Desktop/TAD/seismic-bumps.arff</a:t>
            </a:r>
          </a:p>
          <a:p xmlns:a="http://schemas.openxmlformats.org/drawingml/2006/main">
            <a:r>
              <a:t>- /Users/leonel/Desktop/TAD/output/figures/distribucion_clases.png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validación cruzada estratificada de 10 particiones hace que cada algoritmo sea evaluado bajo divisiones comparables y conserva una proporción semejante de las dos clases en cada fold. Esto reduce la dependencia de una única partición y permite comparar árbol, Naive Bayes, k-NN y regresión logística con un protocolo común. La decisión metodológica respalda una comparación interna más estable y obliga a leer conjuntamente exactitud, AUC, precisión, recall, F1 y matrices de confusión. Sin embargo, la validación cruzada sobre el mismo conjunto no prueba que el rendimiento se mantenga en otro yacimiento, en otro período ni ante cambios en la distribución de los datos.</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a:p xmlns:a="http://schemas.openxmlformats.org/drawingml/2006/main">
            <a:r>
              <a:t>- /Users/leonel/Desktop/TAD/output/figures/proceso_cross_validation.png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SMOTE genera ejemplos sintéticos de la clase minoritaria para que el algoritmo encuentre más señales asociadas con eventos peligrosos durante el aprendizaje. Se aplicó únicamente dentro de Training, de modo que esos registros modifican el proceso de entrenamiento, pero no la evidencia utilizada para evaluar el modelo. Mantener Testing con la distribución original evita fuga de información y permite estimar el comportamiento frente al desbalance real. Esta decisión respalda una comparación válida entre variantes con y sin SMOTE. La contrapartida es que los ejemplos sintéticos pueden simplificar o distorsionar la estructura de la clase minoritaria, por lo que una mejora de recall no debe interpretarse automáticamente como una mejora global.</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a:p xmlns:a="http://schemas.openxmlformats.org/drawingml/2006/main">
            <a:r>
              <a:t>- /Users/leonel/Desktop/TAD/output/figures/diagrama_smote_naive_bayes.png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modelos base muestran que una exactitud alta puede coexistir con una detección deficiente de la clase peligrosa. El árbol alcanzó 92,84% de exactitud y 2,94% de recall, mientras que k-NN obtuvo 93,07% y 9,41%, respectivamente. Esto representa modelos que aprendieron principalmente el patrón de la clase mayoritaria: aciertan muchos casos rutinarios, pero omiten casi todos los casos críticos. Para un objetivo preventivo, ese comportamiento es inseguro y justifica descartar la exactitud como criterio principal de selección. Naive Bayes y la regresión logística ofrecen mayor sensibilidad, aunque pierden exactitud; además, estos resultados siguen dependiendo del umbral y de la muestra utilizada.</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SMOTE, los cuatro modelos identificaron una proporción mayor de eventos peligrosos porque el entrenamiento dejó de estar dominado en la misma medida por la clase 0. El resultado representa un desplazamiento del equilibrio entre precisión y recall, no una mejora simultánea de todas las métricas. La regresión logística con SMOTE alcanzó 81,76% de recall, pero su precisión descendió a 10,24%, de modo que muchas alertas positivas serían falsas. Este intercambio apoya la selección de una variante con SMOTE solamente si se considera que omitir un evento peligroso cuesta más que revisar una falsa alarma. La limitación operativa es la carga de inspecciones innecesarias y el posible desgaste de confianza ante alertas frecuentes.</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regresión logística con SMOTE detectó 139 de los 170 eventos peligrosos y dejó 31 falsos negativos. Este resultado representa la mayor cobertura de la clase 1 entre las configuraciones evaluadas y respalda su selección cuando los falsos negativos se consideran más costosos que los falsos positivos. Sin embargo, los 1219 falsos positivos y la precisión de 10,24% implican que solo una fracción pequeña de las alertas correspondería realmente a eventos peligrosos, con un riesgo operativo considerable de saturación y fatiga de alarmas. Por ello no se afirma que sea el mejor modelo en términos absolutos: es el más coherente con el criterio preventivo adoptado y requeriría calibración y validación antes de cualquier uso real.</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evidencia muestra que la exactitud no describe adecuadamente el desempeño cuando la clase relevante es minoritaria. Los modelos base favorecieron la clase 0, mientras que SMOTE desplazó el equilibrio hacia una mayor detección de peligrosos a costa de más falsas alarmas. La regresión logística con SMOTE fue seleccionada porque el criterio preventivo asignó mayor costo a los falsos negativos, no porque dominara todas las métricas. La decisión es experimental y sirve como apoyo para analizar alternativas; no constituye un sistema automático de alertas desplegable. Para avanzar hacia un uso operativo sería necesario calibrar umbrales, cuantificar costos, evaluar estabilidad temporal y validar con datos externos y conocimiento experto.</a:t>
            </a:r>
          </a:p>
          <a:p xmlns:a="http://schemas.openxmlformats.org/drawingml/2006/main">
            <a:r>
              <a:t/>
            </a:r>
          </a:p>
          <a:p xmlns:a="http://schemas.openxmlformats.org/drawingml/2006/main">
            <a:r>
              <a:t>[Sources]</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curvas ROC resumen la capacidad de ordenar casos positivos y negativos a través de múltiples umbrales. El árbol con SMOTE obtuvo el AUC más alto, 0,812, frente a 0,757 de la regresión logística con SMOTE. Ese resultado indica una mejor discriminación global del árbol, pero no reemplaza el criterio operativo: el AUC es independiente de un umbral concreto, mientras que la selección priorizó el recall alcanzado en el umbral evaluado y el costo de los falsos negativos. Por eso el AUC más alto no invalida la elección de la regresión logística. La limitación es que estas curvas no determinan por sí solas qué umbral resulta aceptable ni incorporan el costo real de las falsas alarmas.</a:t>
            </a:r>
          </a:p>
          <a:p xmlns:a="http://schemas.openxmlformats.org/drawingml/2006/main">
            <a:r>
              <a:t/>
            </a:r>
          </a:p>
          <a:p xmlns:a="http://schemas.openxmlformats.org/drawingml/2006/main">
            <a:r>
              <a:t>[Sources]</a:t>
            </a:r>
          </a:p>
          <a:p xmlns:a="http://schemas.openxmlformats.org/drawingml/2006/main">
            <a:r>
              <a:t>- /Users/leonel/Desktop/TAD/output/figures/roc_smote_composite.png</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análisis suplementario exploró cómo cambiaba el error al conservar 3, 6, 9, 12, 15 y 18 atributos seleccionados dentro de Training. El menor error medio apareció con 3 atributos, pero ese valor aislado no basta para afirmar que sea la configuración superior: existe variabilidad entre particiones, la relación no fue monotónica y el ensayo se ejecutó como un proceso separado de la comparación principal. En consecuencia, el resultado sirve para plantear una posible simplificación y una futura validación específica, pero no para reemplazar la selección final. La principal limitación es que todavía no se demostró que el subconjunto reducido mantenga su ventaja bajo el mismo protocolo completo y en datos externos.</a:t>
            </a:r>
          </a:p>
          <a:p xmlns:a="http://schemas.openxmlformats.org/drawingml/2006/main">
            <a:r>
              <a:t/>
            </a:r>
          </a:p>
          <a:p xmlns:a="http://schemas.openxmlformats.org/drawingml/2006/main">
            <a:r>
              <a:t>[Sources]</a:t>
            </a:r>
          </a:p>
          <a:p xmlns:a="http://schemas.openxmlformats.org/drawingml/2006/main">
            <a:r>
              <a:t>- /Users/leonel/Desktop/TAD/output/figures/error_atributos_logistica_smote.png</a:t>
            </a:r>
          </a:p>
          <a:p xmlns:a="http://schemas.openxmlformats.org/drawingml/2006/main">
            <a:r>
              <a:t>- /Users/leonel/Desktop/TAD/Proyecto Integrador - Informe Final v2 - MartinezMauricioLeonel.tex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d3511fceda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b12b6bf0af45ed" /><Relationship Type="http://schemas.openxmlformats.org/officeDocument/2006/relationships/slideLayout" Target="/ppt/slideLayouts/slideLayout1.xml" Id="R69a959f354ab42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959f354ab42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0df76acd484cdd" /><Relationship Type="http://schemas.openxmlformats.org/officeDocument/2006/relationships/notesSlide" Target="/ppt/notesSlides/notesSlide1.xml" Id="R1b568c8d5ff94a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532e92cce1469f" /><Relationship Type="http://schemas.openxmlformats.org/officeDocument/2006/relationships/notesSlide" Target="/ppt/notesSlides/notesSlide2.xml" Id="R6e5de2c2587c44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440c6ebc974dd0" /><Relationship Type="http://schemas.openxmlformats.org/officeDocument/2006/relationships/image" Target="/ppt/media/image.png" Id="Re500e308c1d94269" /><Relationship Type="http://schemas.openxmlformats.org/officeDocument/2006/relationships/notesSlide" Target="/ppt/notesSlides/notesSlide3.xml" Id="R72539a89cc5f4a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4aa4db02af4c96" /><Relationship Type="http://schemas.openxmlformats.org/officeDocument/2006/relationships/image" Target="/ppt/media/image2.png" Id="Rf14d5e70eff243be" /><Relationship Type="http://schemas.openxmlformats.org/officeDocument/2006/relationships/notesSlide" Target="/ppt/notesSlides/notesSlide4.xml" Id="R07f798aa972c44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b612db7b774a96" /><Relationship Type="http://schemas.openxmlformats.org/officeDocument/2006/relationships/image" Target="/ppt/media/image3.png" Id="R8c94a2ee27284f8d" /><Relationship Type="http://schemas.openxmlformats.org/officeDocument/2006/relationships/notesSlide" Target="/ppt/notesSlides/notesSlide5.xml" Id="R5e89fe4c99cd46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914aa9f7a84d1c" /><Relationship Type="http://schemas.openxmlformats.org/officeDocument/2006/relationships/chart" Target="/ppt/slides/charts/chart1.xml" Id="R038f453ffeb047d0" /><Relationship Type="http://schemas.openxmlformats.org/officeDocument/2006/relationships/notesSlide" Target="/ppt/notesSlides/notesSlide6.xml" Id="R3866fbd7b9a746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7bdd76d2894912" /><Relationship Type="http://schemas.openxmlformats.org/officeDocument/2006/relationships/chart" Target="/ppt/slides/charts/chart2.xml" Id="R08c78c550956409c" /><Relationship Type="http://schemas.openxmlformats.org/officeDocument/2006/relationships/notesSlide" Target="/ppt/notesSlides/notesSlide7.xml" Id="Re0bf6547fc2f4a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878cfd359f49f8" /><Relationship Type="http://schemas.openxmlformats.org/officeDocument/2006/relationships/notesSlide" Target="/ppt/notesSlides/notesSlide8.xml" Id="Rbeae46f6d33b46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a879626b6e4fa1" /><Relationship Type="http://schemas.openxmlformats.org/officeDocument/2006/relationships/notesSlide" Target="/ppt/notesSlides/notesSlide9.xml" Id="Re3f1c35250be4f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7497be6e0b4450a" /><Relationship Type="http://schemas.openxmlformats.org/officeDocument/2006/relationships/image" Target="/ppt/media/image4.png" Id="R034878e606204bf4" /><Relationship Type="http://schemas.openxmlformats.org/officeDocument/2006/relationships/notesSlide" Target="/ppt/notesSlides/notesSlide10.xml" Id="R7fa3d1cc6af74e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b756cdaa27464c" /><Relationship Type="http://schemas.openxmlformats.org/officeDocument/2006/relationships/image" Target="/ppt/media/image5.png" Id="R3dc2aa9aef834ba5" /><Relationship Type="http://schemas.openxmlformats.org/officeDocument/2006/relationships/notesSlide" Target="/ppt/notesSlides/notesSlide11.xml" Id="R077502f24bbe4321" /></Relationships>
</file>

<file path=ppt/slides/charts/chart1.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12345B"/>
            </a:solidFill>
          </c:spPr>
          <c:cat>
            <c:strLit>
              <c:ptCount val="4"/>
              <c:pt idx="0">
                <c:v>Árbol</c:v>
              </c:pt>
              <c:pt idx="1">
                <c:v>Naive Bayes</c:v>
              </c:pt>
              <c:pt idx="2">
                <c:v>k-NN</c:v>
              </c:pt>
              <c:pt idx="3">
                <c:v>Reg. logística</c:v>
              </c:pt>
            </c:strLit>
          </c:cat>
          <c:val>
            <c:numLit>
              <c:formatCode>0.00</c:formatCode>
              <c:ptCount val="4"/>
              <c:pt idx="0">
                <c:v>92.84</c:v>
              </c:pt>
              <c:pt idx="1">
                <c:v>84.75</c:v>
              </c:pt>
              <c:pt idx="2">
                <c:v>93.07</c:v>
              </c:pt>
              <c:pt idx="3">
                <c:v>87.89</c:v>
              </c:pt>
            </c:numLit>
          </c:val>
        </c:ser>
        <c:ser>
          <c:idx val="1"/>
          <c:order val="1"/>
          <c:tx>
            <c:v>Recall clase 1</c:v>
          </c:tx>
          <c:spPr>
            <a:solidFill xmlns:a="http://schemas.openxmlformats.org/drawingml/2006/main">
              <a:srgbClr val="D99A21"/>
            </a:solidFill>
          </c:spPr>
          <c:cat>
            <c:strLit>
              <c:ptCount val="4"/>
              <c:pt idx="0">
                <c:v>Árbol</c:v>
              </c:pt>
              <c:pt idx="1">
                <c:v>Naive Bayes</c:v>
              </c:pt>
              <c:pt idx="2">
                <c:v>k-NN</c:v>
              </c:pt>
              <c:pt idx="3">
                <c:v>Reg. logística</c:v>
              </c:pt>
            </c:strLit>
          </c:cat>
          <c:val>
            <c:numLit>
              <c:formatCode>0.00</c:formatCode>
              <c:ptCount val="4"/>
              <c:pt idx="0">
                <c:v>2.94</c:v>
              </c:pt>
              <c:pt idx="1">
                <c:v>41.18</c:v>
              </c:pt>
              <c:pt idx="2">
                <c:v>9.41</c:v>
              </c:pt>
              <c:pt idx="3">
                <c:v>44.12</c:v>
              </c:pt>
            </c:numLit>
          </c:val>
        </c:ser>
        <c:dLbls>
          <c:txPr>
            <a:bodyPr xmlns:a="http://schemas.openxmlformats.org/drawingml/2006/main" anchorCtr="1"/>
            <a:lstStyle xmlns:a="http://schemas.openxmlformats.org/drawingml/2006/main"/>
            <a:p xmlns:a="http://schemas.openxmlformats.org/drawingml/2006/main">
              <a:pPr>
                <a:defRPr sz="1050" b="1">
                  <a:solidFill>
                    <a:srgbClr val="24313D"/>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4313D"/>
                </a:solidFill>
              </a:defRPr>
            </a:pPr>
          </a:p>
        </c:txPr>
        <c:crossAx val="48672768"/>
        <c:lblAlgn val="ctr"/>
        <c:lblOffset val="100"/>
        <c:noMultiLvlLbl val="0"/>
      </c:catAx>
      <c:valAx>
        <c:axId val="48672768"/>
        <c:scaling>
          <c:orientation val="minMax"/>
          <c:max val="1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E6B78"/>
                    </a:solidFill>
                  </a:rPr>
                  <a:t>Porcentaje (%)</a:t>
                </a:r>
              </a:p>
            </c:rich>
          </c:tx>
          <c:txPr>
            <a:bodyPr xmlns:a="http://schemas.openxmlformats.org/drawingml/2006/main" anchorCtr="1"/>
            <a:lstStyle xmlns:a="http://schemas.openxmlformats.org/drawingml/2006/main"/>
            <a:p xmlns:a="http://schemas.openxmlformats.org/drawingml/2006/main">
              <a:pPr>
                <a:defRPr sz="1125">
                  <a:solidFill>
                    <a:srgbClr val="5E6B78"/>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E6B78"/>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4313D"/>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Precisión clase 1</c:v>
          </c:tx>
          <c:spPr>
            <a:solidFill xmlns:a="http://schemas.openxmlformats.org/drawingml/2006/main">
              <a:srgbClr val="1E6FB9"/>
            </a:solidFill>
          </c:spPr>
          <c:cat>
            <c:strLit>
              <c:ptCount val="4"/>
              <c:pt idx="0">
                <c:v>Árbol + SMOTE</c:v>
              </c:pt>
              <c:pt idx="1">
                <c:v>NB + SMOTE</c:v>
              </c:pt>
              <c:pt idx="2">
                <c:v>k-NN + SMOTE</c:v>
              </c:pt>
              <c:pt idx="3">
                <c:v>Logística + SMOTE</c:v>
              </c:pt>
            </c:strLit>
          </c:cat>
          <c:val>
            <c:numLit>
              <c:formatCode>0.00</c:formatCode>
              <c:ptCount val="4"/>
              <c:pt idx="0">
                <c:v>18.62</c:v>
              </c:pt>
              <c:pt idx="1">
                <c:v>13.65</c:v>
              </c:pt>
              <c:pt idx="2">
                <c:v>14.71</c:v>
              </c:pt>
              <c:pt idx="3">
                <c:v>10.24</c:v>
              </c:pt>
            </c:numLit>
          </c:val>
        </c:ser>
        <c:ser>
          <c:idx val="1"/>
          <c:order val="1"/>
          <c:tx>
            <c:v>Recall clase 1</c:v>
          </c:tx>
          <c:spPr>
            <a:solidFill xmlns:a="http://schemas.openxmlformats.org/drawingml/2006/main">
              <a:srgbClr val="0E7C66"/>
            </a:solidFill>
          </c:spPr>
          <c:cat>
            <c:strLit>
              <c:ptCount val="4"/>
              <c:pt idx="0">
                <c:v>Árbol + SMOTE</c:v>
              </c:pt>
              <c:pt idx="1">
                <c:v>NB + SMOTE</c:v>
              </c:pt>
              <c:pt idx="2">
                <c:v>k-NN + SMOTE</c:v>
              </c:pt>
              <c:pt idx="3">
                <c:v>Logística + SMOTE</c:v>
              </c:pt>
            </c:strLit>
          </c:cat>
          <c:val>
            <c:numLit>
              <c:formatCode>0.00</c:formatCode>
              <c:ptCount val="4"/>
              <c:pt idx="0">
                <c:v>57.06</c:v>
              </c:pt>
              <c:pt idx="1">
                <c:v>67.06</c:v>
              </c:pt>
              <c:pt idx="2">
                <c:v>43.53</c:v>
              </c:pt>
              <c:pt idx="3">
                <c:v>81.76</c:v>
              </c:pt>
            </c:numLit>
          </c:val>
        </c:ser>
        <c:dLbls>
          <c:txPr>
            <a:bodyPr xmlns:a="http://schemas.openxmlformats.org/drawingml/2006/main" anchorCtr="1"/>
            <a:lstStyle xmlns:a="http://schemas.openxmlformats.org/drawingml/2006/main"/>
            <a:p xmlns:a="http://schemas.openxmlformats.org/drawingml/2006/main">
              <a:pPr>
                <a:defRPr sz="1050" b="1">
                  <a:solidFill>
                    <a:srgbClr val="24313D"/>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24313D"/>
                </a:solidFill>
              </a:defRPr>
            </a:pPr>
          </a:p>
        </c:txPr>
        <c:crossAx val="48672768"/>
        <c:lblAlgn val="ctr"/>
        <c:lblOffset val="100"/>
        <c:noMultiLvlLbl val="0"/>
      </c:catAx>
      <c:valAx>
        <c:axId val="48672768"/>
        <c:scaling>
          <c:orientation val="minMax"/>
          <c:max val="1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E6B78"/>
                    </a:solidFill>
                  </a:rPr>
                  <a:t>Porcentaje (%)</a:t>
                </a:r>
              </a:p>
            </c:rich>
          </c:tx>
          <c:txPr>
            <a:bodyPr xmlns:a="http://schemas.openxmlformats.org/drawingml/2006/main" anchorCtr="1"/>
            <a:lstStyle xmlns:a="http://schemas.openxmlformats.org/drawingml/2006/main"/>
            <a:p xmlns:a="http://schemas.openxmlformats.org/drawingml/2006/main">
              <a:pPr>
                <a:defRPr sz="1125">
                  <a:solidFill>
                    <a:srgbClr val="5E6B78"/>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E6B78"/>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4313D"/>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12345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4C2841-2A41-46D4-933E-EC75F7578F7F}"/>
              </a:ext>
            </a:extLst>
          </p:cNvPr>
          <p:cNvSpPr>
            <a:spLocks xmlns:a="http://schemas.openxmlformats.org/drawingml/2006/main" noGrp="1"/>
          </p:cNvSpPr>
          <p:nvPr/>
        </p:nvSpPr>
        <p:spPr>
          <a:xfrm xmlns:a="http://schemas.openxmlformats.org/drawingml/2006/main">
            <a:off x="685800" y="685800"/>
            <a:ext cx="114300" cy="4381500"/>
          </a:xfrm>
          <a:prstGeom xmlns:a="http://schemas.openxmlformats.org/drawingml/2006/main" prst="rect">
            <a:avLst/>
          </a:prstGeom>
          <a:solidFill xmlns:a="http://schemas.openxmlformats.org/drawingml/2006/main">
            <a:srgbClr val="D99A21"/>
          </a:solidFill>
          <a:ln xmlns:a="http://schemas.openxmlformats.org/drawingml/2006/main" w="0">
            <a:solidFill>
              <a:srgbClr val="D99A21"/>
            </a:solidFill>
            <a:prstDash val="solid"/>
          </a:ln>
        </p:spPr>
      </p:sp>
      <p:sp>
        <p:nvSpPr>
          <p:cNvPr id="2" name="">
            <a:extLst xmlns:a="http://schemas.openxmlformats.org/drawingml/2006/main">
              <a:ext uri="{FF2B5EF4-FFF2-40B4-BE49-F238E27FC236}">
                <a16:creationId xmlns:a16="http://schemas.microsoft.com/office/drawing/2014/main" id="{7384E9C0-E051-4F6D-964D-88356FFEB22F}"/>
              </a:ext>
            </a:extLst>
          </p:cNvPr>
          <p:cNvSpPr>
            <a:spLocks xmlns:a="http://schemas.openxmlformats.org/drawingml/2006/main" noGrp="1"/>
          </p:cNvSpPr>
          <p:nvPr/>
        </p:nvSpPr>
        <p:spPr>
          <a:xfrm xmlns:a="http://schemas.openxmlformats.org/drawingml/2006/main">
            <a:off x="1066800" y="72390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DCECF8"/>
                </a:solidFill>
              </a:defRPr>
            </a:pPr>
            <a:r>
              <a:rPr sz="1650" b="1" i="0">
                <a:solidFill>
                  <a:srgbClr val="DCECF8"/>
                </a:solidFill>
              </a:rPr>
              <a:t>Universidad Católica de Salta</a:t>
            </a:r>
          </a:p>
        </p:txBody>
      </p:sp>
      <p:sp>
        <p:nvSpPr>
          <p:cNvPr id="3" name="">
            <a:extLst xmlns:a="http://schemas.openxmlformats.org/drawingml/2006/main">
              <a:ext uri="{FF2B5EF4-FFF2-40B4-BE49-F238E27FC236}">
                <a16:creationId xmlns:a16="http://schemas.microsoft.com/office/drawing/2014/main" id="{D2C83EAE-3BB9-4836-8A02-DC184FBA1D74}"/>
              </a:ext>
            </a:extLst>
          </p:cNvPr>
          <p:cNvSpPr>
            <a:spLocks xmlns:a="http://schemas.openxmlformats.org/drawingml/2006/main" noGrp="1"/>
          </p:cNvSpPr>
          <p:nvPr/>
        </p:nvSpPr>
        <p:spPr>
          <a:xfrm xmlns:a="http://schemas.openxmlformats.org/drawingml/2006/main">
            <a:off x="1066800" y="10668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DCECF8"/>
                </a:solidFill>
              </a:defRPr>
            </a:pPr>
            <a:r>
              <a:rPr sz="1350" b="0" i="0">
                <a:solidFill>
                  <a:srgbClr val="DCECF8"/>
                </a:solidFill>
              </a:rPr>
              <a:t>Facultad de Ingeniería</a:t>
            </a:r>
          </a:p>
        </p:txBody>
      </p:sp>
      <p:sp>
        <p:nvSpPr>
          <p:cNvPr id="4" name="">
            <a:extLst xmlns:a="http://schemas.openxmlformats.org/drawingml/2006/main">
              <a:ext uri="{FF2B5EF4-FFF2-40B4-BE49-F238E27FC236}">
                <a16:creationId xmlns:a16="http://schemas.microsoft.com/office/drawing/2014/main" id="{5D2FB483-171D-437E-B840-7EB55E912FC4}"/>
              </a:ext>
            </a:extLst>
          </p:cNvPr>
          <p:cNvSpPr>
            <a:spLocks xmlns:a="http://schemas.openxmlformats.org/drawingml/2006/main" noGrp="1"/>
          </p:cNvSpPr>
          <p:nvPr/>
        </p:nvSpPr>
        <p:spPr>
          <a:xfrm xmlns:a="http://schemas.openxmlformats.org/drawingml/2006/main">
            <a:off x="1066800" y="1828800"/>
            <a:ext cx="9334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FFFFFF"/>
                </a:solidFill>
              </a:defRPr>
            </a:pPr>
            <a:r>
              <a:rPr sz="3900" b="1" i="0">
                <a:solidFill>
                  <a:srgbClr val="FFFFFF"/>
                </a:solidFill>
              </a:rPr>
              <a:t>Clasificación supervisada de eventos sísmicos peligrosos</a:t>
            </a:r>
          </a:p>
        </p:txBody>
      </p:sp>
      <p:sp>
        <p:nvSpPr>
          <p:cNvPr id="5" name="">
            <a:extLst xmlns:a="http://schemas.openxmlformats.org/drawingml/2006/main">
              <a:ext uri="{FF2B5EF4-FFF2-40B4-BE49-F238E27FC236}">
                <a16:creationId xmlns:a16="http://schemas.microsoft.com/office/drawing/2014/main" id="{5E7A693B-C152-44C8-A85C-9B7B2883C775}"/>
              </a:ext>
            </a:extLst>
          </p:cNvPr>
          <p:cNvSpPr>
            <a:spLocks xmlns:a="http://schemas.openxmlformats.org/drawingml/2006/main" noGrp="1"/>
          </p:cNvSpPr>
          <p:nvPr/>
        </p:nvSpPr>
        <p:spPr>
          <a:xfrm xmlns:a="http://schemas.openxmlformats.org/drawingml/2006/main">
            <a:off x="1066800" y="3276600"/>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DCECF8"/>
                </a:solidFill>
              </a:defRPr>
            </a:pPr>
            <a:r>
              <a:rPr sz="1875" b="0" i="0">
                <a:solidFill>
                  <a:srgbClr val="DCECF8"/>
                </a:solidFill>
              </a:rPr>
              <a:t>Comparación de árbol de decisión, Naive Bayes, k-NN y regresión logística</a:t>
            </a:r>
          </a:p>
        </p:txBody>
      </p:sp>
      <p:sp>
        <p:nvSpPr>
          <p:cNvPr id="6" name="">
            <a:extLst xmlns:a="http://schemas.openxmlformats.org/drawingml/2006/main">
              <a:ext uri="{FF2B5EF4-FFF2-40B4-BE49-F238E27FC236}">
                <a16:creationId xmlns:a16="http://schemas.microsoft.com/office/drawing/2014/main" id="{4F26EA27-A5B4-43D9-8417-7AB3D2C0A7CB}"/>
              </a:ext>
            </a:extLst>
          </p:cNvPr>
          <p:cNvSpPr>
            <a:spLocks xmlns:a="http://schemas.openxmlformats.org/drawingml/2006/main" noGrp="1"/>
          </p:cNvSpPr>
          <p:nvPr/>
        </p:nvSpPr>
        <p:spPr>
          <a:xfrm xmlns:a="http://schemas.openxmlformats.org/drawingml/2006/main">
            <a:off x="1066800" y="42862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D99A21"/>
                </a:solidFill>
              </a:defRPr>
            </a:pPr>
            <a:r>
              <a:rPr sz="1425" b="1" i="0">
                <a:solidFill>
                  <a:srgbClr val="D99A21"/>
                </a:solidFill>
              </a:rPr>
              <a:t>Proyecto integrador</a:t>
            </a:r>
          </a:p>
        </p:txBody>
      </p:sp>
      <p:sp>
        <p:nvSpPr>
          <p:cNvPr id="7" name="">
            <a:extLst xmlns:a="http://schemas.openxmlformats.org/drawingml/2006/main">
              <a:ext uri="{FF2B5EF4-FFF2-40B4-BE49-F238E27FC236}">
                <a16:creationId xmlns:a16="http://schemas.microsoft.com/office/drawing/2014/main" id="{8359A4C2-44F7-427C-819D-7615883D8F7B}"/>
              </a:ext>
            </a:extLst>
          </p:cNvPr>
          <p:cNvSpPr>
            <a:spLocks xmlns:a="http://schemas.openxmlformats.org/drawingml/2006/main" noGrp="1"/>
          </p:cNvSpPr>
          <p:nvPr/>
        </p:nvSpPr>
        <p:spPr>
          <a:xfrm xmlns:a="http://schemas.openxmlformats.org/drawingml/2006/main">
            <a:off x="1066800" y="4667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FFFFFF"/>
                </a:solidFill>
              </a:defRPr>
            </a:pPr>
            <a:r>
              <a:rPr sz="1725" b="0" i="0">
                <a:solidFill>
                  <a:srgbClr val="FFFFFF"/>
                </a:solidFill>
              </a:rPr>
              <a:t>Mauricio Leonel Martínez</a:t>
            </a:r>
          </a:p>
        </p:txBody>
      </p:sp>
      <p:sp>
        <p:nvSpPr>
          <p:cNvPr id="8" name="">
            <a:extLst xmlns:a="http://schemas.openxmlformats.org/drawingml/2006/main">
              <a:ext uri="{FF2B5EF4-FFF2-40B4-BE49-F238E27FC236}">
                <a16:creationId xmlns:a16="http://schemas.microsoft.com/office/drawing/2014/main" id="{FD246EB1-0464-43BC-A771-F3AB592CB9EA}"/>
              </a:ext>
            </a:extLst>
          </p:cNvPr>
          <p:cNvSpPr>
            <a:spLocks xmlns:a="http://schemas.openxmlformats.org/drawingml/2006/main" noGrp="1"/>
          </p:cNvSpPr>
          <p:nvPr/>
        </p:nvSpPr>
        <p:spPr>
          <a:xfrm xmlns:a="http://schemas.openxmlformats.org/drawingml/2006/main">
            <a:off x="1066800" y="5219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DCECF8"/>
                </a:solidFill>
              </a:defRPr>
            </a:pPr>
            <a:r>
              <a:rPr sz="1275" b="0" i="0">
                <a:solidFill>
                  <a:srgbClr val="DCECF8"/>
                </a:solidFill>
              </a:rPr>
              <a:t>Técnicas avanzadas de análisis de datos | 2026</a:t>
            </a:r>
          </a:p>
        </p:txBody>
      </p:sp>
      <p:sp>
        <p:nvSpPr>
          <p:cNvPr id="9" name="">
            <a:extLst xmlns:a="http://schemas.openxmlformats.org/drawingml/2006/main">
              <a:ext uri="{FF2B5EF4-FFF2-40B4-BE49-F238E27FC236}">
                <a16:creationId xmlns:a16="http://schemas.microsoft.com/office/drawing/2014/main" id="{9C3D351D-DA9F-4F3B-B8DE-49B88F3EC930}"/>
              </a:ext>
            </a:extLst>
          </p:cNvPr>
          <p:cNvSpPr>
            <a:spLocks xmlns:a="http://schemas.openxmlformats.org/drawingml/2006/main" noGrp="1"/>
          </p:cNvSpPr>
          <p:nvPr/>
        </p:nvSpPr>
        <p:spPr>
          <a:xfrm xmlns:a="http://schemas.openxmlformats.org/drawingml/2006/main">
            <a:off x="11144250" y="64198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DCECF8"/>
                </a:solidFill>
              </a:defRPr>
            </a:pPr>
            <a:r>
              <a:rPr sz="900" b="0" i="0">
                <a:solidFill>
                  <a:srgbClr val="DCECF8"/>
                </a:solidFill>
              </a:rPr>
              <a:t>1</a:t>
            </a:r>
          </a:p>
        </p:txBody>
      </p:sp>
    </p:spTree>
    <p:extLst>
      <p:ext uri="{BB962C8B-B14F-4D97-AF65-F5344CB8AC3E}">
        <p14:creationId xmlns:p14="http://schemas.microsoft.com/office/powerpoint/2010/main" val="4551411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B87749-A1C2-4C44-BC16-64840699342A}"/>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D62707C9-4F40-4420-A3E2-12B3431EA9DD}"/>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El desafío fue detectar una clase peligrosa muy minoritaria</a:t>
            </a:r>
          </a:p>
        </p:txBody>
      </p:sp>
      <p:sp>
        <p:nvSpPr>
          <p:cNvPr id="3" name="">
            <a:extLst xmlns:a="http://schemas.openxmlformats.org/drawingml/2006/main">
              <a:ext uri="{FF2B5EF4-FFF2-40B4-BE49-F238E27FC236}">
                <a16:creationId xmlns:a16="http://schemas.microsoft.com/office/drawing/2014/main" id="{030BB048-732A-4CDE-BC96-C50000A2FBBE}"/>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0DEAEDB1-5E9A-479E-B25A-891906C6BBBE}"/>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C7E0F839-4CC2-46A3-ABDD-92F7454534B4}"/>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2</a:t>
            </a:r>
          </a:p>
        </p:txBody>
      </p:sp>
      <p:sp>
        <p:nvSpPr>
          <p:cNvPr id="6" name="">
            <a:extLst xmlns:a="http://schemas.openxmlformats.org/drawingml/2006/main">
              <a:ext uri="{FF2B5EF4-FFF2-40B4-BE49-F238E27FC236}">
                <a16:creationId xmlns:a16="http://schemas.microsoft.com/office/drawing/2014/main" id="{2D169610-6083-4C29-BBCE-FBAD932B2072}"/>
              </a:ext>
            </a:extLst>
          </p:cNvPr>
          <p:cNvSpPr>
            <a:spLocks xmlns:a="http://schemas.openxmlformats.org/drawingml/2006/main" noGrp="1"/>
          </p:cNvSpPr>
          <p:nvPr/>
        </p:nvSpPr>
        <p:spPr>
          <a:xfrm xmlns:a="http://schemas.openxmlformats.org/drawingml/2006/main">
            <a:off x="876300" y="1447800"/>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i="0">
                <a:solidFill>
                  <a:srgbClr val="1E6FB9"/>
                </a:solidFill>
              </a:defRPr>
            </a:pPr>
            <a:r>
              <a:rPr sz="5400" b="1" i="0">
                <a:solidFill>
                  <a:srgbClr val="1E6FB9"/>
                </a:solidFill>
              </a:rPr>
              <a:t>6,58%</a:t>
            </a:r>
          </a:p>
        </p:txBody>
      </p:sp>
      <p:sp>
        <p:nvSpPr>
          <p:cNvPr id="7" name="">
            <a:extLst xmlns:a="http://schemas.openxmlformats.org/drawingml/2006/main">
              <a:ext uri="{FF2B5EF4-FFF2-40B4-BE49-F238E27FC236}">
                <a16:creationId xmlns:a16="http://schemas.microsoft.com/office/drawing/2014/main" id="{2E49692A-5E07-4EAD-8D39-5D2DCAC79261}"/>
              </a:ext>
            </a:extLst>
          </p:cNvPr>
          <p:cNvSpPr>
            <a:spLocks xmlns:a="http://schemas.openxmlformats.org/drawingml/2006/main" noGrp="1"/>
          </p:cNvSpPr>
          <p:nvPr/>
        </p:nvSpPr>
        <p:spPr>
          <a:xfrm xmlns:a="http://schemas.openxmlformats.org/drawingml/2006/main">
            <a:off x="914400" y="245745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i="0">
                <a:solidFill>
                  <a:srgbClr val="24313D"/>
                </a:solidFill>
              </a:defRPr>
            </a:pPr>
            <a:r>
              <a:rPr sz="1950" b="0" i="0">
                <a:solidFill>
                  <a:srgbClr val="24313D"/>
                </a:solidFill>
              </a:rPr>
              <a:t>de los registros corresponden a eventos peligrosos</a:t>
            </a:r>
          </a:p>
        </p:txBody>
      </p:sp>
      <p:sp>
        <p:nvSpPr>
          <p:cNvPr id="8" name="">
            <a:extLst xmlns:a="http://schemas.openxmlformats.org/drawingml/2006/main">
              <a:ext uri="{FF2B5EF4-FFF2-40B4-BE49-F238E27FC236}">
                <a16:creationId xmlns:a16="http://schemas.microsoft.com/office/drawing/2014/main" id="{970EB315-8C76-499D-B51A-32F0F2E1C74B}"/>
              </a:ext>
            </a:extLst>
          </p:cNvPr>
          <p:cNvSpPr>
            <a:spLocks xmlns:a="http://schemas.openxmlformats.org/drawingml/2006/main" noGrp="1"/>
          </p:cNvSpPr>
          <p:nvPr/>
        </p:nvSpPr>
        <p:spPr>
          <a:xfrm xmlns:a="http://schemas.openxmlformats.org/drawingml/2006/main">
            <a:off x="895350" y="3352800"/>
            <a:ext cx="3143250" cy="38100"/>
          </a:xfrm>
          <a:prstGeom xmlns:a="http://schemas.openxmlformats.org/drawingml/2006/main" prst="rect">
            <a:avLst/>
          </a:prstGeom>
          <a:solidFill xmlns:a="http://schemas.openxmlformats.org/drawingml/2006/main">
            <a:srgbClr val="D99A21"/>
          </a:solidFill>
          <a:ln xmlns:a="http://schemas.openxmlformats.org/drawingml/2006/main" w="0">
            <a:solidFill>
              <a:srgbClr val="D99A21"/>
            </a:solidFill>
            <a:prstDash val="solid"/>
          </a:ln>
        </p:spPr>
      </p:sp>
      <p:sp>
        <p:nvSpPr>
          <p:cNvPr id="9" name="">
            <a:extLst xmlns:a="http://schemas.openxmlformats.org/drawingml/2006/main">
              <a:ext uri="{FF2B5EF4-FFF2-40B4-BE49-F238E27FC236}">
                <a16:creationId xmlns:a16="http://schemas.microsoft.com/office/drawing/2014/main" id="{CC89456B-71B4-4DD7-80CC-7B366AAE4C72}"/>
              </a:ext>
            </a:extLst>
          </p:cNvPr>
          <p:cNvSpPr>
            <a:spLocks xmlns:a="http://schemas.openxmlformats.org/drawingml/2006/main" noGrp="1"/>
          </p:cNvSpPr>
          <p:nvPr/>
        </p:nvSpPr>
        <p:spPr>
          <a:xfrm xmlns:a="http://schemas.openxmlformats.org/drawingml/2006/main">
            <a:off x="895350" y="3714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45B"/>
                </a:solidFill>
              </a:defRPr>
            </a:pPr>
            <a:r>
              <a:rPr sz="1650" b="1" i="0">
                <a:solidFill>
                  <a:srgbClr val="12345B"/>
                </a:solidFill>
              </a:rPr>
              <a:t>Pregunta central</a:t>
            </a:r>
          </a:p>
        </p:txBody>
      </p:sp>
      <p:sp>
        <p:nvSpPr>
          <p:cNvPr id="10" name="">
            <a:extLst xmlns:a="http://schemas.openxmlformats.org/drawingml/2006/main">
              <a:ext uri="{FF2B5EF4-FFF2-40B4-BE49-F238E27FC236}">
                <a16:creationId xmlns:a16="http://schemas.microsoft.com/office/drawing/2014/main" id="{EE41B6EB-0EE0-4430-9DA1-04027E6AEB5B}"/>
              </a:ext>
            </a:extLst>
          </p:cNvPr>
          <p:cNvSpPr>
            <a:spLocks xmlns:a="http://schemas.openxmlformats.org/drawingml/2006/main" noGrp="1"/>
          </p:cNvSpPr>
          <p:nvPr/>
        </p:nvSpPr>
        <p:spPr>
          <a:xfrm xmlns:a="http://schemas.openxmlformats.org/drawingml/2006/main">
            <a:off x="895350" y="411480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24313D"/>
                </a:solidFill>
              </a:defRPr>
            </a:pPr>
            <a:r>
              <a:rPr sz="1875" b="0" i="0">
                <a:solidFill>
                  <a:srgbClr val="24313D"/>
                </a:solidFill>
              </a:rPr>
              <a:t>¿Qué modelo reduce mejor las omisiones de la clase 1 bajo una evaluación común?</a:t>
            </a:r>
          </a:p>
        </p:txBody>
      </p:sp>
      <p:sp>
        <p:nvSpPr>
          <p:cNvPr id="11" name="">
            <a:extLst xmlns:a="http://schemas.openxmlformats.org/drawingml/2006/main">
              <a:ext uri="{FF2B5EF4-FFF2-40B4-BE49-F238E27FC236}">
                <a16:creationId xmlns:a16="http://schemas.microsoft.com/office/drawing/2014/main" id="{2B57013C-8CA2-4399-AAAA-E255AE3A7399}"/>
              </a:ext>
            </a:extLst>
          </p:cNvPr>
          <p:cNvSpPr>
            <a:spLocks xmlns:a="http://schemas.openxmlformats.org/drawingml/2006/main" noGrp="1"/>
          </p:cNvSpPr>
          <p:nvPr/>
        </p:nvSpPr>
        <p:spPr>
          <a:xfrm xmlns:a="http://schemas.openxmlformats.org/drawingml/2006/main">
            <a:off x="5943600" y="1390650"/>
            <a:ext cx="4953000" cy="3962400"/>
          </a:xfrm>
          <a:prstGeom xmlns:a="http://schemas.openxmlformats.org/drawingml/2006/main" prst="roundRect">
            <a:avLst>
              <a:gd name="adj" fmla="val 2885"/>
            </a:avLst>
          </a:prstGeom>
          <a:solidFill xmlns:a="http://schemas.openxmlformats.org/drawingml/2006/main">
            <a:srgbClr val="F4F7FA"/>
          </a:solidFill>
          <a:ln xmlns:a="http://schemas.openxmlformats.org/drawingml/2006/main" w="0">
            <a:solidFill>
              <a:srgbClr val="D9E1E8"/>
            </a:solidFill>
            <a:prstDash val="solid"/>
          </a:ln>
        </p:spPr>
      </p:sp>
      <p:sp>
        <p:nvSpPr>
          <p:cNvPr id="12" name="">
            <a:extLst xmlns:a="http://schemas.openxmlformats.org/drawingml/2006/main">
              <a:ext uri="{FF2B5EF4-FFF2-40B4-BE49-F238E27FC236}">
                <a16:creationId xmlns:a16="http://schemas.microsoft.com/office/drawing/2014/main" id="{28D28E2C-018C-4DC0-89E2-08B20FF0F9AF}"/>
              </a:ext>
            </a:extLst>
          </p:cNvPr>
          <p:cNvSpPr>
            <a:spLocks xmlns:a="http://schemas.openxmlformats.org/drawingml/2006/main" noGrp="1"/>
          </p:cNvSpPr>
          <p:nvPr/>
        </p:nvSpPr>
        <p:spPr>
          <a:xfrm xmlns:a="http://schemas.openxmlformats.org/drawingml/2006/main">
            <a:off x="6324600" y="16954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2345B"/>
                </a:solidFill>
              </a:defRPr>
            </a:pPr>
            <a:r>
              <a:rPr sz="2100" b="1" i="0">
                <a:solidFill>
                  <a:srgbClr val="12345B"/>
                </a:solidFill>
              </a:rPr>
              <a:t>Objetivo del proyecto</a:t>
            </a:r>
          </a:p>
        </p:txBody>
      </p:sp>
      <p:sp>
        <p:nvSpPr>
          <p:cNvPr id="13" name="">
            <a:extLst xmlns:a="http://schemas.openxmlformats.org/drawingml/2006/main">
              <a:ext uri="{FF2B5EF4-FFF2-40B4-BE49-F238E27FC236}">
                <a16:creationId xmlns:a16="http://schemas.microsoft.com/office/drawing/2014/main" id="{571F5EDA-C540-4CFF-AB78-F24B5F362D4A}"/>
              </a:ext>
            </a:extLst>
          </p:cNvPr>
          <p:cNvSpPr>
            <a:spLocks xmlns:a="http://schemas.openxmlformats.org/drawingml/2006/main" noGrp="1"/>
          </p:cNvSpPr>
          <p:nvPr/>
        </p:nvSpPr>
        <p:spPr>
          <a:xfrm xmlns:a="http://schemas.openxmlformats.org/drawingml/2006/main">
            <a:off x="6324600" y="2438400"/>
            <a:ext cx="76200" cy="76200"/>
          </a:xfrm>
          <a:prstGeom xmlns:a="http://schemas.openxmlformats.org/drawingml/2006/main" prst="roundRect">
            <a:avLst>
              <a:gd name="adj" fmla="val 50000"/>
            </a:avLst>
          </a:prstGeom>
          <a:solidFill xmlns:a="http://schemas.openxmlformats.org/drawingml/2006/main">
            <a:srgbClr val="1E6FB9"/>
          </a:solidFill>
          <a:ln xmlns:a="http://schemas.openxmlformats.org/drawingml/2006/main" w="0">
            <a:solidFill>
              <a:srgbClr val="1E6FB9"/>
            </a:solidFill>
            <a:prstDash val="solid"/>
          </a:ln>
        </p:spPr>
      </p:sp>
      <p:sp>
        <p:nvSpPr>
          <p:cNvPr id="14" name="">
            <a:extLst xmlns:a="http://schemas.openxmlformats.org/drawingml/2006/main">
              <a:ext uri="{FF2B5EF4-FFF2-40B4-BE49-F238E27FC236}">
                <a16:creationId xmlns:a16="http://schemas.microsoft.com/office/drawing/2014/main" id="{E4A89D34-07D7-4E45-A1D6-D4595947D015}"/>
              </a:ext>
            </a:extLst>
          </p:cNvPr>
          <p:cNvSpPr>
            <a:spLocks xmlns:a="http://schemas.openxmlformats.org/drawingml/2006/main" noGrp="1"/>
          </p:cNvSpPr>
          <p:nvPr/>
        </p:nvSpPr>
        <p:spPr>
          <a:xfrm xmlns:a="http://schemas.openxmlformats.org/drawingml/2006/main">
            <a:off x="6553200" y="2324100"/>
            <a:ext cx="3771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4313D"/>
                </a:solidFill>
              </a:defRPr>
            </a:pPr>
            <a:r>
              <a:rPr sz="1650" b="0" i="0">
                <a:solidFill>
                  <a:srgbClr val="24313D"/>
                </a:solidFill>
              </a:rPr>
              <a:t>Comparar cuatro algoritmos de clasificación supervisada.</a:t>
            </a:r>
          </a:p>
        </p:txBody>
      </p:sp>
      <p:sp>
        <p:nvSpPr>
          <p:cNvPr id="15" name="">
            <a:extLst xmlns:a="http://schemas.openxmlformats.org/drawingml/2006/main">
              <a:ext uri="{FF2B5EF4-FFF2-40B4-BE49-F238E27FC236}">
                <a16:creationId xmlns:a16="http://schemas.microsoft.com/office/drawing/2014/main" id="{247967F4-0529-4929-A69D-BA6050C13AFA}"/>
              </a:ext>
            </a:extLst>
          </p:cNvPr>
          <p:cNvSpPr>
            <a:spLocks xmlns:a="http://schemas.openxmlformats.org/drawingml/2006/main" noGrp="1"/>
          </p:cNvSpPr>
          <p:nvPr/>
        </p:nvSpPr>
        <p:spPr>
          <a:xfrm xmlns:a="http://schemas.openxmlformats.org/drawingml/2006/main">
            <a:off x="6324600" y="3200400"/>
            <a:ext cx="76200" cy="76200"/>
          </a:xfrm>
          <a:prstGeom xmlns:a="http://schemas.openxmlformats.org/drawingml/2006/main" prst="roundRect">
            <a:avLst>
              <a:gd name="adj" fmla="val 50000"/>
            </a:avLst>
          </a:prstGeom>
          <a:solidFill xmlns:a="http://schemas.openxmlformats.org/drawingml/2006/main">
            <a:srgbClr val="1E6FB9"/>
          </a:solidFill>
          <a:ln xmlns:a="http://schemas.openxmlformats.org/drawingml/2006/main" w="0">
            <a:solidFill>
              <a:srgbClr val="1E6FB9"/>
            </a:solidFill>
            <a:prstDash val="solid"/>
          </a:ln>
        </p:spPr>
      </p:sp>
      <p:sp>
        <p:nvSpPr>
          <p:cNvPr id="16" name="">
            <a:extLst xmlns:a="http://schemas.openxmlformats.org/drawingml/2006/main">
              <a:ext uri="{FF2B5EF4-FFF2-40B4-BE49-F238E27FC236}">
                <a16:creationId xmlns:a16="http://schemas.microsoft.com/office/drawing/2014/main" id="{CF4D859D-E2D4-42A9-805C-CDF47BADA8B4}"/>
              </a:ext>
            </a:extLst>
          </p:cNvPr>
          <p:cNvSpPr>
            <a:spLocks xmlns:a="http://schemas.openxmlformats.org/drawingml/2006/main" noGrp="1"/>
          </p:cNvSpPr>
          <p:nvPr/>
        </p:nvSpPr>
        <p:spPr>
          <a:xfrm xmlns:a="http://schemas.openxmlformats.org/drawingml/2006/main">
            <a:off x="6553200" y="3086100"/>
            <a:ext cx="377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4313D"/>
                </a:solidFill>
              </a:defRPr>
            </a:pPr>
            <a:r>
              <a:rPr sz="1650" b="0" i="0">
                <a:solidFill>
                  <a:srgbClr val="24313D"/>
                </a:solidFill>
              </a:rPr>
              <a:t>Evaluar accuracy, AUC, precisión, recall, F1 y matrices de confusión.</a:t>
            </a:r>
          </a:p>
        </p:txBody>
      </p:sp>
      <p:sp>
        <p:nvSpPr>
          <p:cNvPr id="17" name="">
            <a:extLst xmlns:a="http://schemas.openxmlformats.org/drawingml/2006/main">
              <a:ext uri="{FF2B5EF4-FFF2-40B4-BE49-F238E27FC236}">
                <a16:creationId xmlns:a16="http://schemas.microsoft.com/office/drawing/2014/main" id="{DD3484A6-58BD-491E-B9D2-DA4BA616ECC1}"/>
              </a:ext>
            </a:extLst>
          </p:cNvPr>
          <p:cNvSpPr>
            <a:spLocks xmlns:a="http://schemas.openxmlformats.org/drawingml/2006/main" noGrp="1"/>
          </p:cNvSpPr>
          <p:nvPr/>
        </p:nvSpPr>
        <p:spPr>
          <a:xfrm xmlns:a="http://schemas.openxmlformats.org/drawingml/2006/main">
            <a:off x="6324600" y="4171950"/>
            <a:ext cx="76200" cy="76200"/>
          </a:xfrm>
          <a:prstGeom xmlns:a="http://schemas.openxmlformats.org/drawingml/2006/main" prst="roundRect">
            <a:avLst>
              <a:gd name="adj" fmla="val 50000"/>
            </a:avLst>
          </a:prstGeom>
          <a:solidFill xmlns:a="http://schemas.openxmlformats.org/drawingml/2006/main">
            <a:srgbClr val="1E6FB9"/>
          </a:solidFill>
          <a:ln xmlns:a="http://schemas.openxmlformats.org/drawingml/2006/main" w="0">
            <a:solidFill>
              <a:srgbClr val="1E6FB9"/>
            </a:solidFill>
            <a:prstDash val="solid"/>
          </a:ln>
        </p:spPr>
      </p:sp>
      <p:sp>
        <p:nvSpPr>
          <p:cNvPr id="18" name="">
            <a:extLst xmlns:a="http://schemas.openxmlformats.org/drawingml/2006/main">
              <a:ext uri="{FF2B5EF4-FFF2-40B4-BE49-F238E27FC236}">
                <a16:creationId xmlns:a16="http://schemas.microsoft.com/office/drawing/2014/main" id="{0DCA738C-9BE7-478A-ABA2-C680E943AE7E}"/>
              </a:ext>
            </a:extLst>
          </p:cNvPr>
          <p:cNvSpPr>
            <a:spLocks xmlns:a="http://schemas.openxmlformats.org/drawingml/2006/main" noGrp="1"/>
          </p:cNvSpPr>
          <p:nvPr/>
        </p:nvSpPr>
        <p:spPr>
          <a:xfrm xmlns:a="http://schemas.openxmlformats.org/drawingml/2006/main">
            <a:off x="6553200" y="4057650"/>
            <a:ext cx="3771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4313D"/>
                </a:solidFill>
              </a:defRPr>
            </a:pPr>
            <a:r>
              <a:rPr sz="1650" b="0" i="0">
                <a:solidFill>
                  <a:srgbClr val="24313D"/>
                </a:solidFill>
              </a:rPr>
              <a:t>Analizar SMOTE sin modificar el conjunto de prueba.</a:t>
            </a:r>
          </a:p>
        </p:txBody>
      </p:sp>
    </p:spTree>
    <p:extLst>
      <p:ext uri="{BB962C8B-B14F-4D97-AF65-F5344CB8AC3E}">
        <p14:creationId xmlns:p14="http://schemas.microsoft.com/office/powerpoint/2010/main" val="16476172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B587E5-E266-4F5D-8349-A3D0EF2477C6}"/>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962FC009-B16F-4FE9-B842-20DA0179A602}"/>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2345B"/>
                </a:solidFill>
              </a:defRPr>
            </a:pPr>
            <a:r>
              <a:rPr sz="2850" b="1" i="0">
                <a:solidFill>
                  <a:srgbClr val="12345B"/>
                </a:solidFill>
              </a:rPr>
              <a:t>Seismic-Bumps contiene 2584 registros y 18 predictores</a:t>
            </a:r>
          </a:p>
        </p:txBody>
      </p:sp>
      <p:sp>
        <p:nvSpPr>
          <p:cNvPr id="3" name="">
            <a:extLst xmlns:a="http://schemas.openxmlformats.org/drawingml/2006/main">
              <a:ext uri="{FF2B5EF4-FFF2-40B4-BE49-F238E27FC236}">
                <a16:creationId xmlns:a16="http://schemas.microsoft.com/office/drawing/2014/main" id="{24455D39-0C53-43B7-8B83-71062A197D8E}"/>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846F6F31-A7BF-40C2-8F89-93811CC4BC65}"/>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5B2C26FA-F5AA-43ED-9362-E2BA1F3B0927}"/>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3</a:t>
            </a:r>
          </a:p>
        </p:txBody>
      </p:sp>
      <p:sp>
        <p:nvSpPr>
          <p:cNvPr id="6" name="">
            <a:extLst xmlns:a="http://schemas.openxmlformats.org/drawingml/2006/main">
              <a:ext uri="{FF2B5EF4-FFF2-40B4-BE49-F238E27FC236}">
                <a16:creationId xmlns:a16="http://schemas.microsoft.com/office/drawing/2014/main" id="{63EDE1D5-9C0D-4F28-BEA0-841F58059FBA}"/>
              </a:ext>
            </a:extLst>
          </p:cNvPr>
          <p:cNvSpPr>
            <a:spLocks xmlns:a="http://schemas.openxmlformats.org/drawingml/2006/main" noGrp="1"/>
          </p:cNvSpPr>
          <p:nvPr/>
        </p:nvSpPr>
        <p:spPr>
          <a:xfrm xmlns:a="http://schemas.openxmlformats.org/drawingml/2006/main">
            <a:off x="647700" y="1390650"/>
            <a:ext cx="7048500" cy="3924300"/>
          </a:xfrm>
          <a:prstGeom xmlns:a="http://schemas.openxmlformats.org/drawingml/2006/main" prst="roundRect">
            <a:avLst>
              <a:gd name="adj" fmla="val 2913"/>
            </a:avLst>
          </a:prstGeom>
          <a:solidFill xmlns:a="http://schemas.openxmlformats.org/drawingml/2006/main">
            <a:srgbClr val="F4F7FA"/>
          </a:solidFill>
          <a:ln xmlns:a="http://schemas.openxmlformats.org/drawingml/2006/main" w="0">
            <a:solidFill>
              <a:srgbClr val="D9E1E8"/>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500e308c1d94269"/>
          <a:stretch xmlns:a="http://schemas.openxmlformats.org/drawingml/2006/main"/>
        </p:blipFill>
        <p:spPr>
          <a:xfrm xmlns:a="http://schemas.openxmlformats.org/drawingml/2006/main">
            <a:off x="742950" y="1585604"/>
            <a:ext cx="6858000" cy="353439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B84DE73-B82A-426C-A42C-167BE2B9C162}"/>
              </a:ext>
            </a:extLst>
          </p:cNvPr>
          <p:cNvSpPr>
            <a:spLocks xmlns:a="http://schemas.openxmlformats.org/drawingml/2006/main" noGrp="1"/>
          </p:cNvSpPr>
          <p:nvPr/>
        </p:nvSpPr>
        <p:spPr>
          <a:xfrm xmlns:a="http://schemas.openxmlformats.org/drawingml/2006/main">
            <a:off x="8096250" y="16002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12345B"/>
                </a:solidFill>
              </a:defRPr>
            </a:pPr>
            <a:r>
              <a:rPr sz="3600" b="1" i="0">
                <a:solidFill>
                  <a:srgbClr val="12345B"/>
                </a:solidFill>
              </a:rPr>
              <a:t>2414</a:t>
            </a:r>
          </a:p>
        </p:txBody>
      </p:sp>
      <p:sp>
        <p:nvSpPr>
          <p:cNvPr id="9" name="">
            <a:extLst xmlns:a="http://schemas.openxmlformats.org/drawingml/2006/main">
              <a:ext uri="{FF2B5EF4-FFF2-40B4-BE49-F238E27FC236}">
                <a16:creationId xmlns:a16="http://schemas.microsoft.com/office/drawing/2014/main" id="{5197E096-6FDE-45C2-892D-8F3CF821896A}"/>
              </a:ext>
            </a:extLst>
          </p:cNvPr>
          <p:cNvSpPr>
            <a:spLocks xmlns:a="http://schemas.openxmlformats.org/drawingml/2006/main" noGrp="1"/>
          </p:cNvSpPr>
          <p:nvPr/>
        </p:nvSpPr>
        <p:spPr>
          <a:xfrm xmlns:a="http://schemas.openxmlformats.org/drawingml/2006/main">
            <a:off x="8096250" y="21336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5E6B78"/>
                </a:solidFill>
              </a:defRPr>
            </a:pPr>
            <a:r>
              <a:rPr sz="1650" b="0" i="0">
                <a:solidFill>
                  <a:srgbClr val="5E6B78"/>
                </a:solidFill>
              </a:rPr>
              <a:t>turnos no peligrosos</a:t>
            </a:r>
          </a:p>
        </p:txBody>
      </p:sp>
      <p:sp>
        <p:nvSpPr>
          <p:cNvPr id="10" name="">
            <a:extLst xmlns:a="http://schemas.openxmlformats.org/drawingml/2006/main">
              <a:ext uri="{FF2B5EF4-FFF2-40B4-BE49-F238E27FC236}">
                <a16:creationId xmlns:a16="http://schemas.microsoft.com/office/drawing/2014/main" id="{3DF12863-6705-4CAD-96F5-7336CF9E5A89}"/>
              </a:ext>
            </a:extLst>
          </p:cNvPr>
          <p:cNvSpPr>
            <a:spLocks xmlns:a="http://schemas.openxmlformats.org/drawingml/2006/main" noGrp="1"/>
          </p:cNvSpPr>
          <p:nvPr/>
        </p:nvSpPr>
        <p:spPr>
          <a:xfrm xmlns:a="http://schemas.openxmlformats.org/drawingml/2006/main">
            <a:off x="8096250" y="2724150"/>
            <a:ext cx="28575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11" name="">
            <a:extLst xmlns:a="http://schemas.openxmlformats.org/drawingml/2006/main">
              <a:ext uri="{FF2B5EF4-FFF2-40B4-BE49-F238E27FC236}">
                <a16:creationId xmlns:a16="http://schemas.microsoft.com/office/drawing/2014/main" id="{954D393B-D8B8-44EE-8BB4-B354DA57A156}"/>
              </a:ext>
            </a:extLst>
          </p:cNvPr>
          <p:cNvSpPr>
            <a:spLocks xmlns:a="http://schemas.openxmlformats.org/drawingml/2006/main" noGrp="1"/>
          </p:cNvSpPr>
          <p:nvPr/>
        </p:nvSpPr>
        <p:spPr>
          <a:xfrm xmlns:a="http://schemas.openxmlformats.org/drawingml/2006/main">
            <a:off x="8096250" y="30099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B3403C"/>
                </a:solidFill>
              </a:defRPr>
            </a:pPr>
            <a:r>
              <a:rPr sz="3600" b="1" i="0">
                <a:solidFill>
                  <a:srgbClr val="B3403C"/>
                </a:solidFill>
              </a:rPr>
              <a:t>170</a:t>
            </a:r>
          </a:p>
        </p:txBody>
      </p:sp>
      <p:sp>
        <p:nvSpPr>
          <p:cNvPr id="12" name="">
            <a:extLst xmlns:a="http://schemas.openxmlformats.org/drawingml/2006/main">
              <a:ext uri="{FF2B5EF4-FFF2-40B4-BE49-F238E27FC236}">
                <a16:creationId xmlns:a16="http://schemas.microsoft.com/office/drawing/2014/main" id="{4B60AE3E-BE09-4F9F-B80E-61B7BC182CCD}"/>
              </a:ext>
            </a:extLst>
          </p:cNvPr>
          <p:cNvSpPr>
            <a:spLocks xmlns:a="http://schemas.openxmlformats.org/drawingml/2006/main" noGrp="1"/>
          </p:cNvSpPr>
          <p:nvPr/>
        </p:nvSpPr>
        <p:spPr>
          <a:xfrm xmlns:a="http://schemas.openxmlformats.org/drawingml/2006/main">
            <a:off x="8096250" y="35433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5E6B78"/>
                </a:solidFill>
              </a:defRPr>
            </a:pPr>
            <a:r>
              <a:rPr sz="1650" b="0" i="0">
                <a:solidFill>
                  <a:srgbClr val="5E6B78"/>
                </a:solidFill>
              </a:rPr>
              <a:t>turnos peligrosos</a:t>
            </a:r>
          </a:p>
        </p:txBody>
      </p:sp>
      <p:sp>
        <p:nvSpPr>
          <p:cNvPr id="13" name="">
            <a:extLst xmlns:a="http://schemas.openxmlformats.org/drawingml/2006/main">
              <a:ext uri="{FF2B5EF4-FFF2-40B4-BE49-F238E27FC236}">
                <a16:creationId xmlns:a16="http://schemas.microsoft.com/office/drawing/2014/main" id="{89729EA1-914B-4950-8CB3-2AF403C6384E}"/>
              </a:ext>
            </a:extLst>
          </p:cNvPr>
          <p:cNvSpPr>
            <a:spLocks xmlns:a="http://schemas.openxmlformats.org/drawingml/2006/main" noGrp="1"/>
          </p:cNvSpPr>
          <p:nvPr/>
        </p:nvSpPr>
        <p:spPr>
          <a:xfrm xmlns:a="http://schemas.openxmlformats.org/drawingml/2006/main">
            <a:off x="8096250" y="4133850"/>
            <a:ext cx="28575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14" name="">
            <a:extLst xmlns:a="http://schemas.openxmlformats.org/drawingml/2006/main">
              <a:ext uri="{FF2B5EF4-FFF2-40B4-BE49-F238E27FC236}">
                <a16:creationId xmlns:a16="http://schemas.microsoft.com/office/drawing/2014/main" id="{A460B4C4-C819-4EF3-AEFF-A55F39096C12}"/>
              </a:ext>
            </a:extLst>
          </p:cNvPr>
          <p:cNvSpPr>
            <a:spLocks xmlns:a="http://schemas.openxmlformats.org/drawingml/2006/main" noGrp="1"/>
          </p:cNvSpPr>
          <p:nvPr/>
        </p:nvSpPr>
        <p:spPr>
          <a:xfrm xmlns:a="http://schemas.openxmlformats.org/drawingml/2006/main">
            <a:off x="80962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E7C66"/>
                </a:solidFill>
              </a:defRPr>
            </a:pPr>
            <a:r>
              <a:rPr sz="1650" b="1" i="0">
                <a:solidFill>
                  <a:srgbClr val="0E7C66"/>
                </a:solidFill>
              </a:rPr>
              <a:t>Sin valores faltantes declarados</a:t>
            </a:r>
          </a:p>
        </p:txBody>
      </p:sp>
      <p:sp>
        <p:nvSpPr>
          <p:cNvPr id="15" name="">
            <a:extLst xmlns:a="http://schemas.openxmlformats.org/drawingml/2006/main">
              <a:ext uri="{FF2B5EF4-FFF2-40B4-BE49-F238E27FC236}">
                <a16:creationId xmlns:a16="http://schemas.microsoft.com/office/drawing/2014/main" id="{71192925-7B3B-4D5D-96E6-81BD336446C5}"/>
              </a:ext>
            </a:extLst>
          </p:cNvPr>
          <p:cNvSpPr>
            <a:spLocks xmlns:a="http://schemas.openxmlformats.org/drawingml/2006/main" noGrp="1"/>
          </p:cNvSpPr>
          <p:nvPr/>
        </p:nvSpPr>
        <p:spPr>
          <a:xfrm xmlns:a="http://schemas.openxmlformats.org/drawingml/2006/main">
            <a:off x="781050" y="5581650"/>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45B"/>
                </a:solidFill>
              </a:defRPr>
            </a:pPr>
            <a:r>
              <a:rPr sz="1725" b="1" i="0">
                <a:solidFill>
                  <a:srgbClr val="12345B"/>
                </a:solidFill>
              </a:rPr>
              <a:t>La evaluación debía conservar este desbalance en Testing.</a:t>
            </a:r>
          </a:p>
        </p:txBody>
      </p:sp>
    </p:spTree>
    <p:extLst>
      <p:ext uri="{BB962C8B-B14F-4D97-AF65-F5344CB8AC3E}">
        <p14:creationId xmlns:p14="http://schemas.microsoft.com/office/powerpoint/2010/main" val="7693006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E6125D-3C20-4E55-93C4-8ECDE776F465}"/>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D4C98699-7DFD-4E55-B028-985C17BE5880}"/>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La evaluación usó validación cruzada estratificada</a:t>
            </a:r>
          </a:p>
        </p:txBody>
      </p:sp>
      <p:sp>
        <p:nvSpPr>
          <p:cNvPr id="3" name="">
            <a:extLst xmlns:a="http://schemas.openxmlformats.org/drawingml/2006/main">
              <a:ext uri="{FF2B5EF4-FFF2-40B4-BE49-F238E27FC236}">
                <a16:creationId xmlns:a16="http://schemas.microsoft.com/office/drawing/2014/main" id="{A3D90074-B190-499B-A9A4-A85FF828039D}"/>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9162E2C0-5E22-4FFB-8C49-1E08942813F7}"/>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9962FA31-A1DC-421A-8972-16A110C7C85C}"/>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4</a:t>
            </a:r>
          </a:p>
        </p:txBody>
      </p:sp>
      <p:sp>
        <p:nvSpPr>
          <p:cNvPr id="6" name="">
            <a:extLst xmlns:a="http://schemas.openxmlformats.org/drawingml/2006/main">
              <a:ext uri="{FF2B5EF4-FFF2-40B4-BE49-F238E27FC236}">
                <a16:creationId xmlns:a16="http://schemas.microsoft.com/office/drawing/2014/main" id="{727B616F-29E5-493D-AA5D-06637493E070}"/>
              </a:ext>
            </a:extLst>
          </p:cNvPr>
          <p:cNvSpPr>
            <a:spLocks xmlns:a="http://schemas.openxmlformats.org/drawingml/2006/main" noGrp="1"/>
          </p:cNvSpPr>
          <p:nvPr/>
        </p:nvSpPr>
        <p:spPr>
          <a:xfrm xmlns:a="http://schemas.openxmlformats.org/drawingml/2006/main">
            <a:off x="819150" y="13716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45B"/>
                </a:solidFill>
              </a:defRPr>
            </a:pPr>
            <a:r>
              <a:rPr sz="1650" b="1" i="0">
                <a:solidFill>
                  <a:srgbClr val="12345B"/>
                </a:solidFill>
              </a:rPr>
              <a:t>Modelos evaluados</a:t>
            </a:r>
          </a:p>
        </p:txBody>
      </p:sp>
      <p:sp>
        <p:nvSpPr>
          <p:cNvPr id="7" name="">
            <a:extLst xmlns:a="http://schemas.openxmlformats.org/drawingml/2006/main">
              <a:ext uri="{FF2B5EF4-FFF2-40B4-BE49-F238E27FC236}">
                <a16:creationId xmlns:a16="http://schemas.microsoft.com/office/drawing/2014/main" id="{467B70C3-97E0-48E3-BBBC-09207A7DA923}"/>
              </a:ext>
            </a:extLst>
          </p:cNvPr>
          <p:cNvSpPr>
            <a:spLocks xmlns:a="http://schemas.openxmlformats.org/drawingml/2006/main" noGrp="1"/>
          </p:cNvSpPr>
          <p:nvPr/>
        </p:nvSpPr>
        <p:spPr>
          <a:xfrm xmlns:a="http://schemas.openxmlformats.org/drawingml/2006/main">
            <a:off x="819150" y="17716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4313D"/>
                </a:solidFill>
              </a:defRPr>
            </a:pPr>
            <a:r>
              <a:rPr sz="1650" b="0" i="0">
                <a:solidFill>
                  <a:srgbClr val="24313D"/>
                </a:solidFill>
              </a:rPr>
              <a:t>Árbol de decisión  |  Naive Bayes  |  k-NN (k=5)  |  Regresión logística</a:t>
            </a:r>
          </a:p>
        </p:txBody>
      </p:sp>
      <p:sp>
        <p:nvSpPr>
          <p:cNvPr id="8" name="">
            <a:extLst xmlns:a="http://schemas.openxmlformats.org/drawingml/2006/main">
              <a:ext uri="{FF2B5EF4-FFF2-40B4-BE49-F238E27FC236}">
                <a16:creationId xmlns:a16="http://schemas.microsoft.com/office/drawing/2014/main" id="{B5C4B443-630C-46AE-813A-005C3431CB3F}"/>
              </a:ext>
            </a:extLst>
          </p:cNvPr>
          <p:cNvSpPr>
            <a:spLocks xmlns:a="http://schemas.openxmlformats.org/drawingml/2006/main" noGrp="1"/>
          </p:cNvSpPr>
          <p:nvPr/>
        </p:nvSpPr>
        <p:spPr>
          <a:xfrm xmlns:a="http://schemas.openxmlformats.org/drawingml/2006/main">
            <a:off x="1714500" y="2343150"/>
            <a:ext cx="8763000" cy="3105150"/>
          </a:xfrm>
          <a:prstGeom xmlns:a="http://schemas.openxmlformats.org/drawingml/2006/main" prst="roundRect">
            <a:avLst>
              <a:gd name="adj" fmla="val 3681"/>
            </a:avLst>
          </a:prstGeom>
          <a:solidFill xmlns:a="http://schemas.openxmlformats.org/drawingml/2006/main">
            <a:srgbClr val="F4F7FA"/>
          </a:solidFill>
          <a:ln xmlns:a="http://schemas.openxmlformats.org/drawingml/2006/main" w="0">
            <a:solidFill>
              <a:srgbClr val="D9E1E8"/>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14d5e70eff243be"/>
          <a:stretch xmlns:a="http://schemas.openxmlformats.org/drawingml/2006/main"/>
        </p:blipFill>
        <p:spPr>
          <a:xfrm xmlns:a="http://schemas.openxmlformats.org/drawingml/2006/main">
            <a:off x="2844689" y="2438400"/>
            <a:ext cx="6502621" cy="2914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EED46F9-DCB2-4144-B7C0-8CEDB3EC1F28}"/>
              </a:ext>
            </a:extLst>
          </p:cNvPr>
          <p:cNvSpPr>
            <a:spLocks xmlns:a="http://schemas.openxmlformats.org/drawingml/2006/main" noGrp="1"/>
          </p:cNvSpPr>
          <p:nvPr/>
        </p:nvSpPr>
        <p:spPr>
          <a:xfrm xmlns:a="http://schemas.openxmlformats.org/drawingml/2006/main">
            <a:off x="2324100" y="565785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12345B"/>
                </a:solidFill>
              </a:defRPr>
            </a:pPr>
            <a:r>
              <a:rPr sz="1650" b="1" i="0">
                <a:solidFill>
                  <a:srgbClr val="12345B"/>
                </a:solidFill>
              </a:rPr>
              <a:t>Cada modelo se entrenó en Training y se evaluó en Testing.</a:t>
            </a:r>
          </a:p>
        </p:txBody>
      </p:sp>
    </p:spTree>
    <p:extLst>
      <p:ext uri="{BB962C8B-B14F-4D97-AF65-F5344CB8AC3E}">
        <p14:creationId xmlns:p14="http://schemas.microsoft.com/office/powerpoint/2010/main" val="8423287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6655D08-82F1-4E05-AD17-54A802065BA3}"/>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803A5197-1C25-4AC3-9A50-EB8FB93E45D6}"/>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SMOTE se aplicó únicamente dentro de Training</a:t>
            </a:r>
          </a:p>
        </p:txBody>
      </p:sp>
      <p:sp>
        <p:nvSpPr>
          <p:cNvPr id="3" name="">
            <a:extLst xmlns:a="http://schemas.openxmlformats.org/drawingml/2006/main">
              <a:ext uri="{FF2B5EF4-FFF2-40B4-BE49-F238E27FC236}">
                <a16:creationId xmlns:a16="http://schemas.microsoft.com/office/drawing/2014/main" id="{C0B7D3B0-740F-4C2D-A9E7-444D0A712C7D}"/>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433CF8D8-A193-44A1-8E68-0AD2F4ED7EC1}"/>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5C6C7B2F-2328-40B8-8318-01E253F22961}"/>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5</a:t>
            </a:r>
          </a:p>
        </p:txBody>
      </p:sp>
      <p:sp>
        <p:nvSpPr>
          <p:cNvPr id="6" name="">
            <a:extLst xmlns:a="http://schemas.openxmlformats.org/drawingml/2006/main">
              <a:ext uri="{FF2B5EF4-FFF2-40B4-BE49-F238E27FC236}">
                <a16:creationId xmlns:a16="http://schemas.microsoft.com/office/drawing/2014/main" id="{692D3C2B-6AE6-47E0-ACA7-0D86B09E865C}"/>
              </a:ext>
            </a:extLst>
          </p:cNvPr>
          <p:cNvSpPr>
            <a:spLocks xmlns:a="http://schemas.openxmlformats.org/drawingml/2006/main" noGrp="1"/>
          </p:cNvSpPr>
          <p:nvPr/>
        </p:nvSpPr>
        <p:spPr>
          <a:xfrm xmlns:a="http://schemas.openxmlformats.org/drawingml/2006/main">
            <a:off x="685800" y="1371600"/>
            <a:ext cx="10820400" cy="3619500"/>
          </a:xfrm>
          <a:prstGeom xmlns:a="http://schemas.openxmlformats.org/drawingml/2006/main" prst="roundRect">
            <a:avLst>
              <a:gd name="adj" fmla="val 3158"/>
            </a:avLst>
          </a:prstGeom>
          <a:solidFill xmlns:a="http://schemas.openxmlformats.org/drawingml/2006/main">
            <a:srgbClr val="F4F7FA"/>
          </a:solidFill>
          <a:ln xmlns:a="http://schemas.openxmlformats.org/drawingml/2006/main" w="0">
            <a:solidFill>
              <a:srgbClr val="D9E1E8"/>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c94a2ee27284f8d"/>
          <a:stretch xmlns:a="http://schemas.openxmlformats.org/drawingml/2006/main"/>
        </p:blipFill>
        <p:spPr>
          <a:xfrm xmlns:a="http://schemas.openxmlformats.org/drawingml/2006/main">
            <a:off x="1427049" y="1466850"/>
            <a:ext cx="9337902" cy="3429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6A892DC-5156-4240-8CDE-BA2EB87547EB}"/>
              </a:ext>
            </a:extLst>
          </p:cNvPr>
          <p:cNvSpPr>
            <a:spLocks xmlns:a="http://schemas.openxmlformats.org/drawingml/2006/main" noGrp="1"/>
          </p:cNvSpPr>
          <p:nvPr/>
        </p:nvSpPr>
        <p:spPr>
          <a:xfrm xmlns:a="http://schemas.openxmlformats.org/drawingml/2006/main">
            <a:off x="1009650" y="5295900"/>
            <a:ext cx="4457700" cy="666750"/>
          </a:xfrm>
          <a:prstGeom xmlns:a="http://schemas.openxmlformats.org/drawingml/2006/main" prst="roundRect">
            <a:avLst>
              <a:gd name="adj" fmla="val 17143"/>
            </a:avLst>
          </a:prstGeom>
          <a:solidFill xmlns:a="http://schemas.openxmlformats.org/drawingml/2006/main">
            <a:srgbClr val="E6F5F0"/>
          </a:solidFill>
          <a:ln xmlns:a="http://schemas.openxmlformats.org/drawingml/2006/main" w="0">
            <a:solidFill>
              <a:srgbClr val="0E7C66"/>
            </a:solidFill>
            <a:prstDash val="solid"/>
          </a:ln>
        </p:spPr>
      </p:sp>
      <p:sp>
        <p:nvSpPr>
          <p:cNvPr id="9" name="">
            <a:extLst xmlns:a="http://schemas.openxmlformats.org/drawingml/2006/main">
              <a:ext uri="{FF2B5EF4-FFF2-40B4-BE49-F238E27FC236}">
                <a16:creationId xmlns:a16="http://schemas.microsoft.com/office/drawing/2014/main" id="{BBAA422C-83A6-43A1-94FB-21318DD05D59}"/>
              </a:ext>
            </a:extLst>
          </p:cNvPr>
          <p:cNvSpPr>
            <a:spLocks xmlns:a="http://schemas.openxmlformats.org/drawingml/2006/main" noGrp="1"/>
          </p:cNvSpPr>
          <p:nvPr/>
        </p:nvSpPr>
        <p:spPr>
          <a:xfrm xmlns:a="http://schemas.openxmlformats.org/drawingml/2006/main">
            <a:off x="1238250" y="54292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E7C66"/>
                </a:solidFill>
              </a:defRPr>
            </a:pPr>
            <a:r>
              <a:rPr sz="1650" b="1" i="0">
                <a:solidFill>
                  <a:srgbClr val="0E7C66"/>
                </a:solidFill>
              </a:rPr>
              <a:t>Training</a:t>
            </a:r>
          </a:p>
        </p:txBody>
      </p:sp>
      <p:sp>
        <p:nvSpPr>
          <p:cNvPr id="10" name="">
            <a:extLst xmlns:a="http://schemas.openxmlformats.org/drawingml/2006/main">
              <a:ext uri="{FF2B5EF4-FFF2-40B4-BE49-F238E27FC236}">
                <a16:creationId xmlns:a16="http://schemas.microsoft.com/office/drawing/2014/main" id="{F17FCB43-3210-443E-BD8E-0A8D51D1D10F}"/>
              </a:ext>
            </a:extLst>
          </p:cNvPr>
          <p:cNvSpPr>
            <a:spLocks xmlns:a="http://schemas.openxmlformats.org/drawingml/2006/main" noGrp="1"/>
          </p:cNvSpPr>
          <p:nvPr/>
        </p:nvSpPr>
        <p:spPr>
          <a:xfrm xmlns:a="http://schemas.openxmlformats.org/drawingml/2006/main">
            <a:off x="2362200" y="54292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4313D"/>
                </a:solidFill>
              </a:defRPr>
            </a:pPr>
            <a:r>
              <a:rPr sz="1575" b="0" i="0">
                <a:solidFill>
                  <a:srgbClr val="24313D"/>
                </a:solidFill>
              </a:rPr>
              <a:t>incluye ejemplos sintéticos</a:t>
            </a:r>
          </a:p>
        </p:txBody>
      </p:sp>
      <p:sp>
        <p:nvSpPr>
          <p:cNvPr id="11" name="">
            <a:extLst xmlns:a="http://schemas.openxmlformats.org/drawingml/2006/main">
              <a:ext uri="{FF2B5EF4-FFF2-40B4-BE49-F238E27FC236}">
                <a16:creationId xmlns:a16="http://schemas.microsoft.com/office/drawing/2014/main" id="{5AA2E3FA-A025-4F78-9CDF-4A3340BE5513}"/>
              </a:ext>
            </a:extLst>
          </p:cNvPr>
          <p:cNvSpPr>
            <a:spLocks xmlns:a="http://schemas.openxmlformats.org/drawingml/2006/main" noGrp="1"/>
          </p:cNvSpPr>
          <p:nvPr/>
        </p:nvSpPr>
        <p:spPr>
          <a:xfrm xmlns:a="http://schemas.openxmlformats.org/drawingml/2006/main">
            <a:off x="6724650" y="5295900"/>
            <a:ext cx="4457700" cy="666750"/>
          </a:xfrm>
          <a:prstGeom xmlns:a="http://schemas.openxmlformats.org/drawingml/2006/main" prst="roundRect">
            <a:avLst>
              <a:gd name="adj" fmla="val 17143"/>
            </a:avLst>
          </a:prstGeom>
          <a:solidFill xmlns:a="http://schemas.openxmlformats.org/drawingml/2006/main">
            <a:srgbClr val="DCECF8"/>
          </a:solidFill>
          <a:ln xmlns:a="http://schemas.openxmlformats.org/drawingml/2006/main" w="0">
            <a:solidFill>
              <a:srgbClr val="1E6FB9"/>
            </a:solidFill>
            <a:prstDash val="solid"/>
          </a:ln>
        </p:spPr>
      </p:sp>
      <p:sp>
        <p:nvSpPr>
          <p:cNvPr id="12" name="">
            <a:extLst xmlns:a="http://schemas.openxmlformats.org/drawingml/2006/main">
              <a:ext uri="{FF2B5EF4-FFF2-40B4-BE49-F238E27FC236}">
                <a16:creationId xmlns:a16="http://schemas.microsoft.com/office/drawing/2014/main" id="{76BF9816-31B7-421A-8CA9-461E4DE6AF0B}"/>
              </a:ext>
            </a:extLst>
          </p:cNvPr>
          <p:cNvSpPr>
            <a:spLocks xmlns:a="http://schemas.openxmlformats.org/drawingml/2006/main" noGrp="1"/>
          </p:cNvSpPr>
          <p:nvPr/>
        </p:nvSpPr>
        <p:spPr>
          <a:xfrm xmlns:a="http://schemas.openxmlformats.org/drawingml/2006/main">
            <a:off x="6953250" y="54292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E6FB9"/>
                </a:solidFill>
              </a:defRPr>
            </a:pPr>
            <a:r>
              <a:rPr sz="1650" b="1" i="0">
                <a:solidFill>
                  <a:srgbClr val="1E6FB9"/>
                </a:solidFill>
              </a:rPr>
              <a:t>Testing</a:t>
            </a:r>
          </a:p>
        </p:txBody>
      </p:sp>
      <p:sp>
        <p:nvSpPr>
          <p:cNvPr id="13" name="">
            <a:extLst xmlns:a="http://schemas.openxmlformats.org/drawingml/2006/main">
              <a:ext uri="{FF2B5EF4-FFF2-40B4-BE49-F238E27FC236}">
                <a16:creationId xmlns:a16="http://schemas.microsoft.com/office/drawing/2014/main" id="{C9209263-5D9A-4158-8933-CED9C0C39564}"/>
              </a:ext>
            </a:extLst>
          </p:cNvPr>
          <p:cNvSpPr>
            <a:spLocks xmlns:a="http://schemas.openxmlformats.org/drawingml/2006/main" noGrp="1"/>
          </p:cNvSpPr>
          <p:nvPr/>
        </p:nvSpPr>
        <p:spPr>
          <a:xfrm xmlns:a="http://schemas.openxmlformats.org/drawingml/2006/main">
            <a:off x="7924800" y="54292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4313D"/>
                </a:solidFill>
              </a:defRPr>
            </a:pPr>
            <a:r>
              <a:rPr sz="1575" b="0" i="0">
                <a:solidFill>
                  <a:srgbClr val="24313D"/>
                </a:solidFill>
              </a:rPr>
              <a:t>conserva la distribución original</a:t>
            </a:r>
          </a:p>
        </p:txBody>
      </p:sp>
    </p:spTree>
    <p:extLst>
      <p:ext uri="{BB962C8B-B14F-4D97-AF65-F5344CB8AC3E}">
        <p14:creationId xmlns:p14="http://schemas.microsoft.com/office/powerpoint/2010/main" val="19312698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2FF991-BE90-4120-9B5A-BD3A05BAB17B}"/>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4C0D55B7-222B-4C07-9912-AB17422AFBDB}"/>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La accuracy ocultó una baja detección de peligrosos</a:t>
            </a:r>
          </a:p>
        </p:txBody>
      </p:sp>
      <p:sp>
        <p:nvSpPr>
          <p:cNvPr id="3" name="">
            <a:extLst xmlns:a="http://schemas.openxmlformats.org/drawingml/2006/main">
              <a:ext uri="{FF2B5EF4-FFF2-40B4-BE49-F238E27FC236}">
                <a16:creationId xmlns:a16="http://schemas.microsoft.com/office/drawing/2014/main" id="{36836AB1-A11D-43D7-B6EC-FB9967C8D262}"/>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1B052422-03E2-4ACD-85F3-5867E6F32BF7}"/>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F815C2A2-B76D-41BE-9672-01272CE0A830}"/>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6</a:t>
            </a:r>
          </a:p>
        </p:txBody>
      </p:sp>
      <p:graphicFrame>
        <p:nvGraphicFramePr>
          <p:cNvPr id="13" name="Chart"/>
          <p:cNvGraphicFramePr/>
          <p:nvPr/>
        </p:nvGraphicFramePr>
        <p:xfrm>
          <a:off xmlns:a="http://schemas.openxmlformats.org/drawingml/2006/main" x="838200" y="1409700"/>
          <a:ext xmlns:a="http://schemas.openxmlformats.org/drawingml/2006/main" cx="10458450" cy="3924300"/>
        </p:xfrm>
        <a:graphic xmlns:a="http://schemas.openxmlformats.org/drawingml/2006/main">
          <a:graphicData uri="http://schemas.openxmlformats.org/drawingml/2006/chart">
            <c:chart xmlns:r="http://schemas.openxmlformats.org/officeDocument/2006/relationships" xmlns:c="http://schemas.openxmlformats.org/drawingml/2006/chart" r:id="R038f453ffeb047d0"/>
          </a:graphicData>
        </a:graphic>
      </p:graphicFrame>
      <p:sp>
        <p:nvSpPr>
          <p:cNvPr id="7" name="">
            <a:extLst xmlns:a="http://schemas.openxmlformats.org/drawingml/2006/main">
              <a:ext uri="{FF2B5EF4-FFF2-40B4-BE49-F238E27FC236}">
                <a16:creationId xmlns:a16="http://schemas.microsoft.com/office/drawing/2014/main" id="{4685324C-6681-4149-900A-F8DB00E4961F}"/>
              </a:ext>
            </a:extLst>
          </p:cNvPr>
          <p:cNvSpPr>
            <a:spLocks xmlns:a="http://schemas.openxmlformats.org/drawingml/2006/main" noGrp="1"/>
          </p:cNvSpPr>
          <p:nvPr/>
        </p:nvSpPr>
        <p:spPr>
          <a:xfrm xmlns:a="http://schemas.openxmlformats.org/drawingml/2006/main">
            <a:off x="1104900" y="55816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12345B"/>
                </a:solidFill>
              </a:defRPr>
            </a:pPr>
            <a:r>
              <a:rPr sz="1725" b="1" i="0">
                <a:solidFill>
                  <a:srgbClr val="12345B"/>
                </a:solidFill>
              </a:rPr>
              <a:t>El árbol y k-NN superaron 92% de accuracy, pero detectaron menos del 10% de la clase 1.</a:t>
            </a:r>
          </a:p>
        </p:txBody>
      </p:sp>
    </p:spTree>
    <p:extLst>
      <p:ext uri="{BB962C8B-B14F-4D97-AF65-F5344CB8AC3E}">
        <p14:creationId xmlns:p14="http://schemas.microsoft.com/office/powerpoint/2010/main" val="6032611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500EFD-158D-4DE9-97C2-B9C08BF26D34}"/>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A0710D86-2D69-425B-BBFD-F0E534A866C9}"/>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i="0">
                <a:solidFill>
                  <a:srgbClr val="12345B"/>
                </a:solidFill>
              </a:defRPr>
            </a:pPr>
            <a:r>
              <a:rPr sz="2775" b="1" i="0">
                <a:solidFill>
                  <a:srgbClr val="12345B"/>
                </a:solidFill>
              </a:rPr>
              <a:t>SMOTE aumentó el recall, pero también las falsas alarmas</a:t>
            </a:r>
          </a:p>
        </p:txBody>
      </p:sp>
      <p:sp>
        <p:nvSpPr>
          <p:cNvPr id="3" name="">
            <a:extLst xmlns:a="http://schemas.openxmlformats.org/drawingml/2006/main">
              <a:ext uri="{FF2B5EF4-FFF2-40B4-BE49-F238E27FC236}">
                <a16:creationId xmlns:a16="http://schemas.microsoft.com/office/drawing/2014/main" id="{5C73C4B8-7F8B-4811-90F0-72A725580F4B}"/>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A06EF359-73B5-4896-9AC7-881A1AD1D7EC}"/>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0DAF3769-E85E-43C7-B19E-7403BF783FBD}"/>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7</a:t>
            </a:r>
          </a:p>
        </p:txBody>
      </p:sp>
      <p:graphicFrame>
        <p:nvGraphicFramePr>
          <p:cNvPr id="13" name="Chart"/>
          <p:cNvGraphicFramePr/>
          <p:nvPr/>
        </p:nvGraphicFramePr>
        <p:xfrm>
          <a:off xmlns:a="http://schemas.openxmlformats.org/drawingml/2006/main" x="838200" y="1428750"/>
          <a:ext xmlns:a="http://schemas.openxmlformats.org/drawingml/2006/main" cx="10458450" cy="3886200"/>
        </p:xfrm>
        <a:graphic xmlns:a="http://schemas.openxmlformats.org/drawingml/2006/main">
          <a:graphicData uri="http://schemas.openxmlformats.org/drawingml/2006/chart">
            <c:chart xmlns:r="http://schemas.openxmlformats.org/officeDocument/2006/relationships" xmlns:c="http://schemas.openxmlformats.org/drawingml/2006/chart" r:id="R08c78c550956409c"/>
          </a:graphicData>
        </a:graphic>
      </p:graphicFrame>
      <p:sp>
        <p:nvSpPr>
          <p:cNvPr id="7" name="">
            <a:extLst xmlns:a="http://schemas.openxmlformats.org/drawingml/2006/main">
              <a:ext uri="{FF2B5EF4-FFF2-40B4-BE49-F238E27FC236}">
                <a16:creationId xmlns:a16="http://schemas.microsoft.com/office/drawing/2014/main" id="{EBD2B226-BDFF-46A5-9CD0-BA2201561141}"/>
              </a:ext>
            </a:extLst>
          </p:cNvPr>
          <p:cNvSpPr>
            <a:spLocks xmlns:a="http://schemas.openxmlformats.org/drawingml/2006/main" noGrp="1"/>
          </p:cNvSpPr>
          <p:nvPr/>
        </p:nvSpPr>
        <p:spPr>
          <a:xfrm xmlns:a="http://schemas.openxmlformats.org/drawingml/2006/main">
            <a:off x="1676400" y="5562600"/>
            <a:ext cx="883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12345B"/>
                </a:solidFill>
              </a:defRPr>
            </a:pPr>
            <a:r>
              <a:rPr sz="1725" b="1" i="0">
                <a:solidFill>
                  <a:srgbClr val="12345B"/>
                </a:solidFill>
              </a:rPr>
              <a:t>Detectar más eventos peligrosos implicó aceptar más falsos positivos.</a:t>
            </a:r>
          </a:p>
        </p:txBody>
      </p:sp>
    </p:spTree>
    <p:extLst>
      <p:ext uri="{BB962C8B-B14F-4D97-AF65-F5344CB8AC3E}">
        <p14:creationId xmlns:p14="http://schemas.microsoft.com/office/powerpoint/2010/main" val="12412815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7463871-8B56-4A96-A3E3-5DF831AB0DEF}"/>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1E6FB9"/>
          </a:solidFill>
          <a:ln xmlns:a="http://schemas.openxmlformats.org/drawingml/2006/main" w="0">
            <a:solidFill>
              <a:srgbClr val="1E6FB9"/>
            </a:solidFill>
            <a:prstDash val="solid"/>
          </a:ln>
        </p:spPr>
      </p:sp>
      <p:sp>
        <p:nvSpPr>
          <p:cNvPr id="2" name="">
            <a:extLst xmlns:a="http://schemas.openxmlformats.org/drawingml/2006/main">
              <a:ext uri="{FF2B5EF4-FFF2-40B4-BE49-F238E27FC236}">
                <a16:creationId xmlns:a16="http://schemas.microsoft.com/office/drawing/2014/main" id="{C07C849A-9D8D-4F3F-B825-352279D62E59}"/>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2345B"/>
                </a:solidFill>
              </a:defRPr>
            </a:pPr>
            <a:r>
              <a:rPr sz="2850" b="1" i="0">
                <a:solidFill>
                  <a:srgbClr val="12345B"/>
                </a:solidFill>
              </a:rPr>
              <a:t>La selección final prioriza detectar la clase peligrosa</a:t>
            </a:r>
          </a:p>
        </p:txBody>
      </p:sp>
      <p:sp>
        <p:nvSpPr>
          <p:cNvPr id="3" name="">
            <a:extLst xmlns:a="http://schemas.openxmlformats.org/drawingml/2006/main">
              <a:ext uri="{FF2B5EF4-FFF2-40B4-BE49-F238E27FC236}">
                <a16:creationId xmlns:a16="http://schemas.microsoft.com/office/drawing/2014/main" id="{9B63D039-8B7A-4316-BA39-CE9C4E5DFAC8}"/>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467DC97C-E64F-448A-AEFE-388741F9CAF7}"/>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UCASAL | Técnicas avanzadas de análisis de datos</a:t>
            </a:r>
          </a:p>
        </p:txBody>
      </p:sp>
      <p:sp>
        <p:nvSpPr>
          <p:cNvPr id="5" name="">
            <a:extLst xmlns:a="http://schemas.openxmlformats.org/drawingml/2006/main">
              <a:ext uri="{FF2B5EF4-FFF2-40B4-BE49-F238E27FC236}">
                <a16:creationId xmlns:a16="http://schemas.microsoft.com/office/drawing/2014/main" id="{A2EA6E72-5745-452C-8899-4C167A672FA1}"/>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8</a:t>
            </a:r>
          </a:p>
        </p:txBody>
      </p:sp>
      <p:sp>
        <p:nvSpPr>
          <p:cNvPr id="6" name="">
            <a:extLst xmlns:a="http://schemas.openxmlformats.org/drawingml/2006/main">
              <a:ext uri="{FF2B5EF4-FFF2-40B4-BE49-F238E27FC236}">
                <a16:creationId xmlns:a16="http://schemas.microsoft.com/office/drawing/2014/main" id="{4EEA1067-EE36-4AD1-83FA-B48AC2C70631}"/>
              </a:ext>
            </a:extLst>
          </p:cNvPr>
          <p:cNvSpPr>
            <a:spLocks xmlns:a="http://schemas.openxmlformats.org/drawingml/2006/main" noGrp="1"/>
          </p:cNvSpPr>
          <p:nvPr/>
        </p:nvSpPr>
        <p:spPr>
          <a:xfrm xmlns:a="http://schemas.openxmlformats.org/drawingml/2006/main">
            <a:off x="876300" y="1485900"/>
            <a:ext cx="3714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700" b="1" i="0">
                <a:solidFill>
                  <a:srgbClr val="0E7C66"/>
                </a:solidFill>
              </a:defRPr>
            </a:pPr>
            <a:r>
              <a:rPr sz="5700" b="1" i="0">
                <a:solidFill>
                  <a:srgbClr val="0E7C66"/>
                </a:solidFill>
              </a:rPr>
              <a:t>81,76%</a:t>
            </a:r>
          </a:p>
        </p:txBody>
      </p:sp>
      <p:sp>
        <p:nvSpPr>
          <p:cNvPr id="7" name="">
            <a:extLst xmlns:a="http://schemas.openxmlformats.org/drawingml/2006/main">
              <a:ext uri="{FF2B5EF4-FFF2-40B4-BE49-F238E27FC236}">
                <a16:creationId xmlns:a16="http://schemas.microsoft.com/office/drawing/2014/main" id="{4D4DF171-4D31-44D1-9160-146A6CB2523C}"/>
              </a:ext>
            </a:extLst>
          </p:cNvPr>
          <p:cNvSpPr>
            <a:spLocks xmlns:a="http://schemas.openxmlformats.org/drawingml/2006/main" noGrp="1"/>
          </p:cNvSpPr>
          <p:nvPr/>
        </p:nvSpPr>
        <p:spPr>
          <a:xfrm xmlns:a="http://schemas.openxmlformats.org/drawingml/2006/main">
            <a:off x="933450" y="240030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24313D"/>
                </a:solidFill>
              </a:defRPr>
            </a:pPr>
            <a:r>
              <a:rPr sz="1875" b="0" i="0">
                <a:solidFill>
                  <a:srgbClr val="24313D"/>
                </a:solidFill>
              </a:rPr>
              <a:t>recall de la clase 1</a:t>
            </a:r>
          </a:p>
        </p:txBody>
      </p:sp>
      <p:sp>
        <p:nvSpPr>
          <p:cNvPr id="8" name="">
            <a:extLst xmlns:a="http://schemas.openxmlformats.org/drawingml/2006/main">
              <a:ext uri="{FF2B5EF4-FFF2-40B4-BE49-F238E27FC236}">
                <a16:creationId xmlns:a16="http://schemas.microsoft.com/office/drawing/2014/main" id="{6427F724-AB08-48F5-ADAB-90E23C66184A}"/>
              </a:ext>
            </a:extLst>
          </p:cNvPr>
          <p:cNvSpPr>
            <a:spLocks xmlns:a="http://schemas.openxmlformats.org/drawingml/2006/main" noGrp="1"/>
          </p:cNvSpPr>
          <p:nvPr/>
        </p:nvSpPr>
        <p:spPr>
          <a:xfrm xmlns:a="http://schemas.openxmlformats.org/drawingml/2006/main">
            <a:off x="933450" y="300990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2345B"/>
                </a:solidFill>
              </a:defRPr>
            </a:pPr>
            <a:r>
              <a:rPr sz="1875" b="1" i="0">
                <a:solidFill>
                  <a:srgbClr val="12345B"/>
                </a:solidFill>
              </a:rPr>
              <a:t>139 de 170 eventos peligrosos detectados</a:t>
            </a:r>
          </a:p>
        </p:txBody>
      </p:sp>
      <p:sp>
        <p:nvSpPr>
          <p:cNvPr id="9" name="">
            <a:extLst xmlns:a="http://schemas.openxmlformats.org/drawingml/2006/main">
              <a:ext uri="{FF2B5EF4-FFF2-40B4-BE49-F238E27FC236}">
                <a16:creationId xmlns:a16="http://schemas.microsoft.com/office/drawing/2014/main" id="{78F0F304-DA87-4EA9-80AD-AE07677D8EE0}"/>
              </a:ext>
            </a:extLst>
          </p:cNvPr>
          <p:cNvSpPr>
            <a:spLocks xmlns:a="http://schemas.openxmlformats.org/drawingml/2006/main" noGrp="1"/>
          </p:cNvSpPr>
          <p:nvPr/>
        </p:nvSpPr>
        <p:spPr>
          <a:xfrm xmlns:a="http://schemas.openxmlformats.org/drawingml/2006/main">
            <a:off x="933450" y="3771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B3403C"/>
                </a:solidFill>
              </a:defRPr>
            </a:pPr>
            <a:r>
              <a:rPr sz="1875" b="1" i="0">
                <a:solidFill>
                  <a:srgbClr val="B3403C"/>
                </a:solidFill>
              </a:rPr>
              <a:t>31 falsos negativos</a:t>
            </a:r>
          </a:p>
        </p:txBody>
      </p:sp>
      <p:sp>
        <p:nvSpPr>
          <p:cNvPr id="10" name="">
            <a:extLst xmlns:a="http://schemas.openxmlformats.org/drawingml/2006/main">
              <a:ext uri="{FF2B5EF4-FFF2-40B4-BE49-F238E27FC236}">
                <a16:creationId xmlns:a16="http://schemas.microsoft.com/office/drawing/2014/main" id="{4AEA702B-3319-4D62-B167-BD028B9DF65F}"/>
              </a:ext>
            </a:extLst>
          </p:cNvPr>
          <p:cNvSpPr>
            <a:spLocks xmlns:a="http://schemas.openxmlformats.org/drawingml/2006/main" noGrp="1"/>
          </p:cNvSpPr>
          <p:nvPr/>
        </p:nvSpPr>
        <p:spPr>
          <a:xfrm xmlns:a="http://schemas.openxmlformats.org/drawingml/2006/main">
            <a:off x="933450" y="42862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C87800"/>
                </a:solidFill>
              </a:defRPr>
            </a:pPr>
            <a:r>
              <a:rPr sz="1875" b="1" i="0">
                <a:solidFill>
                  <a:srgbClr val="C87800"/>
                </a:solidFill>
              </a:rPr>
              <a:t>1219 falsos positivos</a:t>
            </a:r>
          </a:p>
        </p:txBody>
      </p:sp>
      <p:sp>
        <p:nvSpPr>
          <p:cNvPr id="11" name="">
            <a:extLst xmlns:a="http://schemas.openxmlformats.org/drawingml/2006/main">
              <a:ext uri="{FF2B5EF4-FFF2-40B4-BE49-F238E27FC236}">
                <a16:creationId xmlns:a16="http://schemas.microsoft.com/office/drawing/2014/main" id="{3A4F98D7-DA6B-464F-9E75-21203BBC953B}"/>
              </a:ext>
            </a:extLst>
          </p:cNvPr>
          <p:cNvSpPr>
            <a:spLocks xmlns:a="http://schemas.openxmlformats.org/drawingml/2006/main" noGrp="1"/>
          </p:cNvSpPr>
          <p:nvPr/>
        </p:nvSpPr>
        <p:spPr>
          <a:xfrm xmlns:a="http://schemas.openxmlformats.org/drawingml/2006/main">
            <a:off x="933450" y="5067300"/>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5E6B78"/>
                </a:solidFill>
              </a:defRPr>
            </a:pPr>
            <a:r>
              <a:rPr sz="1650" b="0" i="0">
                <a:solidFill>
                  <a:srgbClr val="5E6B78"/>
                </a:solidFill>
              </a:rPr>
              <a:t>La configuración no es globalmente superior: es la más coherente con un criterio preventivo.</a:t>
            </a:r>
          </a:p>
        </p:txBody>
      </p:sp>
      <p:sp>
        <p:nvSpPr>
          <p:cNvPr id="12" name="">
            <a:extLst xmlns:a="http://schemas.openxmlformats.org/drawingml/2006/main">
              <a:ext uri="{FF2B5EF4-FFF2-40B4-BE49-F238E27FC236}">
                <a16:creationId xmlns:a16="http://schemas.microsoft.com/office/drawing/2014/main" id="{71F402F4-6CE6-4213-8665-F5B11BB9FFB2}"/>
              </a:ext>
            </a:extLst>
          </p:cNvPr>
          <p:cNvSpPr>
            <a:spLocks xmlns:a="http://schemas.openxmlformats.org/drawingml/2006/main" noGrp="1"/>
          </p:cNvSpPr>
          <p:nvPr/>
        </p:nvSpPr>
        <p:spPr>
          <a:xfrm xmlns:a="http://schemas.openxmlformats.org/drawingml/2006/main">
            <a:off x="6610350" y="1371600"/>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12345B"/>
                </a:solidFill>
              </a:defRPr>
            </a:pPr>
            <a:r>
              <a:rPr sz="1875" b="1" i="0">
                <a:solidFill>
                  <a:srgbClr val="12345B"/>
                </a:solidFill>
              </a:rPr>
              <a:t>Matriz de confusión</a:t>
            </a:r>
          </a:p>
        </p:txBody>
      </p:sp>
      <p:sp>
        <p:nvSpPr>
          <p:cNvPr id="13" name="">
            <a:extLst xmlns:a="http://schemas.openxmlformats.org/drawingml/2006/main">
              <a:ext uri="{FF2B5EF4-FFF2-40B4-BE49-F238E27FC236}">
                <a16:creationId xmlns:a16="http://schemas.microsoft.com/office/drawing/2014/main" id="{DC4ED4D6-C4B2-4B2C-85D5-E2344E921613}"/>
              </a:ext>
            </a:extLst>
          </p:cNvPr>
          <p:cNvSpPr>
            <a:spLocks xmlns:a="http://schemas.openxmlformats.org/drawingml/2006/main" noGrp="1"/>
          </p:cNvSpPr>
          <p:nvPr/>
        </p:nvSpPr>
        <p:spPr>
          <a:xfrm xmlns:a="http://schemas.openxmlformats.org/drawingml/2006/main">
            <a:off x="7086600" y="18669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5E6B78"/>
                </a:solidFill>
              </a:defRPr>
            </a:pPr>
            <a:r>
              <a:rPr sz="1350" b="1" i="0">
                <a:solidFill>
                  <a:srgbClr val="5E6B78"/>
                </a:solidFill>
              </a:rPr>
              <a:t>Pred. 0</a:t>
            </a:r>
          </a:p>
        </p:txBody>
      </p:sp>
      <p:sp>
        <p:nvSpPr>
          <p:cNvPr id="14" name="">
            <a:extLst xmlns:a="http://schemas.openxmlformats.org/drawingml/2006/main">
              <a:ext uri="{FF2B5EF4-FFF2-40B4-BE49-F238E27FC236}">
                <a16:creationId xmlns:a16="http://schemas.microsoft.com/office/drawing/2014/main" id="{974315B4-F427-4451-B92F-827A43277F16}"/>
              </a:ext>
            </a:extLst>
          </p:cNvPr>
          <p:cNvSpPr>
            <a:spLocks xmlns:a="http://schemas.openxmlformats.org/drawingml/2006/main" noGrp="1"/>
          </p:cNvSpPr>
          <p:nvPr/>
        </p:nvSpPr>
        <p:spPr>
          <a:xfrm xmlns:a="http://schemas.openxmlformats.org/drawingml/2006/main">
            <a:off x="8743950" y="18669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5E6B78"/>
                </a:solidFill>
              </a:defRPr>
            </a:pPr>
            <a:r>
              <a:rPr sz="1350" b="1" i="0">
                <a:solidFill>
                  <a:srgbClr val="5E6B78"/>
                </a:solidFill>
              </a:rPr>
              <a:t>Pred. 1</a:t>
            </a:r>
          </a:p>
        </p:txBody>
      </p:sp>
      <p:sp>
        <p:nvSpPr>
          <p:cNvPr id="15" name="">
            <a:extLst xmlns:a="http://schemas.openxmlformats.org/drawingml/2006/main">
              <a:ext uri="{FF2B5EF4-FFF2-40B4-BE49-F238E27FC236}">
                <a16:creationId xmlns:a16="http://schemas.microsoft.com/office/drawing/2014/main" id="{2D49F4DB-35CF-4C0E-B274-98D97CA2ED89}"/>
              </a:ext>
            </a:extLst>
          </p:cNvPr>
          <p:cNvSpPr>
            <a:spLocks xmlns:a="http://schemas.openxmlformats.org/drawingml/2006/main" noGrp="1"/>
          </p:cNvSpPr>
          <p:nvPr/>
        </p:nvSpPr>
        <p:spPr>
          <a:xfrm xmlns:a="http://schemas.openxmlformats.org/drawingml/2006/main">
            <a:off x="5695950" y="25336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i="0">
                <a:solidFill>
                  <a:srgbClr val="5E6B78"/>
                </a:solidFill>
              </a:defRPr>
            </a:pPr>
            <a:r>
              <a:rPr sz="1350" b="1" i="0">
                <a:solidFill>
                  <a:srgbClr val="5E6B78"/>
                </a:solidFill>
              </a:rPr>
              <a:t>Verd. 0</a:t>
            </a:r>
          </a:p>
        </p:txBody>
      </p:sp>
      <p:sp>
        <p:nvSpPr>
          <p:cNvPr id="16" name="">
            <a:extLst xmlns:a="http://schemas.openxmlformats.org/drawingml/2006/main">
              <a:ext uri="{FF2B5EF4-FFF2-40B4-BE49-F238E27FC236}">
                <a16:creationId xmlns:a16="http://schemas.microsoft.com/office/drawing/2014/main" id="{19B83EC8-57E4-4392-9A80-E0B1134A0CC0}"/>
              </a:ext>
            </a:extLst>
          </p:cNvPr>
          <p:cNvSpPr>
            <a:spLocks xmlns:a="http://schemas.openxmlformats.org/drawingml/2006/main" noGrp="1"/>
          </p:cNvSpPr>
          <p:nvPr/>
        </p:nvSpPr>
        <p:spPr>
          <a:xfrm xmlns:a="http://schemas.openxmlformats.org/drawingml/2006/main">
            <a:off x="5695950" y="36195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i="0">
                <a:solidFill>
                  <a:srgbClr val="5E6B78"/>
                </a:solidFill>
              </a:defRPr>
            </a:pPr>
            <a:r>
              <a:rPr sz="1350" b="1" i="0">
                <a:solidFill>
                  <a:srgbClr val="5E6B78"/>
                </a:solidFill>
              </a:rPr>
              <a:t>Verd. 1</a:t>
            </a:r>
          </a:p>
        </p:txBody>
      </p:sp>
      <p:sp>
        <p:nvSpPr>
          <p:cNvPr id="17" name="">
            <a:extLst xmlns:a="http://schemas.openxmlformats.org/drawingml/2006/main">
              <a:ext uri="{FF2B5EF4-FFF2-40B4-BE49-F238E27FC236}">
                <a16:creationId xmlns:a16="http://schemas.microsoft.com/office/drawing/2014/main" id="{3483E991-EC47-4698-AB00-8E5888BF9DC3}"/>
              </a:ext>
            </a:extLst>
          </p:cNvPr>
          <p:cNvSpPr>
            <a:spLocks xmlns:a="http://schemas.openxmlformats.org/drawingml/2006/main" noGrp="1"/>
          </p:cNvSpPr>
          <p:nvPr/>
        </p:nvSpPr>
        <p:spPr>
          <a:xfrm xmlns:a="http://schemas.openxmlformats.org/drawingml/2006/main">
            <a:off x="7105650" y="2266950"/>
            <a:ext cx="1409700" cy="876300"/>
          </a:xfrm>
          <a:prstGeom xmlns:a="http://schemas.openxmlformats.org/drawingml/2006/main" prst="roundRect">
            <a:avLst>
              <a:gd name="adj" fmla="val 13043"/>
            </a:avLst>
          </a:prstGeom>
          <a:solidFill xmlns:a="http://schemas.openxmlformats.org/drawingml/2006/main">
            <a:srgbClr val="DCECF8"/>
          </a:solidFill>
          <a:ln xmlns:a="http://schemas.openxmlformats.org/drawingml/2006/main" w="0">
            <a:solidFill>
              <a:srgbClr val="1E6FB9"/>
            </a:solidFill>
            <a:prstDash val="solid"/>
          </a:ln>
        </p:spPr>
      </p:sp>
      <p:sp>
        <p:nvSpPr>
          <p:cNvPr id="18" name="">
            <a:extLst xmlns:a="http://schemas.openxmlformats.org/drawingml/2006/main">
              <a:ext uri="{FF2B5EF4-FFF2-40B4-BE49-F238E27FC236}">
                <a16:creationId xmlns:a16="http://schemas.microsoft.com/office/drawing/2014/main" id="{7D6EA218-0C33-40F3-9896-9F221D63BB65}"/>
              </a:ext>
            </a:extLst>
          </p:cNvPr>
          <p:cNvSpPr>
            <a:spLocks xmlns:a="http://schemas.openxmlformats.org/drawingml/2006/main" noGrp="1"/>
          </p:cNvSpPr>
          <p:nvPr/>
        </p:nvSpPr>
        <p:spPr>
          <a:xfrm xmlns:a="http://schemas.openxmlformats.org/drawingml/2006/main">
            <a:off x="7105650" y="25336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12345B"/>
                </a:solidFill>
              </a:defRPr>
            </a:pPr>
            <a:r>
              <a:rPr sz="2250" b="1" i="0">
                <a:solidFill>
                  <a:srgbClr val="12345B"/>
                </a:solidFill>
              </a:rPr>
              <a:t>1195</a:t>
            </a:r>
          </a:p>
        </p:txBody>
      </p:sp>
      <p:sp>
        <p:nvSpPr>
          <p:cNvPr id="19" name="">
            <a:extLst xmlns:a="http://schemas.openxmlformats.org/drawingml/2006/main">
              <a:ext uri="{FF2B5EF4-FFF2-40B4-BE49-F238E27FC236}">
                <a16:creationId xmlns:a16="http://schemas.microsoft.com/office/drawing/2014/main" id="{5CC16240-2C4D-4F2B-9285-0DAF1EEE7574}"/>
              </a:ext>
            </a:extLst>
          </p:cNvPr>
          <p:cNvSpPr>
            <a:spLocks xmlns:a="http://schemas.openxmlformats.org/drawingml/2006/main" noGrp="1"/>
          </p:cNvSpPr>
          <p:nvPr/>
        </p:nvSpPr>
        <p:spPr>
          <a:xfrm xmlns:a="http://schemas.openxmlformats.org/drawingml/2006/main">
            <a:off x="8763000" y="2266950"/>
            <a:ext cx="1409700" cy="876300"/>
          </a:xfrm>
          <a:prstGeom xmlns:a="http://schemas.openxmlformats.org/drawingml/2006/main" prst="roundRect">
            <a:avLst>
              <a:gd name="adj" fmla="val 13043"/>
            </a:avLst>
          </a:prstGeom>
          <a:solidFill xmlns:a="http://schemas.openxmlformats.org/drawingml/2006/main">
            <a:srgbClr val="FFF2D8"/>
          </a:solidFill>
          <a:ln xmlns:a="http://schemas.openxmlformats.org/drawingml/2006/main" w="0">
            <a:solidFill>
              <a:srgbClr val="C87800"/>
            </a:solidFill>
            <a:prstDash val="solid"/>
          </a:ln>
        </p:spPr>
      </p:sp>
      <p:sp>
        <p:nvSpPr>
          <p:cNvPr id="20" name="">
            <a:extLst xmlns:a="http://schemas.openxmlformats.org/drawingml/2006/main">
              <a:ext uri="{FF2B5EF4-FFF2-40B4-BE49-F238E27FC236}">
                <a16:creationId xmlns:a16="http://schemas.microsoft.com/office/drawing/2014/main" id="{731864D4-4BF1-42A0-9787-DFD88F586775}"/>
              </a:ext>
            </a:extLst>
          </p:cNvPr>
          <p:cNvSpPr>
            <a:spLocks xmlns:a="http://schemas.openxmlformats.org/drawingml/2006/main" noGrp="1"/>
          </p:cNvSpPr>
          <p:nvPr/>
        </p:nvSpPr>
        <p:spPr>
          <a:xfrm xmlns:a="http://schemas.openxmlformats.org/drawingml/2006/main">
            <a:off x="8763000" y="25336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C87800"/>
                </a:solidFill>
              </a:defRPr>
            </a:pPr>
            <a:r>
              <a:rPr sz="2250" b="1" i="0">
                <a:solidFill>
                  <a:srgbClr val="C87800"/>
                </a:solidFill>
              </a:rPr>
              <a:t>1219</a:t>
            </a:r>
          </a:p>
        </p:txBody>
      </p:sp>
      <p:sp>
        <p:nvSpPr>
          <p:cNvPr id="21" name="">
            <a:extLst xmlns:a="http://schemas.openxmlformats.org/drawingml/2006/main">
              <a:ext uri="{FF2B5EF4-FFF2-40B4-BE49-F238E27FC236}">
                <a16:creationId xmlns:a16="http://schemas.microsoft.com/office/drawing/2014/main" id="{8E6A07E0-4B4D-416F-8C37-4A68F0A17DB9}"/>
              </a:ext>
            </a:extLst>
          </p:cNvPr>
          <p:cNvSpPr>
            <a:spLocks xmlns:a="http://schemas.openxmlformats.org/drawingml/2006/main" noGrp="1"/>
          </p:cNvSpPr>
          <p:nvPr/>
        </p:nvSpPr>
        <p:spPr>
          <a:xfrm xmlns:a="http://schemas.openxmlformats.org/drawingml/2006/main">
            <a:off x="7105650" y="3352800"/>
            <a:ext cx="1409700" cy="876300"/>
          </a:xfrm>
          <a:prstGeom xmlns:a="http://schemas.openxmlformats.org/drawingml/2006/main" prst="roundRect">
            <a:avLst>
              <a:gd name="adj" fmla="val 13043"/>
            </a:avLst>
          </a:prstGeom>
          <a:solidFill xmlns:a="http://schemas.openxmlformats.org/drawingml/2006/main">
            <a:srgbClr val="FBE9E8"/>
          </a:solidFill>
          <a:ln xmlns:a="http://schemas.openxmlformats.org/drawingml/2006/main" w="0">
            <a:solidFill>
              <a:srgbClr val="B3403C"/>
            </a:solidFill>
            <a:prstDash val="solid"/>
          </a:ln>
        </p:spPr>
      </p:sp>
      <p:sp>
        <p:nvSpPr>
          <p:cNvPr id="22" name="">
            <a:extLst xmlns:a="http://schemas.openxmlformats.org/drawingml/2006/main">
              <a:ext uri="{FF2B5EF4-FFF2-40B4-BE49-F238E27FC236}">
                <a16:creationId xmlns:a16="http://schemas.microsoft.com/office/drawing/2014/main" id="{9A55AF86-76B9-48CC-B5A7-BA5C4300591C}"/>
              </a:ext>
            </a:extLst>
          </p:cNvPr>
          <p:cNvSpPr>
            <a:spLocks xmlns:a="http://schemas.openxmlformats.org/drawingml/2006/main" noGrp="1"/>
          </p:cNvSpPr>
          <p:nvPr/>
        </p:nvSpPr>
        <p:spPr>
          <a:xfrm xmlns:a="http://schemas.openxmlformats.org/drawingml/2006/main">
            <a:off x="7105650" y="36195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B3403C"/>
                </a:solidFill>
              </a:defRPr>
            </a:pPr>
            <a:r>
              <a:rPr sz="2250" b="1" i="0">
                <a:solidFill>
                  <a:srgbClr val="B3403C"/>
                </a:solidFill>
              </a:rPr>
              <a:t>31</a:t>
            </a:r>
          </a:p>
        </p:txBody>
      </p:sp>
      <p:sp>
        <p:nvSpPr>
          <p:cNvPr id="23" name="">
            <a:extLst xmlns:a="http://schemas.openxmlformats.org/drawingml/2006/main">
              <a:ext uri="{FF2B5EF4-FFF2-40B4-BE49-F238E27FC236}">
                <a16:creationId xmlns:a16="http://schemas.microsoft.com/office/drawing/2014/main" id="{8A88746A-F612-4688-8589-DDC9EC0E0867}"/>
              </a:ext>
            </a:extLst>
          </p:cNvPr>
          <p:cNvSpPr>
            <a:spLocks xmlns:a="http://schemas.openxmlformats.org/drawingml/2006/main" noGrp="1"/>
          </p:cNvSpPr>
          <p:nvPr/>
        </p:nvSpPr>
        <p:spPr>
          <a:xfrm xmlns:a="http://schemas.openxmlformats.org/drawingml/2006/main">
            <a:off x="8763000" y="3352800"/>
            <a:ext cx="1409700" cy="876300"/>
          </a:xfrm>
          <a:prstGeom xmlns:a="http://schemas.openxmlformats.org/drawingml/2006/main" prst="roundRect">
            <a:avLst>
              <a:gd name="adj" fmla="val 13043"/>
            </a:avLst>
          </a:prstGeom>
          <a:solidFill xmlns:a="http://schemas.openxmlformats.org/drawingml/2006/main">
            <a:srgbClr val="E6F5F0"/>
          </a:solidFill>
          <a:ln xmlns:a="http://schemas.openxmlformats.org/drawingml/2006/main" w="0">
            <a:solidFill>
              <a:srgbClr val="0E7C66"/>
            </a:solidFill>
            <a:prstDash val="solid"/>
          </a:ln>
        </p:spPr>
      </p:sp>
      <p:sp>
        <p:nvSpPr>
          <p:cNvPr id="24" name="">
            <a:extLst xmlns:a="http://schemas.openxmlformats.org/drawingml/2006/main">
              <a:ext uri="{FF2B5EF4-FFF2-40B4-BE49-F238E27FC236}">
                <a16:creationId xmlns:a16="http://schemas.microsoft.com/office/drawing/2014/main" id="{0DF59C9C-76C1-4152-ABD0-FD34AC61678E}"/>
              </a:ext>
            </a:extLst>
          </p:cNvPr>
          <p:cNvSpPr>
            <a:spLocks xmlns:a="http://schemas.openxmlformats.org/drawingml/2006/main" noGrp="1"/>
          </p:cNvSpPr>
          <p:nvPr/>
        </p:nvSpPr>
        <p:spPr>
          <a:xfrm xmlns:a="http://schemas.openxmlformats.org/drawingml/2006/main">
            <a:off x="8763000" y="36195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0E7C66"/>
                </a:solidFill>
              </a:defRPr>
            </a:pPr>
            <a:r>
              <a:rPr sz="2250" b="1" i="0">
                <a:solidFill>
                  <a:srgbClr val="0E7C66"/>
                </a:solidFill>
              </a:rPr>
              <a:t>139</a:t>
            </a:r>
          </a:p>
        </p:txBody>
      </p:sp>
      <p:sp>
        <p:nvSpPr>
          <p:cNvPr id="25" name="">
            <a:extLst xmlns:a="http://schemas.openxmlformats.org/drawingml/2006/main">
              <a:ext uri="{FF2B5EF4-FFF2-40B4-BE49-F238E27FC236}">
                <a16:creationId xmlns:a16="http://schemas.microsoft.com/office/drawing/2014/main" id="{F329C3A9-7AD8-401A-9214-53CDED83A612}"/>
              </a:ext>
            </a:extLst>
          </p:cNvPr>
          <p:cNvSpPr>
            <a:spLocks xmlns:a="http://schemas.openxmlformats.org/drawingml/2006/main" noGrp="1"/>
          </p:cNvSpPr>
          <p:nvPr/>
        </p:nvSpPr>
        <p:spPr>
          <a:xfrm xmlns:a="http://schemas.openxmlformats.org/drawingml/2006/main">
            <a:off x="6534150" y="4686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5E6B78"/>
                </a:solidFill>
              </a:defRPr>
            </a:pPr>
            <a:r>
              <a:rPr sz="1650" b="0" i="0">
                <a:solidFill>
                  <a:srgbClr val="5E6B78"/>
                </a:solidFill>
              </a:rPr>
              <a:t>Precisión: 10,24%</a:t>
            </a:r>
          </a:p>
        </p:txBody>
      </p:sp>
      <p:sp>
        <p:nvSpPr>
          <p:cNvPr id="26" name="">
            <a:extLst xmlns:a="http://schemas.openxmlformats.org/drawingml/2006/main">
              <a:ext uri="{FF2B5EF4-FFF2-40B4-BE49-F238E27FC236}">
                <a16:creationId xmlns:a16="http://schemas.microsoft.com/office/drawing/2014/main" id="{7230F172-099F-4EDE-B28E-5C98986326F7}"/>
              </a:ext>
            </a:extLst>
          </p:cNvPr>
          <p:cNvSpPr>
            <a:spLocks xmlns:a="http://schemas.openxmlformats.org/drawingml/2006/main" noGrp="1"/>
          </p:cNvSpPr>
          <p:nvPr/>
        </p:nvSpPr>
        <p:spPr>
          <a:xfrm xmlns:a="http://schemas.openxmlformats.org/drawingml/2006/main">
            <a:off x="8934450" y="46863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5E6B78"/>
                </a:solidFill>
              </a:defRPr>
            </a:pPr>
            <a:r>
              <a:rPr sz="1650" b="0" i="0">
                <a:solidFill>
                  <a:srgbClr val="5E6B78"/>
                </a:solidFill>
              </a:rPr>
              <a:t>AUC: 0,757</a:t>
            </a:r>
          </a:p>
        </p:txBody>
      </p:sp>
      <p:sp>
        <p:nvSpPr>
          <p:cNvPr id="27" name="">
            <a:extLst xmlns:a="http://schemas.openxmlformats.org/drawingml/2006/main">
              <a:ext uri="{FF2B5EF4-FFF2-40B4-BE49-F238E27FC236}">
                <a16:creationId xmlns:a16="http://schemas.microsoft.com/office/drawing/2014/main" id="{E80718B3-410C-45E9-9CE3-6485C7548586}"/>
              </a:ext>
            </a:extLst>
          </p:cNvPr>
          <p:cNvSpPr>
            <a:spLocks xmlns:a="http://schemas.openxmlformats.org/drawingml/2006/main" noGrp="1"/>
          </p:cNvSpPr>
          <p:nvPr/>
        </p:nvSpPr>
        <p:spPr>
          <a:xfrm xmlns:a="http://schemas.openxmlformats.org/drawingml/2006/main">
            <a:off x="6172200" y="5181600"/>
            <a:ext cx="4762500" cy="552450"/>
          </a:xfrm>
          <a:prstGeom xmlns:a="http://schemas.openxmlformats.org/drawingml/2006/main" prst="roundRect">
            <a:avLst>
              <a:gd name="adj" fmla="val 20690"/>
            </a:avLst>
          </a:prstGeom>
          <a:solidFill xmlns:a="http://schemas.openxmlformats.org/drawingml/2006/main">
            <a:srgbClr val="E6F5F0"/>
          </a:solidFill>
          <a:ln xmlns:a="http://schemas.openxmlformats.org/drawingml/2006/main" w="0">
            <a:solidFill>
              <a:srgbClr val="0E7C66"/>
            </a:solidFill>
            <a:prstDash val="solid"/>
          </a:ln>
        </p:spPr>
      </p:sp>
      <p:sp>
        <p:nvSpPr>
          <p:cNvPr id="28" name="">
            <a:extLst xmlns:a="http://schemas.openxmlformats.org/drawingml/2006/main">
              <a:ext uri="{FF2B5EF4-FFF2-40B4-BE49-F238E27FC236}">
                <a16:creationId xmlns:a16="http://schemas.microsoft.com/office/drawing/2014/main" id="{FCC1AEB0-3211-45C8-8A50-4C45F4346E73}"/>
              </a:ext>
            </a:extLst>
          </p:cNvPr>
          <p:cNvSpPr>
            <a:spLocks xmlns:a="http://schemas.openxmlformats.org/drawingml/2006/main" noGrp="1"/>
          </p:cNvSpPr>
          <p:nvPr/>
        </p:nvSpPr>
        <p:spPr>
          <a:xfrm xmlns:a="http://schemas.openxmlformats.org/drawingml/2006/main">
            <a:off x="6438900" y="53340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0E7C66"/>
                </a:solidFill>
              </a:defRPr>
            </a:pPr>
            <a:r>
              <a:rPr sz="1725" b="1" i="0">
                <a:solidFill>
                  <a:srgbClr val="0E7C66"/>
                </a:solidFill>
              </a:rPr>
              <a:t>Modelo elegido: regresión logística + SMOTE</a:t>
            </a:r>
          </a:p>
        </p:txBody>
      </p:sp>
    </p:spTree>
    <p:extLst>
      <p:ext uri="{BB962C8B-B14F-4D97-AF65-F5344CB8AC3E}">
        <p14:creationId xmlns:p14="http://schemas.microsoft.com/office/powerpoint/2010/main" val="1189069245"/>
      </p:ext>
    </p:extLst>
  </p:cSld>
</p:sld>
</file>

<file path=ppt/slides/slide9.xml><?xml version="1.0" encoding="utf-8"?>
<p:sld xmlns:p="http://schemas.openxmlformats.org/presentationml/2006/main">
  <p:cSld>
    <p:bg>
      <p:bgPr>
        <a:solidFill xmlns:a="http://schemas.openxmlformats.org/drawingml/2006/main">
          <a:srgbClr val="12345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8E2532-FEC1-4B79-903A-61A3AA95D987}"/>
              </a:ext>
            </a:extLst>
          </p:cNvPr>
          <p:cNvSpPr>
            <a:spLocks xmlns:a="http://schemas.openxmlformats.org/drawingml/2006/main" noGrp="1"/>
          </p:cNvSpPr>
          <p:nvPr/>
        </p:nvSpPr>
        <p:spPr>
          <a:xfrm xmlns:a="http://schemas.openxmlformats.org/drawingml/2006/main">
            <a:off x="742950" y="5334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FFFFFF"/>
                </a:solidFill>
              </a:defRPr>
            </a:pPr>
            <a:r>
              <a:rPr sz="3300" b="1" i="0">
                <a:solidFill>
                  <a:srgbClr val="FFFFFF"/>
                </a:solidFill>
              </a:rPr>
              <a:t>Conclusiones</a:t>
            </a:r>
          </a:p>
        </p:txBody>
      </p:sp>
      <p:sp>
        <p:nvSpPr>
          <p:cNvPr id="2" name="">
            <a:extLst xmlns:a="http://schemas.openxmlformats.org/drawingml/2006/main">
              <a:ext uri="{FF2B5EF4-FFF2-40B4-BE49-F238E27FC236}">
                <a16:creationId xmlns:a16="http://schemas.microsoft.com/office/drawing/2014/main" id="{05240BE0-7402-4116-B1C6-F7D043CB5864}"/>
              </a:ext>
            </a:extLst>
          </p:cNvPr>
          <p:cNvSpPr>
            <a:spLocks xmlns:a="http://schemas.openxmlformats.org/drawingml/2006/main" noGrp="1"/>
          </p:cNvSpPr>
          <p:nvPr/>
        </p:nvSpPr>
        <p:spPr>
          <a:xfrm xmlns:a="http://schemas.openxmlformats.org/drawingml/2006/main">
            <a:off x="742950" y="1219200"/>
            <a:ext cx="1714500" cy="57150"/>
          </a:xfrm>
          <a:prstGeom xmlns:a="http://schemas.openxmlformats.org/drawingml/2006/main" prst="rect">
            <a:avLst/>
          </a:prstGeom>
          <a:solidFill xmlns:a="http://schemas.openxmlformats.org/drawingml/2006/main">
            <a:srgbClr val="D99A21"/>
          </a:solidFill>
          <a:ln xmlns:a="http://schemas.openxmlformats.org/drawingml/2006/main" w="0">
            <a:solidFill>
              <a:srgbClr val="D99A21"/>
            </a:solidFill>
            <a:prstDash val="solid"/>
          </a:ln>
        </p:spPr>
      </p:sp>
      <p:sp>
        <p:nvSpPr>
          <p:cNvPr id="3" name="">
            <a:extLst xmlns:a="http://schemas.openxmlformats.org/drawingml/2006/main">
              <a:ext uri="{FF2B5EF4-FFF2-40B4-BE49-F238E27FC236}">
                <a16:creationId xmlns:a16="http://schemas.microsoft.com/office/drawing/2014/main" id="{2C18BFCD-2FA2-426A-8263-8A648063686D}"/>
              </a:ext>
            </a:extLst>
          </p:cNvPr>
          <p:cNvSpPr>
            <a:spLocks xmlns:a="http://schemas.openxmlformats.org/drawingml/2006/main" noGrp="1"/>
          </p:cNvSpPr>
          <p:nvPr/>
        </p:nvSpPr>
        <p:spPr>
          <a:xfrm xmlns:a="http://schemas.openxmlformats.org/drawingml/2006/main">
            <a:off x="933450" y="1866900"/>
            <a:ext cx="76200" cy="76200"/>
          </a:xfrm>
          <a:prstGeom xmlns:a="http://schemas.openxmlformats.org/drawingml/2006/main" prst="roundRect">
            <a:avLst>
              <a:gd name="adj" fmla="val 50000"/>
            </a:avLst>
          </a:prstGeom>
          <a:solidFill xmlns:a="http://schemas.openxmlformats.org/drawingml/2006/main">
            <a:srgbClr val="D99A21"/>
          </a:solidFill>
          <a:ln xmlns:a="http://schemas.openxmlformats.org/drawingml/2006/main" w="0">
            <a:solidFill>
              <a:srgbClr val="D99A21"/>
            </a:solidFill>
            <a:prstDash val="solid"/>
          </a:ln>
        </p:spPr>
      </p:sp>
      <p:sp>
        <p:nvSpPr>
          <p:cNvPr id="4" name="">
            <a:extLst xmlns:a="http://schemas.openxmlformats.org/drawingml/2006/main">
              <a:ext uri="{FF2B5EF4-FFF2-40B4-BE49-F238E27FC236}">
                <a16:creationId xmlns:a16="http://schemas.microsoft.com/office/drawing/2014/main" id="{801F0340-64DF-4100-8365-81569FD9B422}"/>
              </a:ext>
            </a:extLst>
          </p:cNvPr>
          <p:cNvSpPr>
            <a:spLocks xmlns:a="http://schemas.openxmlformats.org/drawingml/2006/main" noGrp="1"/>
          </p:cNvSpPr>
          <p:nvPr/>
        </p:nvSpPr>
        <p:spPr>
          <a:xfrm xmlns:a="http://schemas.openxmlformats.org/drawingml/2006/main">
            <a:off x="1162050" y="1752600"/>
            <a:ext cx="9867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FFFFFF"/>
                </a:solidFill>
              </a:defRPr>
            </a:pPr>
            <a:r>
              <a:rPr sz="1875" b="0" i="0">
                <a:solidFill>
                  <a:srgbClr val="FFFFFF"/>
                </a:solidFill>
              </a:rPr>
              <a:t>La accuracy no describió adecuadamente el rendimiento sobre la clase peligrosa.</a:t>
            </a:r>
          </a:p>
        </p:txBody>
      </p:sp>
      <p:sp>
        <p:nvSpPr>
          <p:cNvPr id="5" name="">
            <a:extLst xmlns:a="http://schemas.openxmlformats.org/drawingml/2006/main">
              <a:ext uri="{FF2B5EF4-FFF2-40B4-BE49-F238E27FC236}">
                <a16:creationId xmlns:a16="http://schemas.microsoft.com/office/drawing/2014/main" id="{62AFB719-C02B-4B4C-B009-B490D6C8FB19}"/>
              </a:ext>
            </a:extLst>
          </p:cNvPr>
          <p:cNvSpPr>
            <a:spLocks xmlns:a="http://schemas.openxmlformats.org/drawingml/2006/main" noGrp="1"/>
          </p:cNvSpPr>
          <p:nvPr/>
        </p:nvSpPr>
        <p:spPr>
          <a:xfrm xmlns:a="http://schemas.openxmlformats.org/drawingml/2006/main">
            <a:off x="933450" y="2743200"/>
            <a:ext cx="76200" cy="76200"/>
          </a:xfrm>
          <a:prstGeom xmlns:a="http://schemas.openxmlformats.org/drawingml/2006/main" prst="roundRect">
            <a:avLst>
              <a:gd name="adj" fmla="val 50000"/>
            </a:avLst>
          </a:prstGeom>
          <a:solidFill xmlns:a="http://schemas.openxmlformats.org/drawingml/2006/main">
            <a:srgbClr val="D99A21"/>
          </a:solidFill>
          <a:ln xmlns:a="http://schemas.openxmlformats.org/drawingml/2006/main" w="0">
            <a:solidFill>
              <a:srgbClr val="D99A21"/>
            </a:solidFill>
            <a:prstDash val="solid"/>
          </a:ln>
        </p:spPr>
      </p:sp>
      <p:sp>
        <p:nvSpPr>
          <p:cNvPr id="6" name="">
            <a:extLst xmlns:a="http://schemas.openxmlformats.org/drawingml/2006/main">
              <a:ext uri="{FF2B5EF4-FFF2-40B4-BE49-F238E27FC236}">
                <a16:creationId xmlns:a16="http://schemas.microsoft.com/office/drawing/2014/main" id="{CF13CFB8-659F-40A7-9A3A-C5938F98ABA3}"/>
              </a:ext>
            </a:extLst>
          </p:cNvPr>
          <p:cNvSpPr>
            <a:spLocks xmlns:a="http://schemas.openxmlformats.org/drawingml/2006/main" noGrp="1"/>
          </p:cNvSpPr>
          <p:nvPr/>
        </p:nvSpPr>
        <p:spPr>
          <a:xfrm xmlns:a="http://schemas.openxmlformats.org/drawingml/2006/main">
            <a:off x="1162050" y="2628900"/>
            <a:ext cx="9867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FFFFFF"/>
                </a:solidFill>
              </a:defRPr>
            </a:pPr>
            <a:r>
              <a:rPr sz="1875" b="0" i="0">
                <a:solidFill>
                  <a:srgbClr val="FFFFFF"/>
                </a:solidFill>
              </a:rPr>
              <a:t>SMOTE aumentó el recall de la clase 1, pero también incrementó las falsas alarmas.</a:t>
            </a:r>
          </a:p>
        </p:txBody>
      </p:sp>
      <p:sp>
        <p:nvSpPr>
          <p:cNvPr id="7" name="">
            <a:extLst xmlns:a="http://schemas.openxmlformats.org/drawingml/2006/main">
              <a:ext uri="{FF2B5EF4-FFF2-40B4-BE49-F238E27FC236}">
                <a16:creationId xmlns:a16="http://schemas.microsoft.com/office/drawing/2014/main" id="{E38367E0-AD01-4784-8783-2F3ABFCF76FF}"/>
              </a:ext>
            </a:extLst>
          </p:cNvPr>
          <p:cNvSpPr>
            <a:spLocks xmlns:a="http://schemas.openxmlformats.org/drawingml/2006/main" noGrp="1"/>
          </p:cNvSpPr>
          <p:nvPr/>
        </p:nvSpPr>
        <p:spPr>
          <a:xfrm xmlns:a="http://schemas.openxmlformats.org/drawingml/2006/main">
            <a:off x="933450" y="3752850"/>
            <a:ext cx="76200" cy="76200"/>
          </a:xfrm>
          <a:prstGeom xmlns:a="http://schemas.openxmlformats.org/drawingml/2006/main" prst="roundRect">
            <a:avLst>
              <a:gd name="adj" fmla="val 50000"/>
            </a:avLst>
          </a:prstGeom>
          <a:solidFill xmlns:a="http://schemas.openxmlformats.org/drawingml/2006/main">
            <a:srgbClr val="D99A21"/>
          </a:solidFill>
          <a:ln xmlns:a="http://schemas.openxmlformats.org/drawingml/2006/main" w="0">
            <a:solidFill>
              <a:srgbClr val="D99A21"/>
            </a:solidFill>
            <a:prstDash val="solid"/>
          </a:ln>
        </p:spPr>
      </p:sp>
      <p:sp>
        <p:nvSpPr>
          <p:cNvPr id="8" name="">
            <a:extLst xmlns:a="http://schemas.openxmlformats.org/drawingml/2006/main">
              <a:ext uri="{FF2B5EF4-FFF2-40B4-BE49-F238E27FC236}">
                <a16:creationId xmlns:a16="http://schemas.microsoft.com/office/drawing/2014/main" id="{89BAB63A-C5D3-429C-A63A-EE05DDA6D0C9}"/>
              </a:ext>
            </a:extLst>
          </p:cNvPr>
          <p:cNvSpPr>
            <a:spLocks xmlns:a="http://schemas.openxmlformats.org/drawingml/2006/main" noGrp="1"/>
          </p:cNvSpPr>
          <p:nvPr/>
        </p:nvSpPr>
        <p:spPr>
          <a:xfrm xmlns:a="http://schemas.openxmlformats.org/drawingml/2006/main">
            <a:off x="1162050" y="3638550"/>
            <a:ext cx="9867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FFFFFF"/>
                </a:solidFill>
              </a:defRPr>
            </a:pPr>
            <a:r>
              <a:rPr sz="1875" b="0" i="0">
                <a:solidFill>
                  <a:srgbClr val="FFFFFF"/>
                </a:solidFill>
              </a:rPr>
              <a:t>La regresión logística + SMOTE fue la configuración más coherente con el objetivo preventivo.</a:t>
            </a:r>
          </a:p>
        </p:txBody>
      </p:sp>
      <p:sp>
        <p:nvSpPr>
          <p:cNvPr id="9" name="">
            <a:extLst xmlns:a="http://schemas.openxmlformats.org/drawingml/2006/main">
              <a:ext uri="{FF2B5EF4-FFF2-40B4-BE49-F238E27FC236}">
                <a16:creationId xmlns:a16="http://schemas.microsoft.com/office/drawing/2014/main" id="{3908E340-6E71-4A61-AA37-ACA1B3ADC5E5}"/>
              </a:ext>
            </a:extLst>
          </p:cNvPr>
          <p:cNvSpPr>
            <a:spLocks xmlns:a="http://schemas.openxmlformats.org/drawingml/2006/main" noGrp="1"/>
          </p:cNvSpPr>
          <p:nvPr/>
        </p:nvSpPr>
        <p:spPr>
          <a:xfrm xmlns:a="http://schemas.openxmlformats.org/drawingml/2006/main">
            <a:off x="762000" y="4895850"/>
            <a:ext cx="10648950" cy="9525"/>
          </a:xfrm>
          <a:prstGeom xmlns:a="http://schemas.openxmlformats.org/drawingml/2006/main" prst="rect">
            <a:avLst/>
          </a:prstGeom>
          <a:solidFill xmlns:a="http://schemas.openxmlformats.org/drawingml/2006/main">
            <a:srgbClr val="45617D"/>
          </a:solidFill>
          <a:ln xmlns:a="http://schemas.openxmlformats.org/drawingml/2006/main" w="0">
            <a:solidFill>
              <a:srgbClr val="45617D"/>
            </a:solidFill>
            <a:prstDash val="solid"/>
          </a:ln>
        </p:spPr>
      </p:sp>
      <p:sp>
        <p:nvSpPr>
          <p:cNvPr id="10" name="">
            <a:extLst xmlns:a="http://schemas.openxmlformats.org/drawingml/2006/main">
              <a:ext uri="{FF2B5EF4-FFF2-40B4-BE49-F238E27FC236}">
                <a16:creationId xmlns:a16="http://schemas.microsoft.com/office/drawing/2014/main" id="{555BD980-CAF5-49DD-976D-7B487B6AB7C3}"/>
              </a:ext>
            </a:extLst>
          </p:cNvPr>
          <p:cNvSpPr>
            <a:spLocks xmlns:a="http://schemas.openxmlformats.org/drawingml/2006/main" noGrp="1"/>
          </p:cNvSpPr>
          <p:nvPr/>
        </p:nvSpPr>
        <p:spPr>
          <a:xfrm xmlns:a="http://schemas.openxmlformats.org/drawingml/2006/main">
            <a:off x="895350" y="52197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D99A21"/>
                </a:solidFill>
              </a:defRPr>
            </a:pPr>
            <a:r>
              <a:rPr sz="1725" b="1" i="0">
                <a:solidFill>
                  <a:srgbClr val="D99A21"/>
                </a:solidFill>
              </a:rPr>
              <a:t>Próximos pasos</a:t>
            </a:r>
          </a:p>
        </p:txBody>
      </p:sp>
      <p:sp>
        <p:nvSpPr>
          <p:cNvPr id="11" name="">
            <a:extLst xmlns:a="http://schemas.openxmlformats.org/drawingml/2006/main">
              <a:ext uri="{FF2B5EF4-FFF2-40B4-BE49-F238E27FC236}">
                <a16:creationId xmlns:a16="http://schemas.microsoft.com/office/drawing/2014/main" id="{AE556A79-A0A8-4BA9-8402-17F0046B080C}"/>
              </a:ext>
            </a:extLst>
          </p:cNvPr>
          <p:cNvSpPr>
            <a:spLocks xmlns:a="http://schemas.openxmlformats.org/drawingml/2006/main" noGrp="1"/>
          </p:cNvSpPr>
          <p:nvPr/>
        </p:nvSpPr>
        <p:spPr>
          <a:xfrm xmlns:a="http://schemas.openxmlformats.org/drawingml/2006/main">
            <a:off x="895350" y="56007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DCECF8"/>
                </a:solidFill>
              </a:defRPr>
            </a:pPr>
            <a:r>
              <a:rPr sz="1725" b="0" i="0">
                <a:solidFill>
                  <a:srgbClr val="DCECF8"/>
                </a:solidFill>
              </a:rPr>
              <a:t>Calibrar umbrales  |  Analizar costos  |  Validar con datos temporales o externos</a:t>
            </a:r>
          </a:p>
        </p:txBody>
      </p:sp>
      <p:sp>
        <p:nvSpPr>
          <p:cNvPr id="12" name="">
            <a:extLst xmlns:a="http://schemas.openxmlformats.org/drawingml/2006/main">
              <a:ext uri="{FF2B5EF4-FFF2-40B4-BE49-F238E27FC236}">
                <a16:creationId xmlns:a16="http://schemas.microsoft.com/office/drawing/2014/main" id="{583DEBA6-0EE8-4C4F-B417-C85635EB900E}"/>
              </a:ext>
            </a:extLst>
          </p:cNvPr>
          <p:cNvSpPr>
            <a:spLocks xmlns:a="http://schemas.openxmlformats.org/drawingml/2006/main" noGrp="1"/>
          </p:cNvSpPr>
          <p:nvPr/>
        </p:nvSpPr>
        <p:spPr>
          <a:xfrm xmlns:a="http://schemas.openxmlformats.org/drawingml/2006/main">
            <a:off x="11144250" y="64198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DCECF8"/>
                </a:solidFill>
              </a:defRPr>
            </a:pPr>
            <a:r>
              <a:rPr sz="900" b="0" i="0">
                <a:solidFill>
                  <a:srgbClr val="DCECF8"/>
                </a:solidFill>
              </a:rPr>
              <a:t>9</a:t>
            </a:r>
          </a:p>
        </p:txBody>
      </p:sp>
    </p:spTree>
    <p:extLst>
      <p:ext uri="{BB962C8B-B14F-4D97-AF65-F5344CB8AC3E}">
        <p14:creationId xmlns:p14="http://schemas.microsoft.com/office/powerpoint/2010/main" val="3533777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0D11DF-8183-4C0A-B55A-25E3E7E05781}"/>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D99A21"/>
          </a:solidFill>
          <a:ln xmlns:a="http://schemas.openxmlformats.org/drawingml/2006/main" w="0">
            <a:solidFill>
              <a:srgbClr val="D99A21"/>
            </a:solidFill>
            <a:prstDash val="solid"/>
          </a:ln>
        </p:spPr>
      </p:sp>
      <p:sp>
        <p:nvSpPr>
          <p:cNvPr id="2" name="">
            <a:extLst xmlns:a="http://schemas.openxmlformats.org/drawingml/2006/main">
              <a:ext uri="{FF2B5EF4-FFF2-40B4-BE49-F238E27FC236}">
                <a16:creationId xmlns:a16="http://schemas.microsoft.com/office/drawing/2014/main" id="{7D0989CA-71EC-4DF7-93B6-96F20DDBC0CA}"/>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Anexo | Curvas ROC documentadas en AI Studio</a:t>
            </a:r>
          </a:p>
        </p:txBody>
      </p:sp>
      <p:sp>
        <p:nvSpPr>
          <p:cNvPr id="3" name="">
            <a:extLst xmlns:a="http://schemas.openxmlformats.org/drawingml/2006/main">
              <a:ext uri="{FF2B5EF4-FFF2-40B4-BE49-F238E27FC236}">
                <a16:creationId xmlns:a16="http://schemas.microsoft.com/office/drawing/2014/main" id="{F72B752A-3FDE-430F-BDF8-FC13FFDDC717}"/>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5048600B-66AA-49B2-9BE7-9D5CDC5FD3A5}"/>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ANEXO</a:t>
            </a:r>
          </a:p>
        </p:txBody>
      </p:sp>
      <p:sp>
        <p:nvSpPr>
          <p:cNvPr id="5" name="">
            <a:extLst xmlns:a="http://schemas.openxmlformats.org/drawingml/2006/main">
              <a:ext uri="{FF2B5EF4-FFF2-40B4-BE49-F238E27FC236}">
                <a16:creationId xmlns:a16="http://schemas.microsoft.com/office/drawing/2014/main" id="{0323D11D-365B-4DFA-9A06-0B7219CA120D}"/>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10</a:t>
            </a:r>
          </a:p>
        </p:txBody>
      </p:sp>
      <p:sp>
        <p:nvSpPr>
          <p:cNvPr id="6" name="">
            <a:extLst xmlns:a="http://schemas.openxmlformats.org/drawingml/2006/main">
              <a:ext uri="{FF2B5EF4-FFF2-40B4-BE49-F238E27FC236}">
                <a16:creationId xmlns:a16="http://schemas.microsoft.com/office/drawing/2014/main" id="{AF078924-C161-4172-AF18-861B30834E33}"/>
              </a:ext>
            </a:extLst>
          </p:cNvPr>
          <p:cNvSpPr>
            <a:spLocks xmlns:a="http://schemas.openxmlformats.org/drawingml/2006/main" noGrp="1"/>
          </p:cNvSpPr>
          <p:nvPr/>
        </p:nvSpPr>
        <p:spPr>
          <a:xfrm xmlns:a="http://schemas.openxmlformats.org/drawingml/2006/main">
            <a:off x="971550" y="1104900"/>
            <a:ext cx="10248900" cy="4953000"/>
          </a:xfrm>
          <a:prstGeom xmlns:a="http://schemas.openxmlformats.org/drawingml/2006/main" prst="roundRect">
            <a:avLst>
              <a:gd name="adj" fmla="val 2308"/>
            </a:avLst>
          </a:prstGeom>
          <a:solidFill xmlns:a="http://schemas.openxmlformats.org/drawingml/2006/main">
            <a:srgbClr val="F4F7FA"/>
          </a:solidFill>
          <a:ln xmlns:a="http://schemas.openxmlformats.org/drawingml/2006/main" w="0">
            <a:solidFill>
              <a:srgbClr val="D9E1E8"/>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4878e606204bf4"/>
          <a:stretch xmlns:a="http://schemas.openxmlformats.org/drawingml/2006/main"/>
        </p:blipFill>
        <p:spPr>
          <a:xfrm xmlns:a="http://schemas.openxmlformats.org/drawingml/2006/main">
            <a:off x="3018979" y="1200150"/>
            <a:ext cx="6154043" cy="4762500"/>
          </a:xfrm>
          <a:prstGeom xmlns:a="http://schemas.openxmlformats.org/drawingml/2006/main" prst="rect">
            <a:avLst/>
          </a:prstGeom>
        </p:spPr>
      </p:pic>
    </p:spTree>
    <p:extLst>
      <p:ext uri="{BB962C8B-B14F-4D97-AF65-F5344CB8AC3E}">
        <p14:creationId xmlns:p14="http://schemas.microsoft.com/office/powerpoint/2010/main" val="18524088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D2BCF1-C593-4B13-BEA4-519C98804245}"/>
              </a:ext>
            </a:extLst>
          </p:cNvPr>
          <p:cNvSpPr>
            <a:spLocks xmlns:a="http://schemas.openxmlformats.org/drawingml/2006/main" noGrp="1"/>
          </p:cNvSpPr>
          <p:nvPr/>
        </p:nvSpPr>
        <p:spPr>
          <a:xfrm xmlns:a="http://schemas.openxmlformats.org/drawingml/2006/main">
            <a:off x="685800" y="457200"/>
            <a:ext cx="76200" cy="514350"/>
          </a:xfrm>
          <a:prstGeom xmlns:a="http://schemas.openxmlformats.org/drawingml/2006/main" prst="rect">
            <a:avLst/>
          </a:prstGeom>
          <a:solidFill xmlns:a="http://schemas.openxmlformats.org/drawingml/2006/main">
            <a:srgbClr val="D99A21"/>
          </a:solidFill>
          <a:ln xmlns:a="http://schemas.openxmlformats.org/drawingml/2006/main" w="0">
            <a:solidFill>
              <a:srgbClr val="D99A21"/>
            </a:solidFill>
            <a:prstDash val="solid"/>
          </a:ln>
        </p:spPr>
      </p:sp>
      <p:sp>
        <p:nvSpPr>
          <p:cNvPr id="2" name="">
            <a:extLst xmlns:a="http://schemas.openxmlformats.org/drawingml/2006/main">
              <a:ext uri="{FF2B5EF4-FFF2-40B4-BE49-F238E27FC236}">
                <a16:creationId xmlns:a16="http://schemas.microsoft.com/office/drawing/2014/main" id="{A1E9FA9C-F005-40E2-81F0-3AA6840A1BB5}"/>
              </a:ext>
            </a:extLst>
          </p:cNvPr>
          <p:cNvSpPr>
            <a:spLocks xmlns:a="http://schemas.openxmlformats.org/drawingml/2006/main" noGrp="1"/>
          </p:cNvSpPr>
          <p:nvPr/>
        </p:nvSpPr>
        <p:spPr>
          <a:xfrm xmlns:a="http://schemas.openxmlformats.org/drawingml/2006/main">
            <a:off x="914400" y="409575"/>
            <a:ext cx="1014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45B"/>
                </a:solidFill>
              </a:defRPr>
            </a:pPr>
            <a:r>
              <a:rPr sz="2700" b="1" i="0">
                <a:solidFill>
                  <a:srgbClr val="12345B"/>
                </a:solidFill>
              </a:rPr>
              <a:t>Anexo | Sensibilidad al número de atributos</a:t>
            </a:r>
          </a:p>
        </p:txBody>
      </p:sp>
      <p:sp>
        <p:nvSpPr>
          <p:cNvPr id="3" name="">
            <a:extLst xmlns:a="http://schemas.openxmlformats.org/drawingml/2006/main">
              <a:ext uri="{FF2B5EF4-FFF2-40B4-BE49-F238E27FC236}">
                <a16:creationId xmlns:a16="http://schemas.microsoft.com/office/drawing/2014/main" id="{5E69820B-5AB8-4B0E-A434-B71F9811C003}"/>
              </a:ext>
            </a:extLst>
          </p:cNvPr>
          <p:cNvSpPr>
            <a:spLocks xmlns:a="http://schemas.openxmlformats.org/drawingml/2006/main" noGrp="1"/>
          </p:cNvSpPr>
          <p:nvPr/>
        </p:nvSpPr>
        <p:spPr>
          <a:xfrm xmlns:a="http://schemas.openxmlformats.org/drawingml/2006/main">
            <a:off x="685800" y="6515100"/>
            <a:ext cx="10820400" cy="9525"/>
          </a:xfrm>
          <a:prstGeom xmlns:a="http://schemas.openxmlformats.org/drawingml/2006/main" prst="rect">
            <a:avLst/>
          </a:prstGeom>
          <a:solidFill xmlns:a="http://schemas.openxmlformats.org/drawingml/2006/main">
            <a:srgbClr val="D9E1E8"/>
          </a:solidFill>
          <a:ln xmlns:a="http://schemas.openxmlformats.org/drawingml/2006/main" w="0">
            <a:solidFill>
              <a:srgbClr val="D9E1E8"/>
            </a:solidFill>
            <a:prstDash val="solid"/>
          </a:ln>
        </p:spPr>
      </p:sp>
      <p:sp>
        <p:nvSpPr>
          <p:cNvPr id="4" name="">
            <a:extLst xmlns:a="http://schemas.openxmlformats.org/drawingml/2006/main">
              <a:ext uri="{FF2B5EF4-FFF2-40B4-BE49-F238E27FC236}">
                <a16:creationId xmlns:a16="http://schemas.microsoft.com/office/drawing/2014/main" id="{3F507440-B44F-41B2-9C0F-C7B126A6E8E5}"/>
              </a:ext>
            </a:extLst>
          </p:cNvPr>
          <p:cNvSpPr>
            <a:spLocks xmlns:a="http://schemas.openxmlformats.org/drawingml/2006/main" noGrp="1"/>
          </p:cNvSpPr>
          <p:nvPr/>
        </p:nvSpPr>
        <p:spPr>
          <a:xfrm xmlns:a="http://schemas.openxmlformats.org/drawingml/2006/main">
            <a:off x="685800" y="65913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E6B78"/>
                </a:solidFill>
              </a:defRPr>
            </a:pPr>
            <a:r>
              <a:rPr sz="900" b="0" i="0">
                <a:solidFill>
                  <a:srgbClr val="5E6B78"/>
                </a:solidFill>
              </a:rPr>
              <a:t>ANEXO</a:t>
            </a:r>
          </a:p>
        </p:txBody>
      </p:sp>
      <p:sp>
        <p:nvSpPr>
          <p:cNvPr id="5" name="">
            <a:extLst xmlns:a="http://schemas.openxmlformats.org/drawingml/2006/main">
              <a:ext uri="{FF2B5EF4-FFF2-40B4-BE49-F238E27FC236}">
                <a16:creationId xmlns:a16="http://schemas.microsoft.com/office/drawing/2014/main" id="{CCA6722B-05ED-4E76-9AB1-AB7A6102D483}"/>
              </a:ext>
            </a:extLst>
          </p:cNvPr>
          <p:cNvSpPr>
            <a:spLocks xmlns:a="http://schemas.openxmlformats.org/drawingml/2006/main" noGrp="1"/>
          </p:cNvSpPr>
          <p:nvPr/>
        </p:nvSpPr>
        <p:spPr>
          <a:xfrm xmlns:a="http://schemas.openxmlformats.org/drawingml/2006/main">
            <a:off x="11163300" y="6591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E6B78"/>
                </a:solidFill>
              </a:defRPr>
            </a:pPr>
            <a:r>
              <a:rPr sz="900" b="0" i="0">
                <a:solidFill>
                  <a:srgbClr val="5E6B78"/>
                </a:solidFill>
              </a:rPr>
              <a:t>11</a:t>
            </a:r>
          </a:p>
        </p:txBody>
      </p:sp>
      <p:sp>
        <p:nvSpPr>
          <p:cNvPr id="6" name="">
            <a:extLst xmlns:a="http://schemas.openxmlformats.org/drawingml/2006/main">
              <a:ext uri="{FF2B5EF4-FFF2-40B4-BE49-F238E27FC236}">
                <a16:creationId xmlns:a16="http://schemas.microsoft.com/office/drawing/2014/main" id="{8BF7D407-33B1-4FE0-86EA-C6C1A6132696}"/>
              </a:ext>
            </a:extLst>
          </p:cNvPr>
          <p:cNvSpPr>
            <a:spLocks xmlns:a="http://schemas.openxmlformats.org/drawingml/2006/main" noGrp="1"/>
          </p:cNvSpPr>
          <p:nvPr/>
        </p:nvSpPr>
        <p:spPr>
          <a:xfrm xmlns:a="http://schemas.openxmlformats.org/drawingml/2006/main">
            <a:off x="1123950" y="1162050"/>
            <a:ext cx="7429500" cy="4762500"/>
          </a:xfrm>
          <a:prstGeom xmlns:a="http://schemas.openxmlformats.org/drawingml/2006/main" prst="roundRect">
            <a:avLst>
              <a:gd name="adj" fmla="val 2400"/>
            </a:avLst>
          </a:prstGeom>
          <a:solidFill xmlns:a="http://schemas.openxmlformats.org/drawingml/2006/main">
            <a:srgbClr val="F4F7FA"/>
          </a:solidFill>
          <a:ln xmlns:a="http://schemas.openxmlformats.org/drawingml/2006/main" w="0">
            <a:solidFill>
              <a:srgbClr val="D9E1E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c2aa9aef834ba5"/>
          <a:stretch xmlns:a="http://schemas.openxmlformats.org/drawingml/2006/main"/>
        </p:blipFill>
        <p:spPr>
          <a:xfrm xmlns:a="http://schemas.openxmlformats.org/drawingml/2006/main">
            <a:off x="1409700" y="1257300"/>
            <a:ext cx="6858000"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42D9E0E-5302-4652-98EC-C0291F86508E}"/>
              </a:ext>
            </a:extLst>
          </p:cNvPr>
          <p:cNvSpPr>
            <a:spLocks xmlns:a="http://schemas.openxmlformats.org/drawingml/2006/main" noGrp="1"/>
          </p:cNvSpPr>
          <p:nvPr/>
        </p:nvSpPr>
        <p:spPr>
          <a:xfrm xmlns:a="http://schemas.openxmlformats.org/drawingml/2006/main">
            <a:off x="8896350" y="16192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45B"/>
                </a:solidFill>
              </a:defRPr>
            </a:pPr>
            <a:r>
              <a:rPr sz="1800" b="1" i="0">
                <a:solidFill>
                  <a:srgbClr val="12345B"/>
                </a:solidFill>
              </a:rPr>
              <a:t>Resultado suplementario</a:t>
            </a:r>
          </a:p>
        </p:txBody>
      </p:sp>
      <p:sp>
        <p:nvSpPr>
          <p:cNvPr id="9" name="">
            <a:extLst xmlns:a="http://schemas.openxmlformats.org/drawingml/2006/main">
              <a:ext uri="{FF2B5EF4-FFF2-40B4-BE49-F238E27FC236}">
                <a16:creationId xmlns:a16="http://schemas.microsoft.com/office/drawing/2014/main" id="{226A0B16-FA95-4D1E-BCB6-D2E6EBDCEF92}"/>
              </a:ext>
            </a:extLst>
          </p:cNvPr>
          <p:cNvSpPr>
            <a:spLocks xmlns:a="http://schemas.openxmlformats.org/drawingml/2006/main" noGrp="1"/>
          </p:cNvSpPr>
          <p:nvPr/>
        </p:nvSpPr>
        <p:spPr>
          <a:xfrm xmlns:a="http://schemas.openxmlformats.org/drawingml/2006/main">
            <a:off x="8896350" y="2171700"/>
            <a:ext cx="2381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4313D"/>
                </a:solidFill>
              </a:defRPr>
            </a:pPr>
            <a:r>
              <a:rPr sz="1650" b="0" i="0">
                <a:solidFill>
                  <a:srgbClr val="24313D"/>
                </a:solidFill>
              </a:rPr>
              <a:t>El menor error medio se observó con 3 atributos, pero la alta variabilidad y el carácter separado del experimento impiden reemplazar la selección final.</a:t>
            </a:r>
          </a:p>
        </p:txBody>
      </p:sp>
      <p:sp>
        <p:nvSpPr>
          <p:cNvPr id="10" name="">
            <a:extLst xmlns:a="http://schemas.openxmlformats.org/drawingml/2006/main">
              <a:ext uri="{FF2B5EF4-FFF2-40B4-BE49-F238E27FC236}">
                <a16:creationId xmlns:a16="http://schemas.microsoft.com/office/drawing/2014/main" id="{6CEEF4AE-C3EF-4410-A76E-2761CC27F22B}"/>
              </a:ext>
            </a:extLst>
          </p:cNvPr>
          <p:cNvSpPr>
            <a:spLocks xmlns:a="http://schemas.openxmlformats.org/drawingml/2006/main" noGrp="1"/>
          </p:cNvSpPr>
          <p:nvPr/>
        </p:nvSpPr>
        <p:spPr>
          <a:xfrm xmlns:a="http://schemas.openxmlformats.org/drawingml/2006/main">
            <a:off x="8896350" y="4305300"/>
            <a:ext cx="2266950" cy="876300"/>
          </a:xfrm>
          <a:prstGeom xmlns:a="http://schemas.openxmlformats.org/drawingml/2006/main" prst="roundRect">
            <a:avLst>
              <a:gd name="adj" fmla="val 13043"/>
            </a:avLst>
          </a:prstGeom>
          <a:solidFill xmlns:a="http://schemas.openxmlformats.org/drawingml/2006/main">
            <a:srgbClr val="FFF2D8"/>
          </a:solidFill>
          <a:ln xmlns:a="http://schemas.openxmlformats.org/drawingml/2006/main" w="0">
            <a:solidFill>
              <a:srgbClr val="C87800"/>
            </a:solidFill>
            <a:prstDash val="solid"/>
          </a:ln>
        </p:spPr>
      </p:sp>
      <p:sp>
        <p:nvSpPr>
          <p:cNvPr id="11" name="">
            <a:extLst xmlns:a="http://schemas.openxmlformats.org/drawingml/2006/main">
              <a:ext uri="{FF2B5EF4-FFF2-40B4-BE49-F238E27FC236}">
                <a16:creationId xmlns:a16="http://schemas.microsoft.com/office/drawing/2014/main" id="{2A69AF10-4495-41DC-8F7A-FA38FD86BE45}"/>
              </a:ext>
            </a:extLst>
          </p:cNvPr>
          <p:cNvSpPr>
            <a:spLocks xmlns:a="http://schemas.openxmlformats.org/drawingml/2006/main" noGrp="1"/>
          </p:cNvSpPr>
          <p:nvPr/>
        </p:nvSpPr>
        <p:spPr>
          <a:xfrm xmlns:a="http://schemas.openxmlformats.org/drawingml/2006/main">
            <a:off x="9124950" y="4524375"/>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C87800"/>
                </a:solidFill>
              </a:defRPr>
            </a:pPr>
            <a:r>
              <a:rPr sz="1650" b="1" i="0">
                <a:solidFill>
                  <a:srgbClr val="C87800"/>
                </a:solidFill>
              </a:rPr>
              <a:t>No modifica el modelo elegido</a:t>
            </a:r>
          </a:p>
        </p:txBody>
      </p:sp>
    </p:spTree>
    <p:extLst>
      <p:ext uri="{BB962C8B-B14F-4D97-AF65-F5344CB8AC3E}">
        <p14:creationId xmlns:p14="http://schemas.microsoft.com/office/powerpoint/2010/main" val="749563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2026-07-27T05:06:47.7280000Z</dcterms:created>
  <dcterms:modified xsi:type="dcterms:W3CDTF">2026-07-27T05:06:47.7280000Z</dcterms:modified>
</coreProperties>
</file>