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dec61efe7f4881" /><Relationship Type="http://schemas.openxmlformats.org/officeDocument/2006/relationships/extended-properties" Target="/docProps/app.xml" Id="Ra17451cbbe224a50" /><Relationship Type="http://schemas.openxmlformats.org/officeDocument/2006/relationships/officeDocument" Target="/ppt/presentation.xml" Id="R080dd112a9cd49fa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959009627944216"/>
  </p:sldMasterIdLst>
  <p:notesMasterIdLst>
    <p:notesMasterId xmlns:r="http://schemas.openxmlformats.org/officeDocument/2006/relationships" r:id="R81ef1addd54245b1"/>
  </p:notesMasterIdLst>
  <p:sldIdLst>
    <p:sldId xmlns:r="http://schemas.openxmlformats.org/officeDocument/2006/relationships" id="256" r:id="R564aa25f047a40d7"/>
    <p:sldId xmlns:r="http://schemas.openxmlformats.org/officeDocument/2006/relationships" id="257" r:id="Rf755a893ec5349da"/>
    <p:sldId xmlns:r="http://schemas.openxmlformats.org/officeDocument/2006/relationships" id="258" r:id="R9c51a03265f44473"/>
    <p:sldId xmlns:r="http://schemas.openxmlformats.org/officeDocument/2006/relationships" id="259" r:id="R07c369060cc6462f"/>
    <p:sldId xmlns:r="http://schemas.openxmlformats.org/officeDocument/2006/relationships" id="260" r:id="R7e428cccb835401a"/>
    <p:sldId xmlns:r="http://schemas.openxmlformats.org/officeDocument/2006/relationships" id="261" r:id="R0cfb01d8eff44b22"/>
    <p:sldId xmlns:r="http://schemas.openxmlformats.org/officeDocument/2006/relationships" id="262" r:id="R392f73c1ff0d4abe"/>
    <p:sldId xmlns:r="http://schemas.openxmlformats.org/officeDocument/2006/relationships" id="263" r:id="Rb672306f4dcf48f3"/>
    <p:sldId xmlns:r="http://schemas.openxmlformats.org/officeDocument/2006/relationships" id="264" r:id="Rc827c8f2e503422d"/>
    <p:sldId xmlns:r="http://schemas.openxmlformats.org/officeDocument/2006/relationships" id="265" r:id="Rf2ddd7ac7ce2466a"/>
    <p:sldId xmlns:r="http://schemas.openxmlformats.org/officeDocument/2006/relationships" id="266" r:id="Rf2bf7e839d4646f6"/>
    <p:sldId xmlns:r="http://schemas.openxmlformats.org/officeDocument/2006/relationships" id="267" r:id="R467aadf66d25472a"/>
    <p:sldId xmlns:r="http://schemas.openxmlformats.org/officeDocument/2006/relationships" id="268" r:id="R4e385b8c56cb47d9"/>
  </p:sldIdLst>
  <p:sldSz cx="12192000" cy="6858000"/>
  <p:notesSz cx="6858000" cy="9144000"/>
  <p:embeddedFontLst>
    <p:embeddedFont>
      <p:font typeface="OpenAI Sans"/>
      <p:regular xmlns:r="http://schemas.openxmlformats.org/officeDocument/2006/relationships" r:id="Re42b25d3978046b3"/>
      <p:bold xmlns:r="http://schemas.openxmlformats.org/officeDocument/2006/relationships" r:id="R1a16815f3c774350"/>
      <p:italic xmlns:r="http://schemas.openxmlformats.org/officeDocument/2006/relationships" r:id="Ra4a7a65ace354fcc"/>
      <p:boldItalic xmlns:r="http://schemas.openxmlformats.org/officeDocument/2006/relationships" r:id="R82803929c8aa45df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32d2cb52c44923" /><Relationship Type="http://schemas.openxmlformats.org/officeDocument/2006/relationships/slideMaster" Target="/ppt/slideMasters/slideMaster1.xml" Id="R5959009627944216" /><Relationship Type="http://schemas.openxmlformats.org/officeDocument/2006/relationships/notesMaster" Target="/ppt/notesMasters/notesMaster1.xml" Id="R81ef1addd54245b1" /><Relationship Type="http://schemas.openxmlformats.org/officeDocument/2006/relationships/presProps" Target="/ppt/presProps.xml" Id="R692b539a72164ea1" /><Relationship Type="http://schemas.openxmlformats.org/officeDocument/2006/relationships/viewProps" Target="/ppt/viewProps.xml" Id="R82667ec695eb4c66" /><Relationship Type="http://schemas.openxmlformats.org/officeDocument/2006/relationships/tableStyles" Target="/ppt/tableStyles.xml" Id="R6d2ae746549e463f" /><Relationship Type="http://schemas.openxmlformats.org/officeDocument/2006/relationships/font" Target="/ppt/fonts/font.dat" Id="Re42b25d3978046b3" /><Relationship Type="http://schemas.openxmlformats.org/officeDocument/2006/relationships/font" Target="/ppt/fonts/font2.dat" Id="R1a16815f3c774350" /><Relationship Type="http://schemas.openxmlformats.org/officeDocument/2006/relationships/font" Target="/ppt/fonts/font3.dat" Id="Ra4a7a65ace354fcc" /><Relationship Type="http://schemas.openxmlformats.org/officeDocument/2006/relationships/font" Target="/ppt/fonts/font4.dat" Id="R82803929c8aa45df" /><Relationship Type="http://schemas.openxmlformats.org/officeDocument/2006/relationships/slide" Target="/ppt/slides/slide1.xml" Id="R564aa25f047a40d7" /><Relationship Type="http://schemas.openxmlformats.org/officeDocument/2006/relationships/slide" Target="/ppt/slides/slide2.xml" Id="Rf755a893ec5349da" /><Relationship Type="http://schemas.openxmlformats.org/officeDocument/2006/relationships/slide" Target="/ppt/slides/slide3.xml" Id="R9c51a03265f44473" /><Relationship Type="http://schemas.openxmlformats.org/officeDocument/2006/relationships/slide" Target="/ppt/slides/slide4.xml" Id="R07c369060cc6462f" /><Relationship Type="http://schemas.openxmlformats.org/officeDocument/2006/relationships/slide" Target="/ppt/slides/slide5.xml" Id="R7e428cccb835401a" /><Relationship Type="http://schemas.openxmlformats.org/officeDocument/2006/relationships/slide" Target="/ppt/slides/slide6.xml" Id="R0cfb01d8eff44b22" /><Relationship Type="http://schemas.openxmlformats.org/officeDocument/2006/relationships/slide" Target="/ppt/slides/slide7.xml" Id="R392f73c1ff0d4abe" /><Relationship Type="http://schemas.openxmlformats.org/officeDocument/2006/relationships/slide" Target="/ppt/slides/slide8.xml" Id="Rb672306f4dcf48f3" /><Relationship Type="http://schemas.openxmlformats.org/officeDocument/2006/relationships/slide" Target="/ppt/slides/slide9.xml" Id="Rc827c8f2e503422d" /><Relationship Type="http://schemas.openxmlformats.org/officeDocument/2006/relationships/slide" Target="/ppt/slides/slide10.xml" Id="Rf2ddd7ac7ce2466a" /><Relationship Type="http://schemas.openxmlformats.org/officeDocument/2006/relationships/slide" Target="/ppt/slides/slide11.xml" Id="Rf2bf7e839d4646f6" /><Relationship Type="http://schemas.openxmlformats.org/officeDocument/2006/relationships/slide" Target="/ppt/slides/slide12.xml" Id="R467aadf66d25472a" /><Relationship Type="http://schemas.openxmlformats.org/officeDocument/2006/relationships/slide" Target="/ppt/slides/slide13.xml" Id="R4e385b8c56cb47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1d837ec6f6c4f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96491292b74d8d" /><Relationship Type="http://schemas.openxmlformats.org/officeDocument/2006/relationships/notesMaster" Target="/ppt/notesMasters/notesMaster1.xml" Id="Rc21d8a294cbe4b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ad9fa17ed74376" /><Relationship Type="http://schemas.openxmlformats.org/officeDocument/2006/relationships/notesMaster" Target="/ppt/notesMasters/notesMaster1.xml" Id="Rdd379a630eeb453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3728d1f9570470e" /><Relationship Type="http://schemas.openxmlformats.org/officeDocument/2006/relationships/notesMaster" Target="/ppt/notesMasters/notesMaster1.xml" Id="R92f44144c1e140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5c79f504b34573" /><Relationship Type="http://schemas.openxmlformats.org/officeDocument/2006/relationships/notesMaster" Target="/ppt/notesMasters/notesMaster1.xml" Id="R60f0502d6f6b4f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1274ae2d434dbd" /><Relationship Type="http://schemas.openxmlformats.org/officeDocument/2006/relationships/notesMaster" Target="/ppt/notesMasters/notesMaster1.xml" Id="Rd814a91d17ae45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dd242350fea48a6" /><Relationship Type="http://schemas.openxmlformats.org/officeDocument/2006/relationships/notesMaster" Target="/ppt/notesMasters/notesMaster1.xml" Id="R0ad9e14a46a849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d22f0562c0408b" /><Relationship Type="http://schemas.openxmlformats.org/officeDocument/2006/relationships/notesMaster" Target="/ppt/notesMasters/notesMaster1.xml" Id="R538d26559c1449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50436bf2ec4fe8" /><Relationship Type="http://schemas.openxmlformats.org/officeDocument/2006/relationships/notesMaster" Target="/ppt/notesMasters/notesMaster1.xml" Id="Rc762f3c626b64f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19b92baa2e4790" /><Relationship Type="http://schemas.openxmlformats.org/officeDocument/2006/relationships/notesMaster" Target="/ppt/notesMasters/notesMaster1.xml" Id="Re4fbf86dd59b41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a74a7cf2e5471d" /><Relationship Type="http://schemas.openxmlformats.org/officeDocument/2006/relationships/notesMaster" Target="/ppt/notesMasters/notesMaster1.xml" Id="R416ebedbfb1f455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9625b1d7714a99" /><Relationship Type="http://schemas.openxmlformats.org/officeDocument/2006/relationships/notesMaster" Target="/ppt/notesMasters/notesMaster1.xml" Id="R2bf49092525c47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40887c10aa04a18" /><Relationship Type="http://schemas.openxmlformats.org/officeDocument/2006/relationships/notesMaster" Target="/ppt/notesMasters/notesMaster1.xml" Id="Rb0e3d832c5364a2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b9514c6ccf43c8" /><Relationship Type="http://schemas.openxmlformats.org/officeDocument/2006/relationships/notesMaster" Target="/ppt/notesMasters/notesMaster1.xml" Id="Rdc2a47573d944de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/Users/leonel/Desktop/TAD/Proyecto Integrador - Informe Final 2026 - MartinezMauricioLeonel.pdf</a:t>
            </a:r>
          </a:p>
          <a:p xmlns:a="http://schemas.openxmlformats.org/drawingml/2006/main">
            <a:r>
              <a:t>- /Users/leonel/Desktop/TAD/video/Guion_video_proyecto_integrador.pdf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/Users/leonel/Desktop/TAD/Proyecto Integrador - Informe Final 2026 - MartinezMauricioLeonel.pdf</a:t>
            </a:r>
          </a:p>
          <a:p xmlns:a="http://schemas.openxmlformats.org/drawingml/2006/main">
            <a:r>
              <a:t>- /Users/leonel/Desktop/TAD/video/Guion_video_proyecto_integrador.pdf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/Users/leonel/Desktop/TAD/video/Presentacion_exposicion_proyecto_integrador.pptx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/Users/leonel/Desktop/TAD/video/Presentacion_exposicion_proyecto_integrador.pptx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/Users/leonel/Desktop/TAD/video/Presentacion_exposicion_proyecto_integrador.pptx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/Users/leonel/Desktop/TAD/Proyecto Integrador - Informe Final 2026 - MartinezMauricioLeonel.pdf</a:t>
            </a:r>
          </a:p>
          <a:p xmlns:a="http://schemas.openxmlformats.org/drawingml/2006/main">
            <a:r>
              <a:t>- /Users/leonel/Desktop/TAD/video/Guion_video_proyecto_integrador.pdf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/Users/leonel/Desktop/TAD/video/Presentacion_exposicion_proyecto_integrador.pptx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/Users/leonel/Desktop/TAD/video/Presentacion_exposicion_proyecto_integrador.pptx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/Users/leonel/Desktop/TAD/Proyecto Integrador - Informe Final 2026 - MartinezMauricioLeonel.pdf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/Users/leonel/Desktop/TAD/video/Guion_video_proyecto_integrador.pdf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30999126d458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485a04e934e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fee9aeeb5c48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54ed7bbeff43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bf99857c224ca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143e565df4c0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7c069005f4a2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15a0db16742c6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b23e2925f485f" /><Relationship Type="http://schemas.openxmlformats.org/officeDocument/2006/relationships/slideLayout" Target="/ppt/slideLayouts/slideLayout1.xml" Id="R5b0c982f42a54803" /><Relationship Type="http://schemas.openxmlformats.org/officeDocument/2006/relationships/slideLayout" Target="/ppt/slideLayouts/slideLayout2.xml" Id="Rdf2a0a92505c4e25" /><Relationship Type="http://schemas.openxmlformats.org/officeDocument/2006/relationships/slideLayout" Target="/ppt/slideLayouts/slideLayout3.xml" Id="Rb3233d36e1054811" /><Relationship Type="http://schemas.openxmlformats.org/officeDocument/2006/relationships/slideLayout" Target="/ppt/slideLayouts/slideLayout4.xml" Id="Rcc89dba52f8f4994" /><Relationship Type="http://schemas.openxmlformats.org/officeDocument/2006/relationships/slideLayout" Target="/ppt/slideLayouts/slideLayout5.xml" Id="R7612c03dde5d469a" /><Relationship Type="http://schemas.openxmlformats.org/officeDocument/2006/relationships/slideLayout" Target="/ppt/slideLayouts/slideLayout6.xml" Id="R5afdb1d513c0454b" /><Relationship Type="http://schemas.openxmlformats.org/officeDocument/2006/relationships/slideLayout" Target="/ppt/slideLayouts/slideLayout7.xml" Id="Red9625c9c6bb4018" /><Relationship Type="http://schemas.openxmlformats.org/officeDocument/2006/relationships/slideLayout" Target="/ppt/slideLayouts/slideLayout8.xml" Id="Ref737b85c9264d2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0c982f42a54803"/>
    <p:sldLayoutId xmlns:r="http://schemas.openxmlformats.org/officeDocument/2006/relationships" id="2147483650" r:id="Rdf2a0a92505c4e25"/>
    <p:sldLayoutId xmlns:r="http://schemas.openxmlformats.org/officeDocument/2006/relationships" id="2147483651" r:id="Rb3233d36e1054811"/>
    <p:sldLayoutId xmlns:r="http://schemas.openxmlformats.org/officeDocument/2006/relationships" id="2147483652" r:id="Rcc89dba52f8f4994"/>
    <p:sldLayoutId xmlns:r="http://schemas.openxmlformats.org/officeDocument/2006/relationships" id="2147483653" r:id="R7612c03dde5d469a"/>
    <p:sldLayoutId xmlns:r="http://schemas.openxmlformats.org/officeDocument/2006/relationships" id="2147483654" r:id="R5afdb1d513c0454b"/>
    <p:sldLayoutId xmlns:r="http://schemas.openxmlformats.org/officeDocument/2006/relationships" id="2147483655" r:id="Red9625c9c6bb4018"/>
    <p:sldLayoutId xmlns:r="http://schemas.openxmlformats.org/officeDocument/2006/relationships" id="2147483656" r:id="Ref737b85c9264d20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3ffaa6aa3445db" /><Relationship Type="http://schemas.openxmlformats.org/officeDocument/2006/relationships/notesSlide" Target="/ppt/notesSlides/notesSlide1.xml" Id="R5d17f773b69640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6708d72dfd4ae3" /><Relationship Type="http://schemas.openxmlformats.org/officeDocument/2006/relationships/notesSlide" Target="/ppt/notesSlides/notesSlide2.xml" Id="R783b6232973945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b2f8615c0b24977" /><Relationship Type="http://schemas.openxmlformats.org/officeDocument/2006/relationships/notesSlide" Target="/ppt/notesSlides/notesSlide3.xml" Id="Rba3786774bd541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43ca60660c485f" /><Relationship Type="http://schemas.openxmlformats.org/officeDocument/2006/relationships/notesSlide" Target="/ppt/notesSlides/notesSlide4.xml" Id="R117ea0b8ccde4e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835948032940cd" /><Relationship Type="http://schemas.openxmlformats.org/officeDocument/2006/relationships/image" Target="/ppt/media/image.png" Id="Rc25f4891820a4de8" /><Relationship Type="http://schemas.openxmlformats.org/officeDocument/2006/relationships/notesSlide" Target="/ppt/notesSlides/notesSlide5.xml" Id="R489a609c081c47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6cb16e0d9c4634" /><Relationship Type="http://schemas.openxmlformats.org/officeDocument/2006/relationships/image" Target="/ppt/media/image2.png" Id="R3e827bb99b2b4e9a" /><Relationship Type="http://schemas.openxmlformats.org/officeDocument/2006/relationships/notesSlide" Target="/ppt/notesSlides/notesSlide6.xml" Id="Ra9195d83e3014b9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b6b2a200142f0" /><Relationship Type="http://schemas.openxmlformats.org/officeDocument/2006/relationships/image" Target="/ppt/media/image3.png" Id="Refd787ff893a41d6" /><Relationship Type="http://schemas.openxmlformats.org/officeDocument/2006/relationships/notesSlide" Target="/ppt/notesSlides/notesSlide7.xml" Id="R90a93daf68a743c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95fba4c421481e" /><Relationship Type="http://schemas.openxmlformats.org/officeDocument/2006/relationships/chart" Target="/ppt/slides/charts/chart1.xml" Id="R99bb11aeedde433e" /><Relationship Type="http://schemas.openxmlformats.org/officeDocument/2006/relationships/notesSlide" Target="/ppt/notesSlides/notesSlide8.xml" Id="R088fad0ec7e744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26ed728d9f4f9b" /><Relationship Type="http://schemas.openxmlformats.org/officeDocument/2006/relationships/chart" Target="/ppt/slides/charts/chart2.xml" Id="Rf0aa9d37968d4880" /><Relationship Type="http://schemas.openxmlformats.org/officeDocument/2006/relationships/notesSlide" Target="/ppt/notesSlides/notesSlide9.xml" Id="Rf7280cb97b304f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47d03eda24ca8" /><Relationship Type="http://schemas.openxmlformats.org/officeDocument/2006/relationships/image" Target="/ppt/media/image4.png" Id="Re2072d86bf434268" /><Relationship Type="http://schemas.openxmlformats.org/officeDocument/2006/relationships/notesSlide" Target="/ppt/notesSlides/notesSlide10.xml" Id="R8b769030250a4b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6d252d73c54094" /><Relationship Type="http://schemas.openxmlformats.org/officeDocument/2006/relationships/notesSlide" Target="/ppt/notesSlides/notesSlide11.xml" Id="R6a6c1dd8b67f45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cb51b6260a439e" /><Relationship Type="http://schemas.openxmlformats.org/officeDocument/2006/relationships/image" Target="/ppt/media/image5.png" Id="R117421399bc8465e" /><Relationship Type="http://schemas.openxmlformats.org/officeDocument/2006/relationships/notesSlide" Target="/ppt/notesSlides/notesSlide12.xml" Id="Rb46720b096f148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3e86934fa476a" /><Relationship Type="http://schemas.openxmlformats.org/officeDocument/2006/relationships/notesSlide" Target="/ppt/notesSlides/notesSlide13.xml" Id="R900d52aa29ce432e" /></Relationships>
</file>

<file path=ppt/slides/charts/chart1.xml><?xml version="1.0" encoding="utf-8"?>
<c:chartSpace xmlns:mc="http://schemas.openxmlformats.org/markup-compatibility/2006" xmlns:c14="http://schemas.microsoft.com/office/drawing/2007/8/2/chart" xmlns:c="http://schemas.openxmlformats.org/drawingml/2006/chart" mc:Ignorable="c14">
  <c:lang val="en-US"/>
  <c:roundedCorners val="0"/>
  <mc:AlternateContent>
    <mc:Choice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013821697687269586"/>
          <c:y val="0.02527575450117403"/>
        </c:manualLayout>
      </c:layout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800" b="0" i="0" u="none">
              <a:solidFill>
                <a:schemeClr val="tx1"/>
              </a:solidFill>
              <a:latin typeface="+mn-lt"/>
              <a:ea typeface="+mn-lt"/>
              <a:cs typeface="+mn-lt"/>
            </a:defRPr>
          </a:pPr>
        </a:p>
      </c:txPr>
    </c:title>
    <c:autoTitleDeleted val="0"/>
    <c:plotArea>
      <c:layout>
        <c:manualLayout>
          <c:layoutTarget val="inner"/>
          <c:xMode val="edge"/>
          <c:yMode val="edge"/>
          <c:x val="0.08245552360503024"/>
          <c:y val="0.16727494328876974"/>
          <c:w val="0.8907956446698214"/>
          <c:h val="0.6966469621926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 xmlns:a="http://schemas.openxmlformats.org/drawingml/2006/main">
              <a:srgbClr val="B9AEA4"/>
            </a:solidFill>
            <a:ln xmlns:a="http://schemas.openxmlformats.org/drawingml/2006/main" w="0">
              <a:solidFill>
                <a:srgbClr val="B9AEA4"/>
              </a:solidFill>
              <a:prstDash val="solid"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Árbol</c:v>
                </c:pt>
                <c:pt idx="1">
                  <c:v>Naive Bayes</c:v>
                </c:pt>
                <c:pt idx="2">
                  <c:v>k-NN</c:v>
                </c:pt>
                <c:pt idx="3">
                  <c:v>Logística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92.84</c:v>
                </c:pt>
                <c:pt idx="1">
                  <c:v>84.75</c:v>
                </c:pt>
                <c:pt idx="2">
                  <c:v>93.07</c:v>
                </c:pt>
                <c:pt idx="3">
                  <c:v>87.89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clase 1 (%)</c:v>
                </c:pt>
              </c:strCache>
            </c:strRef>
          </c:tx>
          <c:spPr>
            <a:solidFill xmlns:a="http://schemas.openxmlformats.org/drawingml/2006/main">
              <a:srgbClr val="A84A2A"/>
            </a:solidFill>
            <a:ln xmlns:a="http://schemas.openxmlformats.org/drawingml/2006/main" w="0">
              <a:solidFill>
                <a:srgbClr val="A84A2A"/>
              </a:solidFill>
              <a:prstDash val="solid"/>
            </a:ln>
          </c:spPr>
          <c:dLbls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400" b="0" i="0" u="none">
                    <a:solidFill>
                      <a:schemeClr val="tx1"/>
                    </a:solidFill>
                    <a:latin typeface="+mn-lt"/>
                    <a:ea typeface="+mn-lt"/>
                    <a:cs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Árbol</c:v>
                </c:pt>
                <c:pt idx="1">
                  <c:v>Naive Bayes</c:v>
                </c:pt>
                <c:pt idx="2">
                  <c:v>k-NN</c:v>
                </c:pt>
                <c:pt idx="3">
                  <c:v>Logística</c:v>
                </c:pt>
              </c:strCache>
            </c:strRef>
          </c:cat>
          <c:val>
            <c:numRef>
              <c:f>Sheet1!$C$2:$C$5</c:f>
              <c:numCache>
                <c:formatCode>0.00</c:formatCode>
                <c:ptCount val="4"/>
                <c:pt idx="0">
                  <c:v>2.94</c:v>
                </c:pt>
                <c:pt idx="1">
                  <c:v>41.18</c:v>
                </c:pt>
                <c:pt idx="2">
                  <c:v>9.41</c:v>
                </c:pt>
                <c:pt idx="3">
                  <c:v>44.12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6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-16"/>
        <c:axId val="1785928255"/>
        <c:axId val="1769229823"/>
      </c:barChart>
      <c:catAx>
        <c:axId val="17859282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ED8D2"/>
            </a:solidFill>
            <a:prstDash val="solid"/>
          </a:ln>
        </c:spPr>
        <c:txPr>
          <a:bodyPr xmlns:a="http://schemas.openxmlformats.org/drawingml/2006/main" rot="-60000000" spcFirstLastPara="1" vert="horz" wrap="square" anchor="ctr" anchorCtr="1"/>
          <a:lstStyle xmlns:a="http://schemas.openxmlformats.org/drawingml/2006/main"/>
          <a:p xmlns:a="http://schemas.openxmlformats.org/drawingml/2006/main">
            <a:pPr>
              <a:defRPr sz="975" b="0" i="0" u="none">
                <a:solidFill>
                  <a:srgbClr val="2D2A27"/>
                </a:solidFill>
                <a:latin typeface="+mn-lt"/>
                <a:ea typeface="+mn-lt"/>
                <a:cs typeface="+mn-lt"/>
              </a:defRPr>
            </a:pPr>
          </a:p>
        </c:txPr>
        <c:crossAx val="1769229823"/>
        <c:crosses val="autoZero"/>
        <c:lblAlgn val="ctr"/>
        <c:lblOffset val="100"/>
        <c:noMultiLvlLbl val="0"/>
      </c:catAx>
      <c:valAx>
        <c:axId val="1769229823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EAE6"/>
              </a:solidFill>
              <a:prstDash val="solid"/>
            </a:ln>
          </c:spPr>
        </c:majorGridlines>
        <c:numFmt formatCode="0.00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ED8D2"/>
            </a:solidFill>
            <a:prstDash val="solid"/>
          </a:ln>
        </c:spPr>
        <c:txPr>
          <a:bodyPr xmlns:a="http://schemas.openxmlformats.org/drawingml/2006/main" rot="-60000000" vert="horz" anchor="ctr" anchorCtr="1"/>
          <a:lstStyle xmlns:a="http://schemas.openxmlformats.org/drawingml/2006/main"/>
          <a:p xmlns:a="http://schemas.openxmlformats.org/drawingml/2006/main">
            <a:pPr>
              <a:defRPr sz="900" b="0" i="0" u="none">
                <a:solidFill>
                  <a:srgbClr val="6B645E"/>
                </a:solidFill>
                <a:latin typeface="Helvetica Neue Medium"/>
                <a:ea typeface="Helvetica Neue Medium"/>
                <a:cs typeface="Helvetica Neue Medium"/>
              </a:defRPr>
            </a:pPr>
          </a:p>
        </c:txPr>
        <c:crossAx val="1785928255"/>
        <c:crosses val="autoZero"/>
        <c:crossBetween val="between"/>
        <c:majorUnit val="20"/>
      </c:valAx>
      <c:spPr>
        <a:solidFill xmlns:a="http://schemas.openxmlformats.org/drawingml/2006/main">
          <a:srgbClr val="FFFEFC"/>
        </a:solidFill>
        <a:ln xmlns:a="http://schemas.openxmlformats.org/drawingml/2006/main" w="0">
          <a:solidFill>
            <a:srgbClr val="FFFEFC"/>
          </a:solidFill>
          <a:prstDash val="solid"/>
        </a:ln>
      </c:spPr>
    </c:plotArea>
    <c:legend>
      <c:legendPos val="t"/>
      <c:layout>
        <c:manualLayout>
          <c:xMode val="edge"/>
          <c:yMode val="edge"/>
          <c:x val="0.5806745349794367"/>
          <c:y val="0.02738737462131148"/>
          <c:w val="0.33176846567900986"/>
          <c:h val="0.05005992543055356"/>
        </c:manualLayout>
      </c:layout>
      <c:overlay val="0"/>
      <c:spPr>
        <a:noFill xmlns:a="http://schemas.openxmlformats.org/drawingml/2006/main"/>
      </c:spPr>
      <c:txPr>
        <a:bodyPr xmlns:a="http://schemas.openxmlformats.org/drawingml/2006/main" rot="0" vert="horz" anchor="ctr" anchorCtr="1"/>
        <a:lstStyle xmlns:a="http://schemas.openxmlformats.org/drawingml/2006/main"/>
        <a:p xmlns:a="http://schemas.openxmlformats.org/drawingml/2006/main">
          <a:pPr>
            <a:defRPr sz="1050" b="0" i="0" u="none">
              <a:solidFill>
                <a:srgbClr val="6B645E"/>
              </a:solidFill>
              <a:latin typeface="+mn-lt"/>
              <a:ea typeface="+mn-lt"/>
              <a:cs typeface="+mn-lt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Precisión (%)</c:v>
          </c:tx>
          <c:spPr>
            <a:solidFill xmlns:a="http://schemas.openxmlformats.org/drawingml/2006/main">
              <a:srgbClr val="B9AEA4"/>
            </a:solidFill>
            <a:ln xmlns:a="http://schemas.openxmlformats.org/drawingml/2006/main" w="0">
              <a:solidFill>
                <a:srgbClr val="B9AEA4"/>
              </a:solidFill>
              <a:prstDash val="solid"/>
            </a:ln>
          </c:spPr>
          <c:cat>
            <c:strLit>
              <c:ptCount val="4"/>
              <c:pt idx="0">
                <c:v>Árbol</c:v>
              </c:pt>
              <c:pt idx="1">
                <c:v>Naive Bayes</c:v>
              </c:pt>
              <c:pt idx="2">
                <c:v>k-NN</c:v>
              </c:pt>
              <c:pt idx="3">
                <c:v>Logística</c:v>
              </c:pt>
            </c:strLit>
          </c:cat>
          <c:val>
            <c:numLit>
              <c:formatCode>0.00</c:formatCode>
              <c:ptCount val="4"/>
              <c:pt idx="0">
                <c:v>18.62</c:v>
              </c:pt>
              <c:pt idx="1">
                <c:v>13.65</c:v>
              </c:pt>
              <c:pt idx="2">
                <c:v>14.71</c:v>
              </c:pt>
              <c:pt idx="3">
                <c:v>10.24</c:v>
              </c:pt>
            </c:numLit>
          </c:val>
        </c:ser>
        <c:ser>
          <c:idx val="1"/>
          <c:order val="1"/>
          <c:tx>
            <c:v>Recall (%)</c:v>
          </c:tx>
          <c:spPr>
            <a:solidFill xmlns:a="http://schemas.openxmlformats.org/drawingml/2006/main">
              <a:srgbClr val="A84A2A"/>
            </a:solidFill>
            <a:ln xmlns:a="http://schemas.openxmlformats.org/drawingml/2006/main" w="0">
              <a:solidFill>
                <a:srgbClr val="A84A2A"/>
              </a:solidFill>
              <a:prstDash val="solid"/>
            </a:ln>
          </c:spPr>
          <c:cat>
            <c:strLit>
              <c:ptCount val="4"/>
              <c:pt idx="0">
                <c:v>Árbol</c:v>
              </c:pt>
              <c:pt idx="1">
                <c:v>Naive Bayes</c:v>
              </c:pt>
              <c:pt idx="2">
                <c:v>k-NN</c:v>
              </c:pt>
              <c:pt idx="3">
                <c:v>Logística</c:v>
              </c:pt>
            </c:strLit>
          </c:cat>
          <c:val>
            <c:numLit>
              <c:formatCode>0.00</c:formatCode>
              <c:ptCount val="4"/>
              <c:pt idx="0">
                <c:v>57.06</c:v>
              </c:pt>
              <c:pt idx="1">
                <c:v>67.06</c:v>
              </c:pt>
              <c:pt idx="2">
                <c:v>43.53</c:v>
              </c:pt>
              <c:pt idx="3">
                <c:v>81.76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71615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ED8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2D2A27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EAE6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ED8D2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645E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EFC"/>
        </a:solidFill>
        <a:ln xmlns:a="http://schemas.openxmlformats.org/drawingml/2006/main" w="0">
          <a:solidFill>
            <a:srgbClr val="FFFEFC"/>
          </a:solidFill>
          <a:prstDash val="solid"/>
        </a:ln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6B645E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EFC"/>
    </a:solidFill>
    <a:ln xmlns:a="http://schemas.openxmlformats.org/drawingml/2006/main" w="9525">
      <a:solidFill>
        <a:srgbClr val="DED8D2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48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Detección preventiva de eventos</a:t>
            </a:r>
          </a:p>
          <a:p xmlns:a="http://schemas.openxmlformats.org/drawingml/2006/main">
            <a:pPr algn="l"/>
            <a:r>
              <a:rPr sz="48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sísmicos peligrosos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42208"/>
            <a:ext cx="5702301" cy="1080246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75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Comparación de cuatro modelos sobre Seismic-Bumps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</a:pPr>
            <a:r>
              <a:rPr sz="1575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Mauricio Leonel Martínez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92241"/>
            <a:ext cx="57023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/>
            <a:r>
              <a:rPr sz="1350" b="1">
                <a:solidFill>
                  <a:srgbClr val="A84A2A"/>
                </a:solidFill>
                <a:latin typeface="Helvetica Neue"/>
                <a:ea typeface="Helvetica Neue"/>
                <a:cs typeface="Helvetica Neue"/>
              </a:rPr>
              <a:t>PROYECTO INTEGRADOR ·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Riesgo operativo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170 de 2.584 registros corresponden a eventos peligrosos. Un clasificador que predice siempre “no peligroso” supera el 93% de accuracy y, aun así, falla el objetivo preventivo.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E2598689-54C9-18A7-3A19-ED76AA08988F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La clase peligrosa representa solo el 6,58% del conjunto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Pregunta de investigación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¿Qué diferencias presentan árbol de decisión, Naive Bayes, k-NN y regresión logística en rendimiento global y detección de la clase peligrosa, bajo un procedimiento de evaluación común?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1838848"/>
            <a:ext cx="5533190" cy="4155552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725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Objetivo general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Analizar comparativamente el comportamiento de un árbol de decisión, Naive Bayes, k-NN y regresión logística para clasificar la ocurrencia de eventos sísmicos peligrosos en Seismic-Bumps.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202359C0-8A7A-196E-DD58-8E6569619F09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Comparar modelos sin perder de vista el riesgo</a:t>
            </a:r>
          </a:p>
        </p:txBody>
      </p:sp>
      <p:sp>
        <p:nvSpPr>
          <p:cNvPr id="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5111" y="2192694"/>
            <a:ext cx="5537200" cy="380170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Criterio de análisis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La comparación se realiza con un protocolo común y considera tanto el rendimiento global como la capacidad de detectar la clase 1. La selección final prioriza el criterio preventivo, no la accuracy aislada.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/>
            <a:fld id="{EFD6AB9A-5F9E-5F59-51AB-3C8734130965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4</a:t>
            </a:fld>
          </a:p>
        </p:txBody>
      </p:sp>
      <p:sp>
        <p:nvSpPr>
          <p:cNvPr id="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5 · Métricas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Comparar accuracy, AUC (optimistic), precisión, recall y F1 de clase 1.</a:t>
            </a:r>
          </a:p>
        </p:txBody>
      </p:sp>
      <p:sp>
        <p:nvSpPr>
          <p:cNvPr id="3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6 · SMOTE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Medir su efecto aplicado solo dentro de Training.</a:t>
            </a:r>
          </a:p>
        </p:txBody>
      </p:sp>
      <p:sp>
        <p:nvSpPr>
          <p:cNvPr id="5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7 · Selección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Priorizar la detección de la clase peligrosa.</a:t>
            </a:r>
          </a:p>
        </p:txBody>
      </p:sp>
      <p:sp>
        <p:nvSpPr>
          <p:cNvPr id="6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4161066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8 · Limitaciones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Explicitar las limitaciones metodológicas de los resultados.</a:t>
            </a:r>
          </a:p>
        </p:txBody>
      </p:sp>
      <p:sp>
        <p:nvSpPr>
          <p:cNvPr id="2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1 · Datos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Describir el ARFF, sus atributos y la distribución de clases.</a:t>
            </a:r>
          </a:p>
        </p:txBody>
      </p:sp>
      <p:sp>
        <p:nvSpPr>
          <p:cNvPr id="29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4966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2 · Preparación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Documentar el proceso sin transformaciones no comprobadas.</a:t>
            </a:r>
          </a:p>
        </p:txBody>
      </p:sp>
      <p:sp>
        <p:nvSpPr>
          <p:cNvPr id="30" name="Content Placeholder 17">
            <a:extLst xmlns:a="http://schemas.openxmlformats.org/drawingml/2006/main"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3 · Modelos base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Evaluar con validación cruzada estratificada.</a:t>
            </a:r>
          </a:p>
        </p:txBody>
      </p:sp>
      <p:sp>
        <p:nvSpPr>
          <p:cNvPr id="31" name="Text Placeholder 18">
            <a:extLst xmlns:a="http://schemas.openxmlformats.org/drawingml/2006/main"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679" y="2208087"/>
            <a:ext cx="2595934" cy="14156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4 · Matrices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1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Leer filas verdaderas y columnas predichas.</a:t>
            </a:r>
          </a:p>
        </p:txBody>
      </p:sp>
      <p:sp>
        <p:nvSpPr>
          <p:cNvPr id="32" name="Replaced title 4">
            <a:extLst xmlns:a="http://schemas.openxmlformats.org/drawingml/2006/main">
              <a:ext uri="{FF2B5EF4-FFF2-40B4-BE49-F238E27FC236}">
                <a16:creationId xmlns:a16="http://schemas.microsoft.com/office/drawing/2014/main" id="{32608AB2-078A-4FB2-896A-9B68876B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Ocho objetivos estructuran la comparación</a:t>
            </a:r>
          </a:p>
        </p:txBody>
      </p:sp>
    </p:spTree>
    <p:extLst>
      <p:ext uri="{BB962C8B-B14F-4D97-AF65-F5344CB8AC3E}">
        <p14:creationId xmlns:p14="http://schemas.microsoft.com/office/powerpoint/2010/main" val="343078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EE5B3003-2C54-13C6-9832-7637201064DE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5</a:t>
            </a:fld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75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Seismic-Bumps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2.584 registros · 18 atributos predictivos · variable objetivo binaria “class”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2.414 clase 0 — 93,42%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170 clase 1 — 6,58%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El encabezado ARFF no declara valores faltantes.</a:t>
            </a:r>
          </a:p>
        </p:txBody>
      </p:sp>
      <p:sp>
        <p:nvSpPr>
          <p:cNvPr id="535" name="Replaced title 5">
            <a:extLst xmlns:a="http://schemas.openxmlformats.org/drawingml/2006/main">
              <a:ext uri="{FF2B5EF4-FFF2-40B4-BE49-F238E27FC236}">
                <a16:creationId xmlns:a16="http://schemas.microsoft.com/office/drawing/2014/main" id="{03D068A4-206A-4C47-99AD-19913B9C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El riesgo se concentra en solo 170 registros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f4891820a4de8"/>
          <a:stretch xmlns:a="http://schemas.openxmlformats.org/drawingml/2006/main"/>
        </p:blipFill>
        <p:spPr>
          <a:xfrm xmlns:a="http://schemas.openxmlformats.org/drawingml/2006/main">
            <a:off x="6269040" y="1769942"/>
            <a:ext cx="5539740" cy="285500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8C630A04-5A25-9E0C-9436-126091DB86B3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6</a:t>
            </a:fld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Validación cruzada estratificada de 10 particiones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Árbol de decisión · Naive Bayes · k-NN (k = 5) · Regresión logística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Training: aprende el modelo y aplica la preparación permitida.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42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Testing: aplica el modelo y mide desempeño sobre datos no usados para aprender.</a:t>
            </a:r>
          </a:p>
        </p:txBody>
      </p:sp>
      <p:sp>
        <p:nvSpPr>
          <p:cNvPr id="535" name="Replaced title 6">
            <a:extLst xmlns:a="http://schemas.openxmlformats.org/drawingml/2006/main">
              <a:ext uri="{FF2B5EF4-FFF2-40B4-BE49-F238E27FC236}">
                <a16:creationId xmlns:a16="http://schemas.microsoft.com/office/drawing/2014/main" id="{B025FB4D-ED0C-4997-A455-13336223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Un protocolo común permite comparar los cuatro algoritmos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827bb99b2b4e9a"/>
          <a:stretch xmlns:a="http://schemas.openxmlformats.org/drawingml/2006/main"/>
        </p:blipFill>
        <p:spPr>
          <a:xfrm xmlns:a="http://schemas.openxmlformats.org/drawingml/2006/main">
            <a:off x="6269040" y="1955914"/>
            <a:ext cx="5539740" cy="248306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D3D7D1C8-AE23-AA48-DF65-C742588DBE47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7</a:t>
            </a:fld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Preparación por partición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k-NN: normalización dentro de cada fold.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Variantes con SMOTE: ejemplos sintéticos únicamente en Training.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50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Testing no se normaliza con información futura ni se rebalancea. Así se evita contaminar la estimación.</a:t>
            </a:r>
          </a:p>
        </p:txBody>
      </p:sp>
      <p:sp>
        <p:nvSpPr>
          <p:cNvPr id="535" name="Replaced title 7">
            <a:extLst xmlns:a="http://schemas.openxmlformats.org/drawingml/2006/main">
              <a:ext uri="{FF2B5EF4-FFF2-40B4-BE49-F238E27FC236}">
                <a16:creationId xmlns:a16="http://schemas.microsoft.com/office/drawing/2014/main" id="{5E8F1F35-C4E6-4F39-8C0C-BAE1DC60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La preparación cambia Training; Testing permanece intacto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787ff893a41d6"/>
          <a:stretch xmlns:a="http://schemas.openxmlformats.org/drawingml/2006/main"/>
        </p:blipFill>
        <p:spPr>
          <a:xfrm xmlns:a="http://schemas.openxmlformats.org/drawingml/2006/main">
            <a:off x="6269040" y="2180311"/>
            <a:ext cx="5539740" cy="20342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4B3D1A-6BB0-A1C9-2A5D-E2CB5C0C28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/>
            <a:fld id="{BA58DA2A-B818-18A9-29C1-B697728D5BCE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8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76E542D1-756D-7A52-4319-E7068676C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La accuracy alta ocultó una detección peligrosa muy baja</a:t>
            </a: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23EBE22F-0E57-50F2-2730-87B6AA22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176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3750" b="0" u="none" cap="none">
                <a:ln>
                  <a:noFill/>
                </a:ln>
                <a:solidFill>
                  <a:srgbClr val="A84A2A"/>
                </a:solidFill>
                <a:latin typeface="Helvetica Neue"/>
                <a:ea typeface="Helvetica Neue"/>
                <a:cs typeface="Helvetica Neue"/>
              </a:rPr>
              <a:t>2,94%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21A36F2-8209-5AA9-0D95-01C3D5856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Recall del árbol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sin SMOTE</a:t>
            </a: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26AD9AD-13F4-E1DA-D400-C93C8877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8381" y="407234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3750" b="0" u="none" cap="none">
                <a:ln>
                  <a:noFill/>
                </a:ln>
                <a:solidFill>
                  <a:srgbClr val="A84A2A"/>
                </a:solidFill>
                <a:latin typeface="Helvetica Neue"/>
                <a:ea typeface="Helvetica Neue"/>
                <a:cs typeface="Helvetica Neue"/>
              </a:rPr>
              <a:t>44,12%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80012E4-4A17-58AB-7C13-D2FE52FD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4999" y="5068235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Mayor recall base: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regresión logística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9E294EF-928B-660C-B2B3-E78F4ECC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041400"/>
            <a:ext cx="5526315" cy="5435072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tx1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BE261F0F-2359-53ED-9F86-805EC1A3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794" y="1709230"/>
            <a:ext cx="5331640" cy="16140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Accuracy | Recall de clase 1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Árbol 92,84 | 2,94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Naive Bayes 84,75 | 41,18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k-NN 93,07 | 9,41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Logística 87,89 | 44,12</a:t>
            </a:r>
          </a:p>
        </p:txBody>
      </p:sp>
      <p:graphicFrame>
        <p:nvGraphicFramePr>
          <p:cNvPr id="52" name="Chart 2"/>
          <p:cNvGraphicFramePr/>
          <p:nvPr/>
        </p:nvGraphicFramePr>
        <p:xfrm>
          <a:off xmlns:a="http://schemas.openxmlformats.org/drawingml/2006/main" x="634472" y="1322449"/>
          <a:ext xmlns:a="http://schemas.openxmlformats.org/drawingml/2006/main" cx="5029728" cy="4784599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9bb11aeedde433e"/>
          </a:graphicData>
        </a:graphic>
      </p:graphicFrame>
    </p:spTree>
    <p:extLst>
      <p:ext uri="{BB962C8B-B14F-4D97-AF65-F5344CB8AC3E}">
        <p14:creationId xmlns:p14="http://schemas.microsoft.com/office/powerpoint/2010/main" val="1126433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F29587C6-818E-614C-4E8F-CD264BB5DD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388657AE-30A1-5A7A-6A7F-315D84436430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9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FE1DBC-074A-B31C-7363-7F3B844437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SMOTE cambia el equilibrio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0871A73-A37A-1E7C-6089-9D4D7E09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C7B8C8B-F20A-31B8-CB9E-D406AEA7C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Naive Bayes + SMOTE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Precisión 13,65% · Recall 67,06%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06E7539-B6D2-84FE-7719-21D7381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3" y="393700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0BFF6E-013F-2CA5-21F9-98283DFCB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8" y="688632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Árbol + SMOTE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Precisión 18,62% · Recall 57,06%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C4E18E5B-6405-1268-D0C6-02B9E1F83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8153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F7239E1-4EF6-5723-3651-1149031A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7646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k-NN y Logística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k-NN: 14,71% · 43,53%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Logística: 10,24% · 81,76%</a:t>
            </a:r>
          </a:p>
        </p:txBody>
      </p:sp>
      <p:graphicFrame>
        <p:nvGraphicFramePr>
          <p:cNvPr id="543" name="Chart"/>
          <p:cNvGraphicFramePr/>
          <p:nvPr/>
        </p:nvGraphicFramePr>
        <p:xfrm>
          <a:off xmlns:a="http://schemas.openxmlformats.org/drawingml/2006/main" x="408690" y="1054100"/>
          <a:ext xmlns:a="http://schemas.openxmlformats.org/drawingml/2006/main" cx="5124182" cy="545200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aa9d37968d4880"/>
          </a:graphicData>
        </a:graphic>
      </p:graphicFrame>
    </p:spTree>
    <p:extLst>
      <p:ext uri="{BB962C8B-B14F-4D97-AF65-F5344CB8AC3E}">
        <p14:creationId xmlns:p14="http://schemas.microsoft.com/office/powerpoint/2010/main" val="31459752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DB7BEEEC-A170-5376-2B6E-CB54687B0CB1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10</a:t>
            </a:fld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725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AUC (optimistic)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Naive Bayes 0,748 ± 0,034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Regresión logística 0,757 ± 0,060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k-NN 0,753 ± 0,041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Árbol 0,812 ± 0,065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El árbol lidera la discriminación global. La selección operativa considera el recall en un umbral concreto: son criterios distintos.</a:t>
            </a:r>
          </a:p>
        </p:txBody>
      </p:sp>
      <p:sp>
        <p:nvSpPr>
          <p:cNvPr id="535" name="Replaced title 10">
            <a:extLst xmlns:a="http://schemas.openxmlformats.org/drawingml/2006/main">
              <a:ext uri="{FF2B5EF4-FFF2-40B4-BE49-F238E27FC236}">
                <a16:creationId xmlns:a16="http://schemas.microsoft.com/office/drawing/2014/main" id="{0D6D3116-B2F9-4CF1-8AFE-FCFA6A45A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La evidencia ROC antecede la selección final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72d86bf434268"/>
          <a:stretch xmlns:a="http://schemas.openxmlformats.org/drawingml/2006/main"/>
        </p:blipFill>
        <p:spPr>
          <a:xfrm xmlns:a="http://schemas.openxmlformats.org/drawingml/2006/main">
            <a:off x="6269040" y="1053893"/>
            <a:ext cx="5539740" cy="428710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30394428-F1DC-E5F6-DB0C-7DE31F3D8A23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11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Regresión logística + SMOTE: elección preventiva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1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FP — 1.219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Verdadera 0 · Predicha 1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36985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266478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100" b="1" i="0" u="none" cap="none">
                <a:ln>
                  <a:noFill/>
                </a:ln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TN — 1.195</a:t>
            </a:r>
          </a:p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350" b="0" i="0" u="none" cap="none">
                <a:ln>
                  <a:noFill/>
                </a:ln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Verdadera 0 · Predicha 0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47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1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TP — 139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Verdadera 1 · Predicha 1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4665038"/>
            <a:ext cx="4986886" cy="104843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21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FN — 31</a:t>
            </a:r>
          </a:p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Verdadera 1 · Predicha 0</a:t>
            </a:r>
          </a:p>
        </p:txBody>
      </p:sp>
      <p:sp>
        <p:nvSpPr>
          <p:cNvPr id="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057501"/>
            <a:ext cx="11404599" cy="1012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6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Selección preventiva</a:t>
            </a: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Recall 81,76% · 139 de 170 detectados · Precisión 10,24% · AUC (optimistic): 0,757</a:t>
            </a:r>
          </a:p>
          <a:p xmlns:a="http://schemas.openxmlformats.org/drawingml/2006/main"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Matriz de confusión: filas verdaderas, columnas predichas. La elección no es globalmente dominante.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4DB16885-0D3F-A391-B669-3211DB3B26E8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12</a:t>
            </a:fld>
          </a:p>
        </p:txBody>
      </p:sp>
      <p:sp>
        <p:nvSpPr>
          <p:cNvPr id="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5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Experimento complementario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Atributos: 3 · 6 · 9 · 12 · 15 · 18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Error medio (%): 39,09 · 52,16 · 50,46 · 55,34 · 49,31 · 47,44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Variabilidad (±): 2,39 · 14,04 · 2,84 · 3,94 · 3,36 · 5,64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275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El patrón es no monotónico. Este análisis separado no reemplaza al modelo seleccionado.</a:t>
            </a:r>
          </a:p>
        </p:txBody>
      </p:sp>
      <p:sp>
        <p:nvSpPr>
          <p:cNvPr id="535" name="Replaced title 12">
            <a:extLst xmlns:a="http://schemas.openxmlformats.org/drawingml/2006/main">
              <a:ext uri="{FF2B5EF4-FFF2-40B4-BE49-F238E27FC236}">
                <a16:creationId xmlns:a16="http://schemas.microsoft.com/office/drawing/2014/main" id="{D7364439-08CF-4706-BDCC-3C9304B9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La cantidad de atributos no mejora el error de forma monotónica</a:t>
            </a:r>
          </a:p>
        </p:txBody>
      </p:sp>
      <p:pic>
        <p:nvPicPr>
          <p:cNvPr id="5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7421399bc8465e"/>
          <a:stretch xmlns:a="http://schemas.openxmlformats.org/drawingml/2006/main"/>
        </p:blipFill>
        <p:spPr>
          <a:xfrm xmlns:a="http://schemas.openxmlformats.org/drawingml/2006/main">
            <a:off x="6269040" y="1350864"/>
            <a:ext cx="5539740" cy="369316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6707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C152D0-CDF3-969A-A32E-0A1C97DA936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/>
            <a:fld id="{2DD23107-4986-8758-3A93-3D74F35908CC}" type="slidenum">
              <a:rPr sz="9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13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9CA28587-E9DB-FD6E-67D5-B6C4D2034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/>
            <a:r>
              <a:rPr sz="3000" b="0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La elección preventiva exige validación antes de operar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575F3F3-5548-310C-CA8A-2BB5F4F1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9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Ajustar el equilibrio entre omisiones y falsas alarmas.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0C3B7B-28A7-FE2B-805B-9E84EA8C0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23749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5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Calibrar umbrales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989BD75-DE8D-B290-9745-1D9E8821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5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Cuantificar el costo operativo de FP y FN.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53F591C-9E43-179D-176D-24989B8B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33655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5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Analizar costos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7B38CBA-379D-8AEA-4C18-49046133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1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Realizar validación temporal y externa.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C558135D-EC8F-1FA0-D966-C8D4FA20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43561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5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Validar en nuevos contextos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682F0D-6358-B00F-89D9-1AC3709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01"/>
            <a:ext cx="4826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350" b="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Someter el resultado a especialistas antes de cualquier uso real.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58787E0-CB4B-BCAC-702A-ECD3032DF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400" y="5359401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FontTx/>
              <a:buNone/>
            </a:pPr>
            <a:r>
              <a:rPr sz="15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Evaluar con especialistas</a:t>
            </a: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82CDA0F-E73C-7EBB-EE08-FECCE69C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1"/>
            <a:ext cx="35687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 b="1">
                <a:solidFill>
                  <a:srgbClr val="171615"/>
                </a:solidFill>
                <a:latin typeface="Helvetica Neue"/>
                <a:ea typeface="Helvetica Neue"/>
                <a:cs typeface="Helvetica Neue"/>
              </a:rPr>
              <a:t>Conclusión</a:t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La accuracy es inadecuada como criterio único. SMOTE aumenta el recall, pero también las falsas alarmas. Regresión logística + SMOTE se selecciona por el objetivo preventivo.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latin typeface="Helvetica Neue"/>
                <a:ea typeface="Helvetica Neue"/>
                <a:cs typeface="Helvetica Neue"/>
              </a:rPr>
              <a:t/>
            </a:r>
          </a:p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350">
                <a:solidFill>
                  <a:srgbClr val="2D2A27"/>
                </a:solidFill>
                <a:latin typeface="Helvetica Neue"/>
                <a:ea typeface="Helvetica Neue"/>
                <a:cs typeface="Helvetica Neue"/>
              </a:rPr>
              <a:t>La evidencia es experimental y apoya decisiones: no constituye un sistema automático de alertas listo para operar.</a:t>
            </a:r>
          </a:p>
        </p:txBody>
      </p:sp>
    </p:spTree>
    <p:extLst>
      <p:ext uri="{BB962C8B-B14F-4D97-AF65-F5344CB8AC3E}">
        <p14:creationId xmlns:p14="http://schemas.microsoft.com/office/powerpoint/2010/main" val="676116957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2026-07-27T21:19:01.4300000Z</dcterms:created>
  <dcterms:modified xsi:type="dcterms:W3CDTF">2026-07-27T21:19:01.4300000Z</dcterms:modified>
</coreProperties>
</file>